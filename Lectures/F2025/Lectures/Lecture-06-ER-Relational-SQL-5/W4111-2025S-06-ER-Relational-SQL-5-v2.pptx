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 id="2147493617" r:id="rId5"/>
    <p:sldMasterId id="2147493723" r:id="rId6"/>
    <p:sldMasterId id="2147493758" r:id="rId7"/>
    <p:sldMasterId id="2147493767" r:id="rId8"/>
    <p:sldMasterId id="2147493775" r:id="rId9"/>
  </p:sldMasterIdLst>
  <p:notesMasterIdLst>
    <p:notesMasterId r:id="rId40"/>
  </p:notesMasterIdLst>
  <p:handoutMasterIdLst>
    <p:handoutMasterId r:id="rId41"/>
  </p:handoutMasterIdLst>
  <p:sldIdLst>
    <p:sldId id="959" r:id="rId10"/>
    <p:sldId id="824" r:id="rId11"/>
    <p:sldId id="826" r:id="rId12"/>
    <p:sldId id="827" r:id="rId13"/>
    <p:sldId id="994" r:id="rId14"/>
    <p:sldId id="2142532376" r:id="rId15"/>
    <p:sldId id="2142532377" r:id="rId16"/>
    <p:sldId id="2142532378" r:id="rId17"/>
    <p:sldId id="995" r:id="rId18"/>
    <p:sldId id="2142532394" r:id="rId19"/>
    <p:sldId id="2142532365" r:id="rId20"/>
    <p:sldId id="2142532321" r:id="rId21"/>
    <p:sldId id="2142532405" r:id="rId22"/>
    <p:sldId id="2142532333" r:id="rId23"/>
    <p:sldId id="2142532373" r:id="rId24"/>
    <p:sldId id="2142532346" r:id="rId25"/>
    <p:sldId id="2142532347" r:id="rId26"/>
    <p:sldId id="2142532374" r:id="rId27"/>
    <p:sldId id="2142532410" r:id="rId28"/>
    <p:sldId id="384" r:id="rId29"/>
    <p:sldId id="385" r:id="rId30"/>
    <p:sldId id="2142532411" r:id="rId31"/>
    <p:sldId id="1117" r:id="rId32"/>
    <p:sldId id="1198" r:id="rId33"/>
    <p:sldId id="1203" r:id="rId34"/>
    <p:sldId id="1204" r:id="rId35"/>
    <p:sldId id="1199" r:id="rId36"/>
    <p:sldId id="1200" r:id="rId37"/>
    <p:sldId id="1202" r:id="rId38"/>
    <p:sldId id="1205" r:id="rId39"/>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C64"/>
    <a:srgbClr val="32A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4973"/>
    <p:restoredTop sz="96552"/>
  </p:normalViewPr>
  <p:slideViewPr>
    <p:cSldViewPr snapToObjects="1">
      <p:cViewPr varScale="1">
        <p:scale>
          <a:sx n="179" d="100"/>
          <a:sy n="179" d="100"/>
        </p:scale>
        <p:origin x="1320" y="488"/>
      </p:cViewPr>
      <p:guideLst>
        <p:guide orient="horz" pos="1620"/>
        <p:guide pos="2880"/>
      </p:guideLst>
    </p:cSldViewPr>
  </p:slideViewPr>
  <p:outlineViewPr>
    <p:cViewPr>
      <p:scale>
        <a:sx n="33" d="100"/>
        <a:sy n="33" d="100"/>
      </p:scale>
      <p:origin x="0" y="-101960"/>
    </p:cViewPr>
  </p:outlineViewPr>
  <p:notesTextViewPr>
    <p:cViewPr>
      <p:scale>
        <a:sx n="100" d="100"/>
        <a:sy n="100" d="100"/>
      </p:scale>
      <p:origin x="0" y="0"/>
    </p:cViewPr>
  </p:notesTextViewPr>
  <p:sorterViewPr>
    <p:cViewPr varScale="1">
      <p:scale>
        <a:sx n="1" d="1"/>
        <a:sy n="1" d="1"/>
      </p:scale>
      <p:origin x="0" y="-6060"/>
    </p:cViewPr>
  </p:sorterViewPr>
  <p:notesViewPr>
    <p:cSldViewPr snapToObjects="1">
      <p:cViewPr varScale="1">
        <p:scale>
          <a:sx n="107" d="100"/>
          <a:sy n="107" d="100"/>
        </p:scale>
        <p:origin x="364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20" Type="http://schemas.openxmlformats.org/officeDocument/2006/relationships/slide" Target="slides/slide11.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FB2AC-7E4F-8047-9193-854483C1A223}" type="datetimeFigureOut">
              <a:rPr lang="en-US" smtClean="0"/>
              <a:t>10/12/25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1CE209-2B77-6A4B-8F32-9DF4E1CE944B}" type="slidenum">
              <a:rPr lang="en-US" smtClean="0"/>
              <a:t>‹#›</a:t>
            </a:fld>
            <a:endParaRPr lang="en-US"/>
          </a:p>
        </p:txBody>
      </p:sp>
    </p:spTree>
    <p:extLst>
      <p:ext uri="{BB962C8B-B14F-4D97-AF65-F5344CB8AC3E}">
        <p14:creationId xmlns:p14="http://schemas.microsoft.com/office/powerpoint/2010/main" val="81625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A9567C9F-4D7F-5847-BD8F-556675060DA1}" type="datetimeFigureOut">
              <a:rPr lang="en-US" altLang="en-US"/>
              <a:pPr/>
              <a:t>10/12/25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D6415B-586E-2B45-B637-70E4CB56C15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128"/>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50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CFD365BF-ADBE-9B41-ABF1-832DDE2B814C}" type="slidenum">
              <a:rPr lang="en-US" altLang="en-US"/>
              <a:pPr/>
              <a:t>1</a:t>
            </a:fld>
            <a:endParaRPr lang="en-US" altLang="en-US"/>
          </a:p>
        </p:txBody>
      </p:sp>
    </p:spTree>
    <p:extLst>
      <p:ext uri="{BB962C8B-B14F-4D97-AF65-F5344CB8AC3E}">
        <p14:creationId xmlns:p14="http://schemas.microsoft.com/office/powerpoint/2010/main" val="786714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2</a:t>
            </a:fld>
            <a:endParaRPr lang="en-US" altLang="en-US"/>
          </a:p>
        </p:txBody>
      </p:sp>
    </p:spTree>
    <p:extLst>
      <p:ext uri="{BB962C8B-B14F-4D97-AF65-F5344CB8AC3E}">
        <p14:creationId xmlns:p14="http://schemas.microsoft.com/office/powerpoint/2010/main" val="3658690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4</a:t>
            </a:fld>
            <a:endParaRPr lang="en-US" altLang="en-US"/>
          </a:p>
        </p:txBody>
      </p:sp>
    </p:spTree>
    <p:extLst>
      <p:ext uri="{BB962C8B-B14F-4D97-AF65-F5344CB8AC3E}">
        <p14:creationId xmlns:p14="http://schemas.microsoft.com/office/powerpoint/2010/main" val="412157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7871-7EEC-AEBD-F75E-F6A92EAC91D6}"/>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587088B7-CF51-47DD-F034-8662CB3C7F12}"/>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FCF9B8BE-CE93-03DB-5D17-CE8540E101E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14A52DBA-1EC4-2BFF-E9E0-B268E591813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27EDD166-DF5B-E640-90C2-FE28AE548D5C}"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82682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9B5D5-02A9-724D-8CD2-6893C63F1D71}"/>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2158FACE-67BD-2911-BBB8-2E68E5F2A60C}"/>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3718301E-D1B3-56C2-6672-2F8CC1F0DE3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65B22C20-D5FF-CBF4-ED10-F20B6208A3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9</a:t>
            </a:fld>
            <a:endParaRPr lang="en-US" altLang="en-US"/>
          </a:p>
        </p:txBody>
      </p:sp>
    </p:spTree>
    <p:extLst>
      <p:ext uri="{BB962C8B-B14F-4D97-AF65-F5344CB8AC3E}">
        <p14:creationId xmlns:p14="http://schemas.microsoft.com/office/powerpoint/2010/main" val="2779207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07571-DC01-5180-CBBF-AF1A3BC1BDA7}"/>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FBFB4208-54E3-E299-EC81-B75814CF93C8}"/>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36AC5592-FD07-A806-9989-8DAEC9D909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3D4D844D-1840-ACEA-4F69-CF055B523D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27EDD166-DF5B-E640-90C2-FE28AE548D5C}"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632144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43FEB-3B34-10E8-ABAF-49CCD958D83F}"/>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0AD5CB3C-9B1C-46F2-161E-3968E6979A5C}"/>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D601B56B-F7B4-7408-6836-C588DE5671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74F1055D-773C-D548-A15D-D3C523D8C0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27EDD166-DF5B-E640-90C2-FE28AE548D5C}"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84070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99736-18CD-70F8-05CE-EF6D723679E7}"/>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E887E8A4-009B-5FF5-4D87-F70D80D649FF}"/>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E0705744-1AEC-8318-BAB7-DC1C30DAF9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ABC54604-E64E-EAB5-CB1C-65F5CDFF08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12</a:t>
            </a:fld>
            <a:endParaRPr lang="en-US" altLang="en-US"/>
          </a:p>
        </p:txBody>
      </p:sp>
    </p:spTree>
    <p:extLst>
      <p:ext uri="{BB962C8B-B14F-4D97-AF65-F5344CB8AC3E}">
        <p14:creationId xmlns:p14="http://schemas.microsoft.com/office/powerpoint/2010/main" val="127707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809D3-1B84-132A-3696-4776C4D65073}"/>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307EC76D-3C9A-015C-0AFF-423E5584FF44}"/>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a:extLst>
              <a:ext uri="{FF2B5EF4-FFF2-40B4-BE49-F238E27FC236}">
                <a16:creationId xmlns:a16="http://schemas.microsoft.com/office/drawing/2014/main" id="{C10E43B2-14D2-990E-08DE-490D1AC766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13157438-A97D-BD8D-0695-491BEBBE7C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13</a:t>
            </a:fld>
            <a:endParaRPr lang="en-US" altLang="en-US"/>
          </a:p>
        </p:txBody>
      </p:sp>
    </p:spTree>
    <p:extLst>
      <p:ext uri="{BB962C8B-B14F-4D97-AF65-F5344CB8AC3E}">
        <p14:creationId xmlns:p14="http://schemas.microsoft.com/office/powerpoint/2010/main" val="4178107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D5447-9E07-EAC9-4398-B8347E7936A1}"/>
            </a:ext>
          </a:extLst>
        </p:cNvPr>
        <p:cNvGrpSpPr/>
        <p:nvPr/>
      </p:nvGrpSpPr>
      <p:grpSpPr>
        <a:xfrm>
          <a:off x="0" y="0"/>
          <a:ext cx="0" cy="0"/>
          <a:chOff x="0" y="0"/>
          <a:chExt cx="0" cy="0"/>
        </a:xfrm>
      </p:grpSpPr>
      <p:sp>
        <p:nvSpPr>
          <p:cNvPr id="218113" name="Slide Image Placeholder 1">
            <a:extLst>
              <a:ext uri="{FF2B5EF4-FFF2-40B4-BE49-F238E27FC236}">
                <a16:creationId xmlns:a16="http://schemas.microsoft.com/office/drawing/2014/main" id="{86D843F9-FD22-8479-1707-1028DBEB649A}"/>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8114" name="Notes Placeholder 2">
            <a:extLst>
              <a:ext uri="{FF2B5EF4-FFF2-40B4-BE49-F238E27FC236}">
                <a16:creationId xmlns:a16="http://schemas.microsoft.com/office/drawing/2014/main" id="{F1A6CE7F-22EB-781E-D870-E02A164B01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8115" name="Slide Number Placeholder 3">
            <a:extLst>
              <a:ext uri="{FF2B5EF4-FFF2-40B4-BE49-F238E27FC236}">
                <a16:creationId xmlns:a16="http://schemas.microsoft.com/office/drawing/2014/main" id="{87C9D697-6146-F3A6-174D-32648B3E4A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D4A0B81F-8AE9-1943-AF53-E78D21B80C2F}"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644705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2DB9E-174F-4CA5-C7DF-C11F61297F1B}"/>
            </a:ext>
          </a:extLst>
        </p:cNvPr>
        <p:cNvGrpSpPr/>
        <p:nvPr/>
      </p:nvGrpSpPr>
      <p:grpSpPr>
        <a:xfrm>
          <a:off x="0" y="0"/>
          <a:ext cx="0" cy="0"/>
          <a:chOff x="0" y="0"/>
          <a:chExt cx="0" cy="0"/>
        </a:xfrm>
      </p:grpSpPr>
      <p:sp>
        <p:nvSpPr>
          <p:cNvPr id="218113" name="Slide Image Placeholder 1">
            <a:extLst>
              <a:ext uri="{FF2B5EF4-FFF2-40B4-BE49-F238E27FC236}">
                <a16:creationId xmlns:a16="http://schemas.microsoft.com/office/drawing/2014/main" id="{595BC6A0-6C70-55B9-9C68-FA22EB8EB4F3}"/>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8114" name="Notes Placeholder 2">
            <a:extLst>
              <a:ext uri="{FF2B5EF4-FFF2-40B4-BE49-F238E27FC236}">
                <a16:creationId xmlns:a16="http://schemas.microsoft.com/office/drawing/2014/main" id="{8B98EC12-4484-89A2-DA31-7AA890116A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8115" name="Slide Number Placeholder 3">
            <a:extLst>
              <a:ext uri="{FF2B5EF4-FFF2-40B4-BE49-F238E27FC236}">
                <a16:creationId xmlns:a16="http://schemas.microsoft.com/office/drawing/2014/main" id="{F0572F9E-9D30-B497-345B-08F0F786C3C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D4A0B81F-8AE9-1943-AF53-E78D21B80C2F}"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824054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C4A2F-72AE-6CF2-A498-5FC4BEC7036A}"/>
            </a:ext>
          </a:extLst>
        </p:cNvPr>
        <p:cNvGrpSpPr/>
        <p:nvPr/>
      </p:nvGrpSpPr>
      <p:grpSpPr>
        <a:xfrm>
          <a:off x="0" y="0"/>
          <a:ext cx="0" cy="0"/>
          <a:chOff x="0" y="0"/>
          <a:chExt cx="0" cy="0"/>
        </a:xfrm>
      </p:grpSpPr>
      <p:sp>
        <p:nvSpPr>
          <p:cNvPr id="218113" name="Slide Image Placeholder 1">
            <a:extLst>
              <a:ext uri="{FF2B5EF4-FFF2-40B4-BE49-F238E27FC236}">
                <a16:creationId xmlns:a16="http://schemas.microsoft.com/office/drawing/2014/main" id="{91072CAF-FA7E-0808-4722-F44D24294470}"/>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8114" name="Notes Placeholder 2">
            <a:extLst>
              <a:ext uri="{FF2B5EF4-FFF2-40B4-BE49-F238E27FC236}">
                <a16:creationId xmlns:a16="http://schemas.microsoft.com/office/drawing/2014/main" id="{9B37E733-C11B-9FAA-D11C-A5FDFBA9D0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8115" name="Slide Number Placeholder 3">
            <a:extLst>
              <a:ext uri="{FF2B5EF4-FFF2-40B4-BE49-F238E27FC236}">
                <a16:creationId xmlns:a16="http://schemas.microsoft.com/office/drawing/2014/main" id="{A8C206FA-6186-8EE3-A73E-46227A153D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D4A0B81F-8AE9-1943-AF53-E78D21B80C2F}"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803636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91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27EDD166-DF5B-E640-90C2-FE28AE548D5C}"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11732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www.db-book.com/" TargetMode="Externa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687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9264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74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10/12/25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87825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10/12/25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1108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165622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41339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5130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4663679"/>
            <a:ext cx="1905000" cy="3429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a:stretch>
            <a:fillRect/>
          </a:stretch>
        </p:blipFill>
        <p:spPr bwMode="auto">
          <a:xfrm>
            <a:off x="13859" y="0"/>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977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8351" y="820342"/>
            <a:ext cx="7707313" cy="3677840"/>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Font typeface="Wingdings" panose="05000000000000000000" pitchFamily="2" charset="2"/>
              <a:buChar char="§"/>
              <a:defRPr sz="1275"/>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6409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3112118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1259777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684451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1067975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740422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915929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3997637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55284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1629628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264723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2541230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50314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6531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10/12/25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701549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10/12/25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3526872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32475024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13006460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0"/>
            <a:ext cx="8229600" cy="3394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7BBC359C-8B98-904F-955B-7B675E601B13}"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9A8E8E7-A6E1-1A4E-BFDF-C30BFEC4FA62}" type="slidenum">
              <a:rPr lang="en-US" altLang="en-US"/>
              <a:pPr/>
              <a:t>‹#›</a:t>
            </a:fld>
            <a:endParaRPr lang="en-US" altLang="en-US"/>
          </a:p>
        </p:txBody>
      </p:sp>
    </p:spTree>
    <p:extLst>
      <p:ext uri="{BB962C8B-B14F-4D97-AF65-F5344CB8AC3E}">
        <p14:creationId xmlns:p14="http://schemas.microsoft.com/office/powerpoint/2010/main" val="33230517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0759579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3598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5301941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10/12/25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17437411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10/12/25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19324261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31659995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1569336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0"/>
            <a:ext cx="8229600" cy="3394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7BBC359C-8B98-904F-955B-7B675E601B13}"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9A8E8E7-A6E1-1A4E-BFDF-C30BFEC4FA62}" type="slidenum">
              <a:rPr lang="en-US" altLang="en-US"/>
              <a:pPr/>
              <a:t>‹#›</a:t>
            </a:fld>
            <a:endParaRPr lang="en-US" altLang="en-US"/>
          </a:p>
        </p:txBody>
      </p:sp>
    </p:spTree>
    <p:extLst>
      <p:ext uri="{BB962C8B-B14F-4D97-AF65-F5344CB8AC3E}">
        <p14:creationId xmlns:p14="http://schemas.microsoft.com/office/powerpoint/2010/main" val="604926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4704635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14512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51640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10/12/25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17890840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10/12/25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6604846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34612491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10/12/25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4981899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5130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4663679"/>
            <a:ext cx="1905000" cy="3429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a:stretch>
            <a:fillRect/>
          </a:stretch>
        </p:blipFill>
        <p:spPr bwMode="auto">
          <a:xfrm>
            <a:off x="13859" y="0"/>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4891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8351" y="820342"/>
            <a:ext cx="7707313" cy="3677840"/>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Font typeface="Wingdings" panose="05000000000000000000" pitchFamily="2" charset="2"/>
              <a:buChar char="§"/>
              <a:defRPr sz="1275"/>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12054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6977162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6890582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12229007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838465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40865007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31363829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36176133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31463261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15919798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615010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8.xml"/><Relationship Id="rId7" Type="http://schemas.openxmlformats.org/officeDocument/2006/relationships/slideLayout" Target="../slideLayouts/slideLayout42.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theme" Target="../theme/theme6.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0EE15EB3-3077-C740-8089-CCA1B2033312}" type="slidenum">
              <a:rPr lang="en-US" altLang="en-US" sz="1050" b="1">
                <a:solidFill>
                  <a:schemeClr val="bg1"/>
                </a:solidFill>
              </a: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W4111_002_2025_1 - Lecture 6: ER(5), Relational(5), SQL(5)		</a:t>
            </a:r>
            <a:r>
              <a:rPr lang="de-DE" altLang="en-US" sz="900" i="1" dirty="0">
                <a:solidFill>
                  <a:schemeClr val="bg1"/>
                </a:solidFill>
              </a:rPr>
              <a:t>© Donald F. Ferguson, 2054</a:t>
            </a:r>
            <a:endParaRPr lang="en-US" altLang="en-US" sz="900" i="1" dirty="0">
              <a:solidFill>
                <a:schemeClr val="bg1"/>
              </a:solidFill>
            </a:endParaRPr>
          </a:p>
        </p:txBody>
      </p:sp>
      <p:pic>
        <p:nvPicPr>
          <p:cNvPr id="12" name="Picture 10"/>
          <p:cNvPicPr>
            <a:picLocks noChangeAspect="1"/>
          </p:cNvPicPr>
          <p:nvPr userDrawn="1"/>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cSld>
  <p:clrMap bg1="lt1" tx1="dk1" bg2="lt2" tx2="dk2" accent1="accent1" accent2="accent2" accent3="accent3" accent4="accent4" accent5="accent5" accent6="accent6" hlink="hlink" folHlink="folHlink"/>
  <p:sldLayoutIdLst>
    <p:sldLayoutId id="2147493469" r:id="rId1"/>
    <p:sldLayoutId id="2147493474" r:id="rId2"/>
    <p:sldLayoutId id="2147493586" r:id="rId3"/>
    <p:sldLayoutId id="2147493478" r:id="rId4"/>
    <p:sldLayoutId id="2147493475" r:id="rId5"/>
    <p:sldLayoutId id="2147493476" r:id="rId6"/>
    <p:sldLayoutId id="2147493477" r:id="rId7"/>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68351" y="820342"/>
            <a:ext cx="7707313"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512846" y="4960144"/>
            <a:ext cx="381835"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3.</a:t>
            </a:r>
            <a:fld id="{669DE52E-05EC-4487-BE79-3F9A6A9F8797}"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4083844"/>
            <a:ext cx="227012" cy="35719"/>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a:stretch>
            <a:fillRect/>
          </a:stretch>
        </p:blipFill>
        <p:spPr bwMode="auto">
          <a:xfrm>
            <a:off x="5546" y="1"/>
            <a:ext cx="742012" cy="71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677385"/>
      </p:ext>
    </p:extLst>
  </p:cSld>
  <p:clrMap bg1="lt1" tx1="dk1" bg2="lt2" tx2="dk2" accent1="accent1" accent2="accent2" accent3="accent3" accent4="accent4" accent5="accent5" accent6="accent6" hlink="hlink" folHlink="folHlink"/>
  <p:sldLayoutIdLst>
    <p:sldLayoutId id="2147493618" r:id="rId1"/>
    <p:sldLayoutId id="2147493619" r:id="rId2"/>
    <p:sldLayoutId id="2147493620" r:id="rId3"/>
    <p:sldLayoutId id="2147493621" r:id="rId4"/>
    <p:sldLayoutId id="2147493622" r:id="rId5"/>
    <p:sldLayoutId id="2147493623" r:id="rId6"/>
    <p:sldLayoutId id="2147493624" r:id="rId7"/>
    <p:sldLayoutId id="2147493625" r:id="rId8"/>
    <p:sldLayoutId id="2147493626" r:id="rId9"/>
    <p:sldLayoutId id="2147493627" r:id="rId10"/>
    <p:sldLayoutId id="2147493628" r:id="rId11"/>
    <p:sldLayoutId id="2147493629" r:id="rId12"/>
  </p:sldLayoutIdLst>
  <p:txStyles>
    <p:titleStyle>
      <a:lvl1pPr algn="ctr" rtl="0" eaLnBrk="0" fontAlgn="base" hangingPunct="0">
        <a:spcBef>
          <a:spcPct val="0"/>
        </a:spcBef>
        <a:spcAft>
          <a:spcPct val="0"/>
        </a:spcAft>
        <a:defRPr kumimoji="1" sz="21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3429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0" fontAlgn="base" hangingPunct="0">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panose="020B0600070205080204" pitchFamily="34" charset="-128"/>
          <a:cs typeface="ＭＳ Ｐゴシック" charset="0"/>
        </a:defRPr>
      </a:lvl1pPr>
      <a:lvl2pPr marL="557213" indent="-214313" algn="l" rtl="0" eaLnBrk="0" fontAlgn="base" hangingPunct="0">
        <a:spcBef>
          <a:spcPct val="35000"/>
        </a:spcBef>
        <a:spcAft>
          <a:spcPct val="0"/>
        </a:spcAft>
        <a:buClr>
          <a:schemeClr val="folHlink"/>
        </a:buClr>
        <a:buSzPct val="95000"/>
        <a:buFont typeface="Monotype Sorts" pitchFamily="-65" charset="2"/>
        <a:buChar char="l"/>
        <a:defRPr kumimoji="1" sz="1275">
          <a:solidFill>
            <a:schemeClr val="tx1"/>
          </a:solidFill>
          <a:latin typeface="+mn-lt"/>
          <a:ea typeface="MS PGothic" panose="020B0600070205080204" pitchFamily="34" charset="-128"/>
        </a:defRPr>
      </a:lvl2pPr>
      <a:lvl3pPr marL="814388" indent="-171450" algn="l" rtl="0" eaLnBrk="0" fontAlgn="base" hangingPunct="0">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panose="020B0600070205080204" pitchFamily="34" charset="-128"/>
        </a:defRPr>
      </a:lvl3pPr>
      <a:lvl4pPr marL="1071563" indent="-171450" algn="l" rtl="0" eaLnBrk="0" fontAlgn="base" hangingPunct="0">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panose="020B0600070205080204" pitchFamily="34" charset="-128"/>
        </a:defRPr>
      </a:lvl4pPr>
      <a:lvl5pPr marL="1328738" indent="-171450" algn="l" rtl="0" eaLnBrk="0" fontAlgn="base" hangingPunct="0">
        <a:spcBef>
          <a:spcPct val="35000"/>
        </a:spcBef>
        <a:spcAft>
          <a:spcPct val="0"/>
        </a:spcAft>
        <a:buClr>
          <a:schemeClr val="tx2"/>
        </a:buClr>
        <a:buSzPct val="75000"/>
        <a:buChar char="»"/>
        <a:defRPr kumimoji="1" sz="1275">
          <a:solidFill>
            <a:schemeClr val="tx1"/>
          </a:solidFill>
          <a:latin typeface="+mn-lt"/>
          <a:ea typeface="MS PGothic" panose="020B0600070205080204" pitchFamily="34" charset="-128"/>
        </a:defRPr>
      </a:lvl5pPr>
      <a:lvl6pPr marL="16716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781550"/>
            <a:ext cx="67818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90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900" b="1" dirty="0">
                <a:solidFill>
                  <a:schemeClr val="bg1"/>
                </a:solidFill>
              </a:rPr>
              <a:t> </a:t>
            </a:r>
            <a:r>
              <a:rPr lang="en-US" altLang="en-US" sz="900" dirty="0">
                <a:solidFill>
                  <a:schemeClr val="bg1"/>
                </a:solidFill>
              </a:rPr>
              <a:t>|</a:t>
            </a:r>
            <a:r>
              <a:rPr lang="en-US" altLang="en-US" sz="900" b="1" dirty="0">
                <a:solidFill>
                  <a:schemeClr val="bg1"/>
                </a:solidFill>
              </a:rPr>
              <a:t> Introduction to Databases (F23): </a:t>
            </a:r>
            <a:r>
              <a:rPr lang="en-US" altLang="en-US" sz="900" i="1" dirty="0">
                <a:solidFill>
                  <a:schemeClr val="bg1"/>
                </a:solidFill>
              </a:rPr>
              <a:t>Lecture 6: ER, Relational, SQL V, Applications </a:t>
            </a:r>
            <a:r>
              <a:rPr lang="en-US" altLang="en-US" sz="900" i="1" baseline="0" dirty="0">
                <a:solidFill>
                  <a:schemeClr val="bg1"/>
                </a:solidFill>
              </a:rPr>
              <a:t>		</a:t>
            </a:r>
            <a:r>
              <a:rPr lang="de-DE" altLang="en-US" sz="900" i="1" dirty="0">
                <a:solidFill>
                  <a:schemeClr val="bg1"/>
                </a:solidFill>
              </a:rPr>
              <a:t>© Donald F. Ferguson, 2023</a:t>
            </a:r>
            <a:endParaRPr lang="en-US" altLang="en-US" sz="900" i="1" dirty="0">
              <a:solidFill>
                <a:schemeClr val="bg1"/>
              </a:solidFill>
            </a:endParaRPr>
          </a:p>
        </p:txBody>
      </p:sp>
      <p:pic>
        <p:nvPicPr>
          <p:cNvPr id="12" name="Picture 10"/>
          <p:cNvPicPr>
            <a:picLocks noChangeAspect="1"/>
          </p:cNvPicPr>
          <p:nvPr userDrawn="1"/>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2468149170"/>
      </p:ext>
    </p:extLst>
  </p:cSld>
  <p:clrMap bg1="lt1" tx1="dk1" bg2="lt2" tx2="dk2" accent1="accent1" accent2="accent2" accent3="accent3" accent4="accent4" accent5="accent5" accent6="accent6" hlink="hlink" folHlink="folHlink"/>
  <p:sldLayoutIdLst>
    <p:sldLayoutId id="2147493724" r:id="rId1"/>
    <p:sldLayoutId id="2147493725" r:id="rId2"/>
    <p:sldLayoutId id="2147493726" r:id="rId3"/>
    <p:sldLayoutId id="2147493727" r:id="rId4"/>
    <p:sldLayoutId id="2147493728" r:id="rId5"/>
    <p:sldLayoutId id="2147493729" r:id="rId6"/>
    <p:sldLayoutId id="2147493730" r:id="rId7"/>
    <p:sldLayoutId id="2147493731" r:id="rId8"/>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Introduction to Databases (S24): </a:t>
            </a:r>
            <a:r>
              <a:rPr lang="en-US" altLang="en-US" sz="1050" i="1" dirty="0">
                <a:solidFill>
                  <a:schemeClr val="bg1"/>
                </a:solidFill>
              </a:rPr>
              <a:t>Lecture 5: ER, Relational, SQL (IV)</a:t>
            </a:r>
            <a:br>
              <a:rPr lang="en-US" altLang="en-US" sz="1050" i="1" baseline="0" dirty="0">
                <a:solidFill>
                  <a:schemeClr val="bg1"/>
                </a:solidFill>
              </a:rPr>
            </a:br>
            <a:r>
              <a:rPr lang="de-DE" altLang="en-US" sz="900" i="1" dirty="0">
                <a:solidFill>
                  <a:schemeClr val="bg1"/>
                </a:solidFill>
              </a:rPr>
              <a:t>© Donald F. Ferguson, 2025</a:t>
            </a:r>
            <a:endParaRPr lang="en-US" altLang="en-US" sz="900" i="1" dirty="0">
              <a:solidFill>
                <a:schemeClr val="bg1"/>
              </a:solidFill>
            </a:endParaRPr>
          </a:p>
        </p:txBody>
      </p:sp>
      <p:pic>
        <p:nvPicPr>
          <p:cNvPr id="12" name="Picture 10"/>
          <p:cNvPicPr>
            <a:picLocks noChangeAspect="1"/>
          </p:cNvPicPr>
          <p:nvPr userDrawn="1"/>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1640663930"/>
      </p:ext>
    </p:extLst>
  </p:cSld>
  <p:clrMap bg1="lt1" tx1="dk1" bg2="lt2" tx2="dk2" accent1="accent1" accent2="accent2" accent3="accent3" accent4="accent4" accent5="accent5" accent6="accent6" hlink="hlink" folHlink="folHlink"/>
  <p:sldLayoutIdLst>
    <p:sldLayoutId id="2147493759" r:id="rId1"/>
    <p:sldLayoutId id="2147493760" r:id="rId2"/>
    <p:sldLayoutId id="2147493761" r:id="rId3"/>
    <p:sldLayoutId id="2147493762" r:id="rId4"/>
    <p:sldLayoutId id="2147493763" r:id="rId5"/>
    <p:sldLayoutId id="2147493764" r:id="rId6"/>
    <p:sldLayoutId id="2147493765" r:id="rId7"/>
    <p:sldLayoutId id="2147493766" r:id="rId8"/>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0EE15EB3-3077-C740-8089-CCA1B2033312}" type="slidenum">
              <a:rPr lang="en-US" altLang="en-US" sz="1050" b="1">
                <a:solidFill>
                  <a:schemeClr val="bg1"/>
                </a:solidFill>
              </a: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Introduction to Databases (F24): </a:t>
            </a:r>
            <a:r>
              <a:rPr lang="en-US" altLang="en-US" sz="1050" i="1" dirty="0">
                <a:solidFill>
                  <a:schemeClr val="bg1"/>
                </a:solidFill>
              </a:rPr>
              <a:t>Lecture 6 – ER(5), Relational(5), SQL (5)</a:t>
            </a:r>
            <a:br>
              <a:rPr lang="en-US" altLang="en-US" sz="1050" i="1" baseline="0" dirty="0">
                <a:solidFill>
                  <a:schemeClr val="bg1"/>
                </a:solidFill>
              </a:rPr>
            </a:br>
            <a:r>
              <a:rPr lang="de-DE" altLang="en-US" sz="900" i="1" dirty="0">
                <a:solidFill>
                  <a:schemeClr val="bg1"/>
                </a:solidFill>
              </a:rPr>
              <a:t>© Donald F. Ferguson, 2025</a:t>
            </a:r>
            <a:endParaRPr lang="en-US" altLang="en-US" sz="900" i="1" dirty="0">
              <a:solidFill>
                <a:schemeClr val="bg1"/>
              </a:solidFill>
            </a:endParaRPr>
          </a:p>
        </p:txBody>
      </p:sp>
      <p:pic>
        <p:nvPicPr>
          <p:cNvPr id="12" name="Picture 10"/>
          <p:cNvPicPr>
            <a:picLocks noChangeAspect="1"/>
          </p:cNvPicPr>
          <p:nvPr userDrawn="1"/>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289704489"/>
      </p:ext>
    </p:extLst>
  </p:cSld>
  <p:clrMap bg1="lt1" tx1="dk1" bg2="lt2" tx2="dk2" accent1="accent1" accent2="accent2" accent3="accent3" accent4="accent4" accent5="accent5" accent6="accent6" hlink="hlink" folHlink="folHlink"/>
  <p:sldLayoutIdLst>
    <p:sldLayoutId id="2147493768" r:id="rId1"/>
    <p:sldLayoutId id="2147493769" r:id="rId2"/>
    <p:sldLayoutId id="2147493770" r:id="rId3"/>
    <p:sldLayoutId id="2147493771" r:id="rId4"/>
    <p:sldLayoutId id="2147493772" r:id="rId5"/>
    <p:sldLayoutId id="2147493773" r:id="rId6"/>
    <p:sldLayoutId id="2147493774" r:id="rId7"/>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47559" y="820342"/>
            <a:ext cx="7728105"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512847" y="4960144"/>
            <a:ext cx="381835"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4.</a:t>
            </a:r>
            <a:fld id="{669DE52E-05EC-4487-BE79-3F9A6A9F8797}"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4083844"/>
            <a:ext cx="227012" cy="35719"/>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a:stretch>
            <a:fillRect/>
          </a:stretch>
        </p:blipFill>
        <p:spPr bwMode="auto">
          <a:xfrm>
            <a:off x="5546" y="1"/>
            <a:ext cx="742012" cy="71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7587731"/>
      </p:ext>
    </p:extLst>
  </p:cSld>
  <p:clrMap bg1="lt1" tx1="dk1" bg2="lt2" tx2="dk2" accent1="accent1" accent2="accent2" accent3="accent3" accent4="accent4" accent5="accent5" accent6="accent6" hlink="hlink" folHlink="folHlink"/>
  <p:sldLayoutIdLst>
    <p:sldLayoutId id="2147493776" r:id="rId1"/>
    <p:sldLayoutId id="2147493777" r:id="rId2"/>
    <p:sldLayoutId id="2147493778" r:id="rId3"/>
    <p:sldLayoutId id="2147493779" r:id="rId4"/>
    <p:sldLayoutId id="2147493780" r:id="rId5"/>
    <p:sldLayoutId id="2147493781" r:id="rId6"/>
    <p:sldLayoutId id="2147493782" r:id="rId7"/>
    <p:sldLayoutId id="2147493783" r:id="rId8"/>
    <p:sldLayoutId id="2147493784" r:id="rId9"/>
    <p:sldLayoutId id="2147493785" r:id="rId10"/>
    <p:sldLayoutId id="2147493786" r:id="rId11"/>
    <p:sldLayoutId id="2147493787" r:id="rId12"/>
  </p:sldLayoutIdLst>
  <p:txStyles>
    <p:titleStyle>
      <a:lvl1pPr algn="ctr" rtl="0" eaLnBrk="0" fontAlgn="base" hangingPunct="0">
        <a:spcBef>
          <a:spcPct val="0"/>
        </a:spcBef>
        <a:spcAft>
          <a:spcPct val="0"/>
        </a:spcAft>
        <a:defRPr kumimoji="1" sz="21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3429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0" fontAlgn="base" hangingPunct="0">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panose="020B0600070205080204" pitchFamily="34" charset="-128"/>
          <a:cs typeface="ＭＳ Ｐゴシック" charset="0"/>
        </a:defRPr>
      </a:lvl1pPr>
      <a:lvl2pPr marL="557213" indent="-214313" algn="l" rtl="0" eaLnBrk="0" fontAlgn="base" hangingPunct="0">
        <a:spcBef>
          <a:spcPct val="35000"/>
        </a:spcBef>
        <a:spcAft>
          <a:spcPct val="0"/>
        </a:spcAft>
        <a:buClr>
          <a:schemeClr val="folHlink"/>
        </a:buClr>
        <a:buSzPct val="95000"/>
        <a:buFont typeface="Monotype Sorts" pitchFamily="-65" charset="2"/>
        <a:buChar char="l"/>
        <a:defRPr kumimoji="1" sz="1275">
          <a:solidFill>
            <a:schemeClr val="tx1"/>
          </a:solidFill>
          <a:latin typeface="+mn-lt"/>
          <a:ea typeface="MS PGothic" panose="020B0600070205080204" pitchFamily="34" charset="-128"/>
        </a:defRPr>
      </a:lvl2pPr>
      <a:lvl3pPr marL="814388" indent="-171450" algn="l" rtl="0" eaLnBrk="0" fontAlgn="base" hangingPunct="0">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panose="020B0600070205080204" pitchFamily="34" charset="-128"/>
        </a:defRPr>
      </a:lvl3pPr>
      <a:lvl4pPr marL="1071563" indent="-171450" algn="l" rtl="0" eaLnBrk="0" fontAlgn="base" hangingPunct="0">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panose="020B0600070205080204" pitchFamily="34" charset="-128"/>
        </a:defRPr>
      </a:lvl4pPr>
      <a:lvl5pPr marL="1328738" indent="-171450" algn="l" rtl="0" eaLnBrk="0" fontAlgn="base" hangingPunct="0">
        <a:spcBef>
          <a:spcPct val="35000"/>
        </a:spcBef>
        <a:spcAft>
          <a:spcPct val="0"/>
        </a:spcAft>
        <a:buClr>
          <a:schemeClr val="tx2"/>
        </a:buClr>
        <a:buSzPct val="75000"/>
        <a:buChar char="»"/>
        <a:defRPr kumimoji="1" sz="1275">
          <a:solidFill>
            <a:schemeClr val="tx1"/>
          </a:solidFill>
          <a:latin typeface="+mn-lt"/>
          <a:ea typeface="MS PGothic" panose="020B0600070205080204" pitchFamily="34" charset="-128"/>
        </a:defRPr>
      </a:lvl5pPr>
      <a:lvl6pPr marL="16716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15D65-8053-1B4E-B089-18B4089AAFB8}"/>
              </a:ext>
            </a:extLst>
          </p:cNvPr>
          <p:cNvPicPr>
            <a:picLocks noChangeAspect="1"/>
          </p:cNvPicPr>
          <p:nvPr/>
        </p:nvPicPr>
        <p:blipFill>
          <a:blip/>
          <a:stretch>
            <a:fillRect/>
          </a:stretch>
        </p:blipFill>
        <p:spPr>
          <a:xfrm>
            <a:off x="-2" y="-1"/>
            <a:ext cx="9144001" cy="5143501"/>
          </a:xfrm>
          <a:prstGeom prst="rect">
            <a:avLst/>
          </a:prstGeom>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3075" name="Picture 7"/>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9"/>
          <p:cNvSpPr txBox="1">
            <a:spLocks noChangeArrowheads="1"/>
          </p:cNvSpPr>
          <p:nvPr/>
        </p:nvSpPr>
        <p:spPr bwMode="auto">
          <a:xfrm>
            <a:off x="-2" y="1"/>
            <a:ext cx="9144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t>W4111 – Introduction to Databases</a:t>
            </a:r>
            <a:br>
              <a:rPr lang="en-US" altLang="en-US" sz="2800" i="1" dirty="0"/>
            </a:br>
            <a:r>
              <a:rPr lang="en-US" altLang="en-US" sz="2800" i="1" dirty="0"/>
              <a:t>Section 002, Spring 2025</a:t>
            </a:r>
            <a:br>
              <a:rPr lang="en-US" altLang="en-US" sz="3200" i="1" dirty="0"/>
            </a:br>
            <a:r>
              <a:rPr lang="en-US" altLang="en-US" sz="2800" i="1" dirty="0"/>
              <a:t>Lecture 6: ER(5), Relational(5), SQL(6)</a:t>
            </a:r>
            <a:endParaRPr lang="en-US" altLang="en-US" sz="3200" i="1" dirty="0"/>
          </a:p>
        </p:txBody>
      </p:sp>
      <p:sp>
        <p:nvSpPr>
          <p:cNvPr id="3077" name="TextBox 10"/>
          <p:cNvSpPr txBox="1">
            <a:spLocks noChangeArrowheads="1"/>
          </p:cNvSpPr>
          <p:nvPr/>
        </p:nvSpPr>
        <p:spPr bwMode="auto">
          <a:xfrm>
            <a:off x="0" y="4732991"/>
            <a:ext cx="9144000"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r>
              <a:rPr lang="en-US" altLang="en-US" sz="1200" i="1" dirty="0">
                <a:solidFill>
                  <a:schemeClr val="bg1"/>
                </a:solidFill>
              </a:rPr>
              <a:t>© Donald F. Ferguson, 2025</a:t>
            </a:r>
          </a:p>
        </p:txBody>
      </p:sp>
    </p:spTree>
    <p:extLst>
      <p:ext uri="{BB962C8B-B14F-4D97-AF65-F5344CB8AC3E}">
        <p14:creationId xmlns:p14="http://schemas.microsoft.com/office/powerpoint/2010/main" val="3078825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1" descr="16x9_BG-08.jpg"/>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i="1" dirty="0">
                <a:solidFill>
                  <a:schemeClr val="bg1"/>
                </a:solidFill>
              </a:rPr>
              <a:t>Today’s Contents</a:t>
            </a:r>
            <a:endParaRPr lang="en-US" altLang="en-US" sz="1600" i="1" dirty="0">
              <a:solidFill>
                <a:schemeClr val="bg1"/>
              </a:solidFill>
            </a:endParaRPr>
          </a:p>
        </p:txBody>
      </p:sp>
      <p:sp>
        <p:nvSpPr>
          <p:cNvPr id="9" name="TextBox 9">
            <a:extLst>
              <a:ext uri="{FF2B5EF4-FFF2-40B4-BE49-F238E27FC236}">
                <a16:creationId xmlns:a16="http://schemas.microsoft.com/office/drawing/2014/main" id="{FE0A9831-0C56-4B82-87F4-9BEE60101229}"/>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COMS W4111_002_2025_1 -  Lecture 5: ER(4), Relational(4), SQL(4)			© Donald F. Ferguson, 2025</a:t>
            </a:r>
            <a:endParaRPr lang="en-US" altLang="en-US" sz="800" i="1" dirty="0">
              <a:solidFill>
                <a:schemeClr val="bg1"/>
              </a:solidFill>
            </a:endParaRPr>
          </a:p>
        </p:txBody>
      </p:sp>
    </p:spTree>
    <p:extLst>
      <p:ext uri="{BB962C8B-B14F-4D97-AF65-F5344CB8AC3E}">
        <p14:creationId xmlns:p14="http://schemas.microsoft.com/office/powerpoint/2010/main" val="3198266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3C4746-B82B-3F41-8244-F524491BD6E3}"/>
              </a:ext>
            </a:extLst>
          </p:cNvPr>
          <p:cNvSpPr>
            <a:spLocks noGrp="1"/>
          </p:cNvSpPr>
          <p:nvPr>
            <p:ph idx="1"/>
          </p:nvPr>
        </p:nvSpPr>
        <p:spPr/>
        <p:txBody>
          <a:bodyPr/>
          <a:lstStyle/>
          <a:p>
            <a:pPr>
              <a:spcBef>
                <a:spcPts val="0"/>
              </a:spcBef>
              <a:spcAft>
                <a:spcPts val="200"/>
              </a:spcAft>
            </a:pPr>
            <a:r>
              <a:rPr lang="en-US" dirty="0"/>
              <a:t>Course updates</a:t>
            </a:r>
          </a:p>
          <a:p>
            <a:pPr>
              <a:spcBef>
                <a:spcPts val="0"/>
              </a:spcBef>
              <a:spcAft>
                <a:spcPts val="200"/>
              </a:spcAft>
            </a:pPr>
            <a:r>
              <a:rPr lang="en-US" dirty="0"/>
              <a:t>Some of Codd’s 12 Rules:</a:t>
            </a:r>
          </a:p>
          <a:p>
            <a:pPr lvl="1">
              <a:spcBef>
                <a:spcPts val="0"/>
              </a:spcBef>
              <a:spcAft>
                <a:spcPts val="200"/>
              </a:spcAft>
            </a:pPr>
            <a:r>
              <a:rPr lang="en-US" dirty="0"/>
              <a:t>TBD</a:t>
            </a:r>
          </a:p>
          <a:p>
            <a:pPr>
              <a:spcBef>
                <a:spcPts val="0"/>
              </a:spcBef>
              <a:spcAft>
                <a:spcPts val="200"/>
              </a:spcAft>
            </a:pPr>
            <a:r>
              <a:rPr lang="en-US" dirty="0"/>
              <a:t>ER Modeling: </a:t>
            </a:r>
          </a:p>
          <a:p>
            <a:pPr lvl="1">
              <a:spcBef>
                <a:spcPts val="0"/>
              </a:spcBef>
              <a:spcAft>
                <a:spcPts val="200"/>
              </a:spcAft>
            </a:pPr>
            <a:r>
              <a:rPr lang="en-US" dirty="0"/>
              <a:t>TBD</a:t>
            </a:r>
          </a:p>
          <a:p>
            <a:pPr>
              <a:spcBef>
                <a:spcPts val="0"/>
              </a:spcBef>
              <a:spcAft>
                <a:spcPts val="200"/>
              </a:spcAft>
            </a:pPr>
            <a:r>
              <a:rPr lang="en-US" dirty="0"/>
              <a:t>Relational Algebra/Model</a:t>
            </a:r>
          </a:p>
          <a:p>
            <a:pPr lvl="1">
              <a:spcBef>
                <a:spcPts val="0"/>
              </a:spcBef>
              <a:spcAft>
                <a:spcPts val="200"/>
              </a:spcAft>
            </a:pPr>
            <a:r>
              <a:rPr lang="en-US" dirty="0"/>
              <a:t>TBD</a:t>
            </a:r>
          </a:p>
          <a:p>
            <a:pPr>
              <a:spcBef>
                <a:spcPts val="0"/>
              </a:spcBef>
              <a:spcAft>
                <a:spcPts val="200"/>
              </a:spcAft>
            </a:pPr>
            <a:r>
              <a:rPr lang="en-US" dirty="0"/>
              <a:t>SQL</a:t>
            </a:r>
          </a:p>
          <a:p>
            <a:pPr lvl="1">
              <a:spcBef>
                <a:spcPts val="0"/>
              </a:spcBef>
              <a:spcAft>
                <a:spcPts val="200"/>
              </a:spcAft>
            </a:pPr>
            <a:r>
              <a:rPr lang="en-US" dirty="0"/>
              <a:t>TBD</a:t>
            </a:r>
          </a:p>
          <a:p>
            <a:pPr>
              <a:spcBef>
                <a:spcPts val="0"/>
              </a:spcBef>
              <a:spcAft>
                <a:spcPts val="200"/>
              </a:spcAft>
            </a:pPr>
            <a:r>
              <a:rPr lang="en-US" dirty="0"/>
              <a:t>Introduction to REST and web applications</a:t>
            </a:r>
          </a:p>
          <a:p>
            <a:pPr>
              <a:spcBef>
                <a:spcPts val="0"/>
              </a:spcBef>
              <a:spcAft>
                <a:spcPts val="200"/>
              </a:spcAft>
            </a:pPr>
            <a:endParaRPr lang="en-US" dirty="0"/>
          </a:p>
          <a:p>
            <a:pPr>
              <a:spcBef>
                <a:spcPts val="0"/>
              </a:spcBef>
              <a:spcAft>
                <a:spcPts val="200"/>
              </a:spcAft>
            </a:pPr>
            <a:endParaRPr lang="en-US" dirty="0"/>
          </a:p>
          <a:p>
            <a:pPr>
              <a:spcBef>
                <a:spcPts val="0"/>
              </a:spcBef>
              <a:spcAft>
                <a:spcPts val="200"/>
              </a:spcAft>
            </a:pPr>
            <a:endParaRPr lang="en-US" dirty="0"/>
          </a:p>
          <a:p>
            <a:pPr>
              <a:spcBef>
                <a:spcPts val="0"/>
              </a:spcBef>
              <a:spcAft>
                <a:spcPts val="200"/>
              </a:spcAft>
            </a:pPr>
            <a:endParaRPr lang="en-US" dirty="0"/>
          </a:p>
        </p:txBody>
      </p:sp>
      <p:sp>
        <p:nvSpPr>
          <p:cNvPr id="3" name="Title 2">
            <a:extLst>
              <a:ext uri="{FF2B5EF4-FFF2-40B4-BE49-F238E27FC236}">
                <a16:creationId xmlns:a16="http://schemas.microsoft.com/office/drawing/2014/main" id="{E66E103B-9592-8A4C-AF7E-2678BD900BEF}"/>
              </a:ext>
            </a:extLst>
          </p:cNvPr>
          <p:cNvSpPr>
            <a:spLocks noGrp="1"/>
          </p:cNvSpPr>
          <p:nvPr>
            <p:ph type="title"/>
          </p:nvPr>
        </p:nvSpPr>
        <p:spPr/>
        <p:txBody>
          <a:bodyPr/>
          <a:lstStyle/>
          <a:p>
            <a:r>
              <a:rPr lang="en-US" dirty="0"/>
              <a:t>Contents</a:t>
            </a:r>
          </a:p>
        </p:txBody>
      </p:sp>
    </p:spTree>
    <p:extLst>
      <p:ext uri="{BB962C8B-B14F-4D97-AF65-F5344CB8AC3E}">
        <p14:creationId xmlns:p14="http://schemas.microsoft.com/office/powerpoint/2010/main" val="649218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1" descr="16x9_BG-08.jpg"/>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p:cNvSpPr txBox="1">
            <a:spLocks noChangeArrowheads="1"/>
          </p:cNvSpPr>
          <p:nvPr/>
        </p:nvSpPr>
        <p:spPr bwMode="auto">
          <a:xfrm>
            <a:off x="0" y="1694587"/>
            <a:ext cx="91440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3600" dirty="0">
                <a:solidFill>
                  <a:schemeClr val="bg1"/>
                </a:solidFill>
              </a:rPr>
              <a:t>Introduction</a:t>
            </a:r>
            <a:br>
              <a:rPr lang="en-US" altLang="en-US" sz="3600" dirty="0">
                <a:solidFill>
                  <a:schemeClr val="bg1"/>
                </a:solidFill>
              </a:rPr>
            </a:br>
            <a:r>
              <a:rPr lang="en-US" altLang="en-US" sz="3600" dirty="0">
                <a:solidFill>
                  <a:schemeClr val="bg1"/>
                </a:solidFill>
              </a:rPr>
              <a:t>and</a:t>
            </a:r>
            <a:br>
              <a:rPr lang="en-US" altLang="en-US" sz="3600" dirty="0">
                <a:solidFill>
                  <a:schemeClr val="bg1"/>
                </a:solidFill>
              </a:rPr>
            </a:br>
            <a:r>
              <a:rPr lang="en-US" altLang="en-US" sz="3600" dirty="0">
                <a:solidFill>
                  <a:schemeClr val="bg1"/>
                </a:solidFill>
              </a:rPr>
              <a:t>course updates</a:t>
            </a:r>
          </a:p>
        </p:txBody>
      </p:sp>
      <p:sp>
        <p:nvSpPr>
          <p:cNvPr id="9" name="TextBox 9">
            <a:extLst>
              <a:ext uri="{FF2B5EF4-FFF2-40B4-BE49-F238E27FC236}">
                <a16:creationId xmlns:a16="http://schemas.microsoft.com/office/drawing/2014/main" id="{5B759205-0568-4212-B25B-D0844C69C118}"/>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4</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COMS W4111_002_2025_1 -  Lecture 6: ER(5), Relational(5), SQL(5)			© Donald F. Ferguson, 2025</a:t>
            </a:r>
            <a:endParaRPr lang="en-US" altLang="en-US" sz="800" i="1" dirty="0">
              <a:solidFill>
                <a:schemeClr val="bg1"/>
              </a:solidFill>
            </a:endParaRPr>
          </a:p>
        </p:txBody>
      </p:sp>
    </p:spTree>
    <p:extLst>
      <p:ext uri="{BB962C8B-B14F-4D97-AF65-F5344CB8AC3E}">
        <p14:creationId xmlns:p14="http://schemas.microsoft.com/office/powerpoint/2010/main" val="2377482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176E4D-D04A-4354-E8E0-6CB890C4094B}"/>
              </a:ext>
            </a:extLst>
          </p:cNvPr>
          <p:cNvSpPr>
            <a:spLocks noGrp="1"/>
          </p:cNvSpPr>
          <p:nvPr>
            <p:ph idx="1"/>
          </p:nvPr>
        </p:nvSpPr>
        <p:spPr/>
        <p:txBody>
          <a:bodyPr/>
          <a:lstStyle/>
          <a:p>
            <a:r>
              <a:rPr lang="en-US" sz="1800" dirty="0"/>
              <a:t>TBD</a:t>
            </a:r>
          </a:p>
        </p:txBody>
      </p:sp>
      <p:sp>
        <p:nvSpPr>
          <p:cNvPr id="3" name="Title 2">
            <a:extLst>
              <a:ext uri="{FF2B5EF4-FFF2-40B4-BE49-F238E27FC236}">
                <a16:creationId xmlns:a16="http://schemas.microsoft.com/office/drawing/2014/main" id="{27CAC387-BE61-BD58-534A-83249D87EB15}"/>
              </a:ext>
            </a:extLst>
          </p:cNvPr>
          <p:cNvSpPr>
            <a:spLocks noGrp="1"/>
          </p:cNvSpPr>
          <p:nvPr>
            <p:ph type="title"/>
          </p:nvPr>
        </p:nvSpPr>
        <p:spPr/>
        <p:txBody>
          <a:bodyPr/>
          <a:lstStyle/>
          <a:p>
            <a:r>
              <a:rPr lang="en-US" dirty="0"/>
              <a:t>Course Updates</a:t>
            </a:r>
          </a:p>
        </p:txBody>
      </p:sp>
    </p:spTree>
    <p:extLst>
      <p:ext uri="{BB962C8B-B14F-4D97-AF65-F5344CB8AC3E}">
        <p14:creationId xmlns:p14="http://schemas.microsoft.com/office/powerpoint/2010/main" val="94303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5CC5A-9BF8-71FB-ED3B-51CF539B8AEE}"/>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6BC1E514-97A7-E8FB-4126-BD7902F04987}"/>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D365A94-4C0D-DDFF-5C0E-E9105F962519}"/>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10243" name="Picture 7">
            <a:extLst>
              <a:ext uri="{FF2B5EF4-FFF2-40B4-BE49-F238E27FC236}">
                <a16:creationId xmlns:a16="http://schemas.microsoft.com/office/drawing/2014/main" id="{8A430086-94A7-4117-7E0B-9853F069992D}"/>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F994A1DE-85B8-1250-7071-8F232E7004AD}"/>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rPr>
              <a:t>Codd’s 12 Rules</a:t>
            </a:r>
            <a:endParaRPr kumimoji="0" lang="en-US" altLang="en-US" sz="16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2" name="TextBox 9">
            <a:extLst>
              <a:ext uri="{FF2B5EF4-FFF2-40B4-BE49-F238E27FC236}">
                <a16:creationId xmlns:a16="http://schemas.microsoft.com/office/drawing/2014/main" id="{A8A15425-3B6D-754C-327D-DE7007F3EBBA}"/>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l" defTabSz="457200" rtl="0" eaLnBrk="1" fontAlgn="base" latinLnBrk="0" hangingPunct="1">
              <a:lnSpc>
                <a:spcPts val="2400"/>
              </a:lnSpc>
              <a:spcBef>
                <a:spcPct val="0"/>
              </a:spcBef>
              <a:spcAft>
                <a:spcPct val="0"/>
              </a:spcAft>
              <a:buClrTx/>
              <a:buSzTx/>
              <a:buFontTx/>
              <a:buNone/>
              <a:tabLst/>
              <a:defRPr/>
            </a:pPr>
            <a:fld id="{A057C3CF-FEF9-2D44-911E-86B89DEEE20D}" type="slidenum">
              <a:rPr kumimoji="0" lang="en-US" altLang="en-US" sz="800" b="1" i="0" u="none" strike="noStrike" kern="1200" cap="none" spc="0" normalizeH="0" baseline="0" noProof="0">
                <a:ln>
                  <a:noFill/>
                </a:ln>
                <a:solidFill>
                  <a:prstClr val="white"/>
                </a:solidFill>
                <a:effectLst/>
                <a:uLnTx/>
                <a:uFillTx/>
                <a:latin typeface="Calibri" charset="0"/>
                <a:ea typeface="ＭＳ Ｐゴシック" charset="-128"/>
                <a:cs typeface="+mn-cs"/>
              </a:rPr>
              <a:pPr marL="0" marR="0" lvl="0" indent="0" algn="l" defTabSz="457200" rtl="0" eaLnBrk="1" fontAlgn="base" latinLnBrk="0" hangingPunct="1">
                <a:lnSpc>
                  <a:spcPts val="2400"/>
                </a:lnSpc>
                <a:spcBef>
                  <a:spcPct val="0"/>
                </a:spcBef>
                <a:spcAft>
                  <a:spcPct val="0"/>
                </a:spcAft>
                <a:buClrTx/>
                <a:buSzTx/>
                <a:buFontTx/>
                <a:buNone/>
                <a:tabLst/>
                <a:defRPr/>
              </a:pPr>
              <a:t>6</a:t>
            </a:fld>
            <a:r>
              <a:rPr kumimoji="0" lang="en-US" altLang="en-US" sz="800" b="1" i="0" u="none" strike="noStrike" kern="1200" cap="none" spc="0" normalizeH="0" baseline="0" noProof="0" dirty="0">
                <a:ln>
                  <a:noFill/>
                </a:ln>
                <a:solidFill>
                  <a:prstClr val="white"/>
                </a:solidFill>
                <a:effectLst/>
                <a:uLnTx/>
                <a:uFillTx/>
                <a:latin typeface="Calibri" charset="0"/>
                <a:ea typeface="ＭＳ Ｐゴシック" charset="-128"/>
                <a:cs typeface="+mn-cs"/>
              </a:rPr>
              <a:t> </a:t>
            </a:r>
            <a:r>
              <a:rPr kumimoji="0" lang="en-US" altLang="en-US" sz="800" b="0" i="0" u="none" strike="noStrike" kern="1200" cap="none" spc="0" normalizeH="0" baseline="0" noProof="0" dirty="0">
                <a:ln>
                  <a:noFill/>
                </a:ln>
                <a:solidFill>
                  <a:prstClr val="white"/>
                </a:solidFill>
                <a:effectLst/>
                <a:uLnTx/>
                <a:uFillTx/>
                <a:latin typeface="Calibri" charset="0"/>
                <a:ea typeface="ＭＳ Ｐゴシック" charset="-128"/>
                <a:cs typeface="+mn-cs"/>
              </a:rPr>
              <a:t>|</a:t>
            </a:r>
            <a:r>
              <a:rPr kumimoji="0" lang="en-US" altLang="en-US" sz="800" b="1" i="0" u="none" strike="noStrike" kern="1200" cap="none" spc="0" normalizeH="0" baseline="0" noProof="0" dirty="0">
                <a:ln>
                  <a:noFill/>
                </a:ln>
                <a:solidFill>
                  <a:prstClr val="white"/>
                </a:solidFill>
                <a:effectLst/>
                <a:uLnTx/>
                <a:uFillTx/>
                <a:latin typeface="Calibri" charset="0"/>
                <a:ea typeface="ＭＳ Ｐゴシック" charset="-128"/>
                <a:cs typeface="+mn-cs"/>
              </a:rPr>
              <a:t> COMS W4111_002_2025_1 -  Lecture 6: ER(5), Relational(5), SQL(5)			© Donald F. Ferguson, 2025</a:t>
            </a:r>
            <a:endParaRPr kumimoji="0" lang="en-US" altLang="en-US" sz="8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704125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5FF1C-DAA2-5DEF-D24C-407EFE4E9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F3CBF-F373-617C-79C9-CF8CCCBEAF4D}"/>
              </a:ext>
            </a:extLst>
          </p:cNvPr>
          <p:cNvSpPr>
            <a:spLocks noGrp="1"/>
          </p:cNvSpPr>
          <p:nvPr>
            <p:ph type="title"/>
          </p:nvPr>
        </p:nvSpPr>
        <p:spPr/>
        <p:txBody>
          <a:bodyPr/>
          <a:lstStyle/>
          <a:p>
            <a:r>
              <a:rPr lang="en-US" dirty="0"/>
              <a:t>Codd’s 12 Rules</a:t>
            </a:r>
          </a:p>
        </p:txBody>
      </p:sp>
      <p:sp>
        <p:nvSpPr>
          <p:cNvPr id="3" name="Content Placeholder 2">
            <a:extLst>
              <a:ext uri="{FF2B5EF4-FFF2-40B4-BE49-F238E27FC236}">
                <a16:creationId xmlns:a16="http://schemas.microsoft.com/office/drawing/2014/main" id="{1357871A-1022-5486-B37E-88863406CDE9}"/>
              </a:ext>
            </a:extLst>
          </p:cNvPr>
          <p:cNvSpPr>
            <a:spLocks noGrp="1"/>
          </p:cNvSpPr>
          <p:nvPr>
            <p:ph idx="1"/>
          </p:nvPr>
        </p:nvSpPr>
        <p:spPr/>
        <p:txBody>
          <a:bodyPr/>
          <a:lstStyle/>
          <a:p>
            <a:pPr marL="0" indent="0">
              <a:buNone/>
            </a:pPr>
            <a:r>
              <a:rPr lang="en-US" sz="1300" dirty="0"/>
              <a:t>Rule 1: Information Rule</a:t>
            </a:r>
          </a:p>
          <a:p>
            <a:pPr marL="0" indent="0">
              <a:buNone/>
            </a:pPr>
            <a:r>
              <a:rPr lang="en-US" sz="1300" dirty="0"/>
              <a:t>The data stored in a database, may it be user data or metadata, must be a value of some table cell. Everything in a database must be stored in a table format.</a:t>
            </a:r>
          </a:p>
          <a:p>
            <a:pPr marL="0" indent="0">
              <a:buNone/>
            </a:pPr>
            <a:endParaRPr lang="en-US" sz="1300" dirty="0"/>
          </a:p>
          <a:p>
            <a:pPr marL="0" indent="0">
              <a:buNone/>
            </a:pPr>
            <a:r>
              <a:rPr lang="en-US" sz="1300" dirty="0"/>
              <a:t>Rule 2: Guaranteed Access Rule</a:t>
            </a:r>
          </a:p>
          <a:p>
            <a:pPr marL="0" indent="0">
              <a:buNone/>
            </a:pPr>
            <a:r>
              <a:rPr lang="en-US" sz="1300" dirty="0"/>
              <a:t>Every single data element (value) is guaranteed to be accessible logically with a combination of table-name, primary-key (row value), and attribute-name (column value). No other means, such as pointers, can be used to access data.</a:t>
            </a:r>
          </a:p>
          <a:p>
            <a:pPr marL="0" indent="0">
              <a:buNone/>
            </a:pPr>
            <a:endParaRPr lang="en-US" sz="1300" dirty="0"/>
          </a:p>
          <a:p>
            <a:pPr marL="0" indent="0">
              <a:buNone/>
            </a:pPr>
            <a:r>
              <a:rPr lang="en-US" sz="1300" dirty="0"/>
              <a:t>Rule 3: Systematic Treatment of NULL Values</a:t>
            </a:r>
          </a:p>
          <a:p>
            <a:pPr marL="0" indent="0">
              <a:buNone/>
            </a:pPr>
            <a:r>
              <a:rPr lang="en-US" sz="1300" dirty="0"/>
              <a:t>The NULL values in a database must be given a systematic and uniform treatment. This is a very important rule because a NULL can be interpreted as one the following − data is missing, data is not known, or data is not applicable.</a:t>
            </a:r>
          </a:p>
        </p:txBody>
      </p:sp>
      <p:sp>
        <p:nvSpPr>
          <p:cNvPr id="4" name="Content Placeholder 3">
            <a:extLst>
              <a:ext uri="{FF2B5EF4-FFF2-40B4-BE49-F238E27FC236}">
                <a16:creationId xmlns:a16="http://schemas.microsoft.com/office/drawing/2014/main" id="{F7541451-9AAA-DA57-4423-CFDFE0C89A38}"/>
              </a:ext>
            </a:extLst>
          </p:cNvPr>
          <p:cNvSpPr>
            <a:spLocks noGrp="1"/>
          </p:cNvSpPr>
          <p:nvPr>
            <p:ph idx="10"/>
          </p:nvPr>
        </p:nvSpPr>
        <p:spPr>
          <a:prstGeom prst="rect">
            <a:avLst/>
          </a:prstGeom>
        </p:spPr>
        <p:txBody>
          <a:bodyPr/>
          <a:lstStyle/>
          <a:p>
            <a:pPr marL="0" indent="0">
              <a:buNone/>
            </a:pPr>
            <a:r>
              <a:rPr lang="en-US" sz="1300" dirty="0"/>
              <a:t>Rule 4: Active Online Catalog</a:t>
            </a:r>
          </a:p>
          <a:p>
            <a:pPr marL="0" indent="0">
              <a:buNone/>
            </a:pPr>
            <a:r>
              <a:rPr lang="en-US" sz="1300" dirty="0"/>
              <a:t>The structure description of the entire database must be stored in an online catalog, known as data dictionary, which can be accessed by authorized users. Users can use the same query language to access the catalog which they use to access the database itself.</a:t>
            </a:r>
          </a:p>
          <a:p>
            <a:pPr marL="0" indent="0">
              <a:buNone/>
            </a:pPr>
            <a:endParaRPr lang="en-US" sz="1300" dirty="0"/>
          </a:p>
          <a:p>
            <a:pPr marL="0" indent="0">
              <a:buNone/>
            </a:pPr>
            <a:r>
              <a:rPr lang="en-US" sz="1300" dirty="0"/>
              <a:t>Rule 5: Comprehensive Data Sub-Language Rule</a:t>
            </a:r>
          </a:p>
          <a:p>
            <a:pPr marL="0" indent="0">
              <a:buNone/>
            </a:pPr>
            <a:r>
              <a:rPr lang="en-US" sz="1300" dirty="0"/>
              <a:t>A database can only be accessed using a language having linear syntax that supports data definition, data manipulation, and transaction management operations. This language can be used directly or by means of some application. If the database allows access to data without any help of this language, then it is considered as a violation.</a:t>
            </a:r>
          </a:p>
          <a:p>
            <a:pPr marL="0" indent="0">
              <a:buNone/>
            </a:pPr>
            <a:endParaRPr lang="en-US" sz="1300" dirty="0"/>
          </a:p>
          <a:p>
            <a:pPr marL="0" indent="0">
              <a:buNone/>
            </a:pPr>
            <a:r>
              <a:rPr lang="en-US" sz="1300" b="1" dirty="0"/>
              <a:t>Rule 6: View Updating Rule</a:t>
            </a:r>
          </a:p>
          <a:p>
            <a:pPr marL="0" indent="0">
              <a:buNone/>
            </a:pPr>
            <a:r>
              <a:rPr lang="en-US" sz="1300" dirty="0"/>
              <a:t>All the views of a database, which can theoretically be updated, must also be updatable by the system.</a:t>
            </a:r>
          </a:p>
          <a:p>
            <a:pPr marL="0" indent="0">
              <a:buNone/>
            </a:pPr>
            <a:endParaRPr lang="en-US" sz="1300" dirty="0"/>
          </a:p>
          <a:p>
            <a:pPr marL="0" indent="0">
              <a:buNone/>
            </a:pPr>
            <a:endParaRPr lang="en-US" sz="1300" dirty="0"/>
          </a:p>
        </p:txBody>
      </p:sp>
    </p:spTree>
    <p:extLst>
      <p:ext uri="{BB962C8B-B14F-4D97-AF65-F5344CB8AC3E}">
        <p14:creationId xmlns:p14="http://schemas.microsoft.com/office/powerpoint/2010/main" val="2797835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E89AD-5BC4-D87A-E482-19CFCF4D6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121AA-DAC0-538F-2036-B21670BB7411}"/>
              </a:ext>
            </a:extLst>
          </p:cNvPr>
          <p:cNvSpPr>
            <a:spLocks noGrp="1"/>
          </p:cNvSpPr>
          <p:nvPr>
            <p:ph type="title"/>
          </p:nvPr>
        </p:nvSpPr>
        <p:spPr/>
        <p:txBody>
          <a:bodyPr/>
          <a:lstStyle/>
          <a:p>
            <a:r>
              <a:rPr lang="en-US" dirty="0"/>
              <a:t>Codd’s 12 Rules</a:t>
            </a:r>
          </a:p>
        </p:txBody>
      </p:sp>
      <p:sp>
        <p:nvSpPr>
          <p:cNvPr id="3" name="Content Placeholder 2">
            <a:extLst>
              <a:ext uri="{FF2B5EF4-FFF2-40B4-BE49-F238E27FC236}">
                <a16:creationId xmlns:a16="http://schemas.microsoft.com/office/drawing/2014/main" id="{C0AB99E2-4C9E-D6E3-FC7B-C9D91BEEDE02}"/>
              </a:ext>
            </a:extLst>
          </p:cNvPr>
          <p:cNvSpPr>
            <a:spLocks noGrp="1"/>
          </p:cNvSpPr>
          <p:nvPr>
            <p:ph idx="1"/>
          </p:nvPr>
        </p:nvSpPr>
        <p:spPr/>
        <p:txBody>
          <a:bodyPr/>
          <a:lstStyle/>
          <a:p>
            <a:pPr marL="0" indent="0">
              <a:buNone/>
            </a:pPr>
            <a:r>
              <a:rPr lang="en-US" sz="1300" dirty="0"/>
              <a:t>Rule 7: High-Level Insert, Update, and Delete Rule</a:t>
            </a:r>
          </a:p>
          <a:p>
            <a:pPr marL="0" indent="0">
              <a:buNone/>
            </a:pPr>
            <a:r>
              <a:rPr lang="en-US" sz="1300" dirty="0"/>
              <a:t>A database must support high-level insertion, </a:t>
            </a:r>
            <a:r>
              <a:rPr lang="en-US" sz="1300" dirty="0" err="1"/>
              <a:t>updation</a:t>
            </a:r>
            <a:r>
              <a:rPr lang="en-US" sz="1300" dirty="0"/>
              <a:t>, and deletion. This must not be limited to a single row, that is, it must also support union, intersection and minus operations to yield sets of data records.</a:t>
            </a:r>
          </a:p>
          <a:p>
            <a:pPr marL="0" indent="0">
              <a:buNone/>
            </a:pPr>
            <a:endParaRPr lang="en-US" sz="1300" dirty="0"/>
          </a:p>
          <a:p>
            <a:pPr marL="0" indent="0">
              <a:buNone/>
            </a:pPr>
            <a:r>
              <a:rPr lang="en-US" sz="1300" dirty="0"/>
              <a:t>Rule 8: Physical Data Independence</a:t>
            </a:r>
          </a:p>
          <a:p>
            <a:pPr marL="0" indent="0">
              <a:buNone/>
            </a:pPr>
            <a:r>
              <a:rPr lang="en-US" sz="1300" dirty="0"/>
              <a:t>The data stored in a database must be independent of the applications that access the database. Any change in the physical structure of a database must not have any impact on how the data is being accessed by external applications.</a:t>
            </a:r>
          </a:p>
          <a:p>
            <a:pPr marL="0" indent="0">
              <a:buNone/>
            </a:pPr>
            <a:endParaRPr lang="en-US" sz="1300" dirty="0"/>
          </a:p>
          <a:p>
            <a:pPr marL="0" indent="0">
              <a:buNone/>
            </a:pPr>
            <a:r>
              <a:rPr lang="en-US" sz="1300" dirty="0"/>
              <a:t>Rule 9: Logical Data Independence</a:t>
            </a:r>
          </a:p>
          <a:p>
            <a:pPr marL="0" indent="0">
              <a:buNone/>
            </a:pPr>
            <a:r>
              <a:rPr lang="en-US" sz="1300" dirty="0"/>
              <a:t>The logical data in a database must be independent of its user’s view (application). Any change in logical data must not affect the applications using it. For example, if two tables are merged or one is split into two different tables, there should be no impact or change on the user application. This is one of the most difficult rule to apply.</a:t>
            </a:r>
          </a:p>
          <a:p>
            <a:pPr marL="0" indent="0">
              <a:buNone/>
            </a:pPr>
            <a:endParaRPr lang="en-US" sz="1300" dirty="0"/>
          </a:p>
        </p:txBody>
      </p:sp>
      <p:sp>
        <p:nvSpPr>
          <p:cNvPr id="4" name="Content Placeholder 3">
            <a:extLst>
              <a:ext uri="{FF2B5EF4-FFF2-40B4-BE49-F238E27FC236}">
                <a16:creationId xmlns:a16="http://schemas.microsoft.com/office/drawing/2014/main" id="{FABFAED3-A6EE-D6E0-735F-0BF6B9D5F06B}"/>
              </a:ext>
            </a:extLst>
          </p:cNvPr>
          <p:cNvSpPr>
            <a:spLocks noGrp="1"/>
          </p:cNvSpPr>
          <p:nvPr>
            <p:ph idx="10"/>
          </p:nvPr>
        </p:nvSpPr>
        <p:spPr>
          <a:prstGeom prst="rect">
            <a:avLst/>
          </a:prstGeom>
        </p:spPr>
        <p:txBody>
          <a:bodyPr/>
          <a:lstStyle/>
          <a:p>
            <a:pPr marL="0" indent="0">
              <a:buNone/>
            </a:pPr>
            <a:r>
              <a:rPr lang="en-US" sz="1300" dirty="0"/>
              <a:t>Rule 10: Integrity Independence</a:t>
            </a:r>
          </a:p>
          <a:p>
            <a:pPr marL="0" indent="0">
              <a:buNone/>
            </a:pPr>
            <a:r>
              <a:rPr lang="en-US" sz="1300" dirty="0"/>
              <a:t>A database must be independent of the application that uses it. All its integrity constraints can be independently modified without the need of any change in the application. This rule makes a database independent of the front-end application and its interface.</a:t>
            </a:r>
          </a:p>
          <a:p>
            <a:pPr marL="0" indent="0">
              <a:buNone/>
            </a:pPr>
            <a:endParaRPr lang="en-US" sz="1300" dirty="0"/>
          </a:p>
          <a:p>
            <a:pPr marL="0" indent="0">
              <a:buNone/>
            </a:pPr>
            <a:r>
              <a:rPr lang="en-US" sz="1300" dirty="0"/>
              <a:t>Rule 11: Distribution Independence</a:t>
            </a:r>
          </a:p>
          <a:p>
            <a:pPr marL="0" indent="0">
              <a:buNone/>
            </a:pPr>
            <a:r>
              <a:rPr lang="en-US" sz="1300" dirty="0"/>
              <a:t>The end-user must not be able to see that the data is distributed over various locations. Users should always get the impression that the data is located at one site only. This rule has been regarded as the foundation of distributed database systems.</a:t>
            </a:r>
          </a:p>
          <a:p>
            <a:pPr marL="0" indent="0">
              <a:buNone/>
            </a:pPr>
            <a:endParaRPr lang="en-US" sz="1300" dirty="0"/>
          </a:p>
          <a:p>
            <a:pPr marL="0" indent="0">
              <a:buNone/>
            </a:pPr>
            <a:r>
              <a:rPr lang="en-US" sz="1300" dirty="0"/>
              <a:t>Rule 12: Non-Subversion Rule</a:t>
            </a:r>
          </a:p>
          <a:p>
            <a:pPr marL="0" indent="0">
              <a:buNone/>
            </a:pPr>
            <a:r>
              <a:rPr lang="en-US" sz="1300" dirty="0"/>
              <a:t>If a system has an interface that provides access to low-level records, then the interface must not be able to subvert the system and bypass security and integrity constraints.</a:t>
            </a:r>
          </a:p>
          <a:p>
            <a:pPr marL="0" indent="0">
              <a:buNone/>
            </a:pPr>
            <a:endParaRPr lang="en-US" sz="1300" dirty="0"/>
          </a:p>
        </p:txBody>
      </p:sp>
    </p:spTree>
    <p:extLst>
      <p:ext uri="{BB962C8B-B14F-4D97-AF65-F5344CB8AC3E}">
        <p14:creationId xmlns:p14="http://schemas.microsoft.com/office/powerpoint/2010/main" val="978033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028E6-6F77-416E-4010-F34E0C2081C1}"/>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36BB7516-5018-6F1B-72CD-424934B1A1A8}"/>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24155024-AE77-2D4C-65B4-07250D25E786}"/>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22E6D89A-5368-FEAD-6D6C-B744E2AE48B9}"/>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FEEC8A75-3C73-B0CC-9E7B-4E2233D936A0}"/>
              </a:ext>
            </a:extLst>
          </p:cNvPr>
          <p:cNvSpPr txBox="1">
            <a:spLocks noChangeArrowheads="1"/>
          </p:cNvSpPr>
          <p:nvPr/>
        </p:nvSpPr>
        <p:spPr bwMode="auto">
          <a:xfrm>
            <a:off x="0" y="1694587"/>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3600" dirty="0">
                <a:solidFill>
                  <a:schemeClr val="bg1"/>
                </a:solidFill>
              </a:rPr>
              <a:t>ER Modeling</a:t>
            </a:r>
          </a:p>
        </p:txBody>
      </p:sp>
      <p:sp>
        <p:nvSpPr>
          <p:cNvPr id="9" name="TextBox 9">
            <a:extLst>
              <a:ext uri="{FF2B5EF4-FFF2-40B4-BE49-F238E27FC236}">
                <a16:creationId xmlns:a16="http://schemas.microsoft.com/office/drawing/2014/main" id="{121DC0CE-0943-584B-D296-2D70CA32F4B8}"/>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9</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COMS W4111_002_2025_1 -  Lecture 5: ER(4), Relational(4), SQL(4)			© Donald F. Ferguson, 2025</a:t>
            </a:r>
            <a:endParaRPr lang="en-US" altLang="en-US" sz="800" i="1" dirty="0">
              <a:solidFill>
                <a:schemeClr val="bg1"/>
              </a:solidFill>
            </a:endParaRPr>
          </a:p>
        </p:txBody>
      </p:sp>
    </p:spTree>
    <p:extLst>
      <p:ext uri="{BB962C8B-B14F-4D97-AF65-F5344CB8AC3E}">
        <p14:creationId xmlns:p14="http://schemas.microsoft.com/office/powerpoint/2010/main" val="366172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DD6F5-B069-9BA4-A6F9-C790DCA0AEE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111FE60-0F9F-07A0-9C58-3CB7DCDEB2A9}"/>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10243" name="Picture 7">
            <a:extLst>
              <a:ext uri="{FF2B5EF4-FFF2-40B4-BE49-F238E27FC236}">
                <a16:creationId xmlns:a16="http://schemas.microsoft.com/office/drawing/2014/main" id="{D397CF4B-9E7B-343E-3AFA-729AE3E8752E}"/>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F4E0452E-8C08-6BF4-6B41-32074DBD01F7}"/>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rPr>
              <a:t>Introduction</a:t>
            </a:r>
            <a:endParaRPr kumimoji="0" lang="en-US" altLang="en-US" sz="16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3" name="Rectangle 2">
            <a:extLst>
              <a:ext uri="{FF2B5EF4-FFF2-40B4-BE49-F238E27FC236}">
                <a16:creationId xmlns:a16="http://schemas.microsoft.com/office/drawing/2014/main" id="{FF5C7C78-69F5-8CA9-CFB2-1BDD3AB9F23A}"/>
              </a:ext>
            </a:extLst>
          </p:cNvPr>
          <p:cNvSpPr/>
          <p:nvPr/>
        </p:nvSpPr>
        <p:spPr>
          <a:xfrm>
            <a:off x="0" y="438150"/>
            <a:ext cx="9144000" cy="42481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Degree</a:t>
            </a:r>
            <a:br>
              <a:rPr kumimoji="0" lang="en-US" sz="3600" b="0" i="0" u="none" strike="noStrike" kern="1200" cap="none" spc="0" normalizeH="0" baseline="0" noProof="0" dirty="0">
                <a:ln>
                  <a:noFill/>
                </a:ln>
                <a:solidFill>
                  <a:prstClr val="black"/>
                </a:solidFill>
                <a:effectLst/>
                <a:uLnTx/>
                <a:uFillTx/>
                <a:latin typeface="Calibri"/>
                <a:ea typeface="+mn-ea"/>
                <a:cs typeface="+mn-cs"/>
              </a:rPr>
            </a:br>
            <a:r>
              <a:rPr kumimoji="0" lang="en-US" sz="3600" b="0" i="0" u="none" strike="noStrike" kern="1200" cap="none" spc="0" normalizeH="0" baseline="0" noProof="0" dirty="0">
                <a:ln>
                  <a:noFill/>
                </a:ln>
                <a:solidFill>
                  <a:prstClr val="black"/>
                </a:solidFill>
                <a:effectLst/>
                <a:uLnTx/>
                <a:uFillTx/>
                <a:latin typeface="Calibri"/>
                <a:ea typeface="+mn-ea"/>
                <a:cs typeface="+mn-cs"/>
              </a:rPr>
              <a:t>Cardinality</a:t>
            </a:r>
            <a:br>
              <a:rPr kumimoji="0" lang="en-US" sz="3600" b="0" i="0" u="none" strike="noStrike" kern="1200" cap="none" spc="0" normalizeH="0" baseline="0" noProof="0" dirty="0">
                <a:ln>
                  <a:noFill/>
                </a:ln>
                <a:solidFill>
                  <a:prstClr val="black"/>
                </a:solidFill>
                <a:effectLst/>
                <a:uLnTx/>
                <a:uFillTx/>
                <a:latin typeface="Calibri"/>
                <a:ea typeface="+mn-ea"/>
                <a:cs typeface="+mn-cs"/>
              </a:rPr>
            </a:b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9">
            <a:extLst>
              <a:ext uri="{FF2B5EF4-FFF2-40B4-BE49-F238E27FC236}">
                <a16:creationId xmlns:a16="http://schemas.microsoft.com/office/drawing/2014/main" id="{76372C0A-4C1B-DC4F-0771-4C4974A968A5}"/>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l" defTabSz="457200" rtl="0" eaLnBrk="1" fontAlgn="base" latinLnBrk="0" hangingPunct="1">
              <a:lnSpc>
                <a:spcPts val="2400"/>
              </a:lnSpc>
              <a:spcBef>
                <a:spcPct val="0"/>
              </a:spcBef>
              <a:spcAft>
                <a:spcPct val="0"/>
              </a:spcAft>
              <a:buClrTx/>
              <a:buSzTx/>
              <a:buFontTx/>
              <a:buNone/>
              <a:tabLst/>
              <a:defRPr/>
            </a:pPr>
            <a:fld id="{A057C3CF-FEF9-2D44-911E-86B89DEEE20D}" type="slidenum">
              <a:rPr kumimoji="0" lang="en-US" altLang="en-US" sz="800" b="1" i="0" u="none" strike="noStrike" kern="1200" cap="none" spc="0" normalizeH="0" baseline="0" noProof="0">
                <a:ln>
                  <a:noFill/>
                </a:ln>
                <a:solidFill>
                  <a:prstClr val="white"/>
                </a:solidFill>
                <a:effectLst/>
                <a:uLnTx/>
                <a:uFillTx/>
                <a:latin typeface="Calibri" charset="0"/>
                <a:ea typeface="ＭＳ Ｐゴシック" charset="-128"/>
                <a:cs typeface="+mn-cs"/>
              </a:rPr>
              <a:pPr marL="0" marR="0" lvl="0" indent="0" algn="l" defTabSz="457200" rtl="0" eaLnBrk="1" fontAlgn="base" latinLnBrk="0" hangingPunct="1">
                <a:lnSpc>
                  <a:spcPts val="2400"/>
                </a:lnSpc>
                <a:spcBef>
                  <a:spcPct val="0"/>
                </a:spcBef>
                <a:spcAft>
                  <a:spcPct val="0"/>
                </a:spcAft>
                <a:buClrTx/>
                <a:buSzTx/>
                <a:buFontTx/>
                <a:buNone/>
                <a:tabLst/>
                <a:defRPr/>
              </a:pPr>
              <a:t>10</a:t>
            </a:fld>
            <a:r>
              <a:rPr kumimoji="0" lang="en-US" altLang="en-US" sz="800" b="1" i="0" u="none" strike="noStrike" kern="1200" cap="none" spc="0" normalizeH="0" baseline="0" noProof="0" dirty="0">
                <a:ln>
                  <a:noFill/>
                </a:ln>
                <a:solidFill>
                  <a:prstClr val="white"/>
                </a:solidFill>
                <a:effectLst/>
                <a:uLnTx/>
                <a:uFillTx/>
                <a:latin typeface="Calibri" charset="0"/>
                <a:ea typeface="ＭＳ Ｐゴシック" charset="-128"/>
                <a:cs typeface="+mn-cs"/>
              </a:rPr>
              <a:t> </a:t>
            </a:r>
            <a:r>
              <a:rPr kumimoji="0" lang="en-US" altLang="en-US" sz="800" b="0" i="0" u="none" strike="noStrike" kern="1200" cap="none" spc="0" normalizeH="0" baseline="0" noProof="0" dirty="0">
                <a:ln>
                  <a:noFill/>
                </a:ln>
                <a:solidFill>
                  <a:prstClr val="white"/>
                </a:solidFill>
                <a:effectLst/>
                <a:uLnTx/>
                <a:uFillTx/>
                <a:latin typeface="Calibri" charset="0"/>
                <a:ea typeface="ＭＳ Ｐゴシック" charset="-128"/>
                <a:cs typeface="+mn-cs"/>
              </a:rPr>
              <a:t>|</a:t>
            </a:r>
            <a:r>
              <a:rPr kumimoji="0" lang="en-US" altLang="en-US" sz="800" b="1" i="0" u="none" strike="noStrike" kern="1200" cap="none" spc="0" normalizeH="0" baseline="0" noProof="0" dirty="0">
                <a:ln>
                  <a:noFill/>
                </a:ln>
                <a:solidFill>
                  <a:prstClr val="white"/>
                </a:solidFill>
                <a:effectLst/>
                <a:uLnTx/>
                <a:uFillTx/>
                <a:latin typeface="Calibri" charset="0"/>
                <a:ea typeface="ＭＳ Ｐゴシック" charset="-128"/>
                <a:cs typeface="+mn-cs"/>
              </a:rPr>
              <a:t> COMS W4111_002_2025_1 -  Lecture 5: ER(4), Relational(4), SQL(4)			© Donald F. Ferguson, 2025</a:t>
            </a:r>
            <a:endParaRPr kumimoji="0" lang="en-US" altLang="en-US" sz="8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384162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4CB42-FC77-CFF8-B7B6-31CBA4FC5C8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016ACB8-57A5-3B81-ED8A-8C6D4F5FA859}"/>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10243" name="Picture 7">
            <a:extLst>
              <a:ext uri="{FF2B5EF4-FFF2-40B4-BE49-F238E27FC236}">
                <a16:creationId xmlns:a16="http://schemas.microsoft.com/office/drawing/2014/main" id="{C38EC5A9-D445-60B7-AB4C-C2E5759483CF}"/>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88E373CC-1783-110D-C458-7E8AAC3CE049}"/>
              </a:ext>
            </a:extLst>
          </p:cNvPr>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rPr>
              <a:t>Introduction</a:t>
            </a:r>
            <a:endParaRPr kumimoji="0" lang="en-US" altLang="en-US" sz="16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3" name="Rectangle 2">
            <a:extLst>
              <a:ext uri="{FF2B5EF4-FFF2-40B4-BE49-F238E27FC236}">
                <a16:creationId xmlns:a16="http://schemas.microsoft.com/office/drawing/2014/main" id="{D8C72481-97F7-0A6E-69F7-B362CFE2EEB0}"/>
              </a:ext>
            </a:extLst>
          </p:cNvPr>
          <p:cNvSpPr/>
          <p:nvPr/>
        </p:nvSpPr>
        <p:spPr>
          <a:xfrm>
            <a:off x="0" y="438150"/>
            <a:ext cx="9144000" cy="42481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Aggregation</a:t>
            </a:r>
          </a:p>
        </p:txBody>
      </p:sp>
      <p:sp>
        <p:nvSpPr>
          <p:cNvPr id="4" name="TextBox 9">
            <a:extLst>
              <a:ext uri="{FF2B5EF4-FFF2-40B4-BE49-F238E27FC236}">
                <a16:creationId xmlns:a16="http://schemas.microsoft.com/office/drawing/2014/main" id="{5D90F59B-FBD9-A925-2065-C5EE5D2C072D}"/>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l" defTabSz="457200" rtl="0" eaLnBrk="1" fontAlgn="base" latinLnBrk="0" hangingPunct="1">
              <a:lnSpc>
                <a:spcPts val="2400"/>
              </a:lnSpc>
              <a:spcBef>
                <a:spcPct val="0"/>
              </a:spcBef>
              <a:spcAft>
                <a:spcPct val="0"/>
              </a:spcAft>
              <a:buClrTx/>
              <a:buSzTx/>
              <a:buFontTx/>
              <a:buNone/>
              <a:tabLst/>
              <a:defRPr/>
            </a:pPr>
            <a:fld id="{A057C3CF-FEF9-2D44-911E-86B89DEEE20D}" type="slidenum">
              <a:rPr kumimoji="0" lang="en-US" altLang="en-US" sz="800" b="1" i="0" u="none" strike="noStrike" kern="1200" cap="none" spc="0" normalizeH="0" baseline="0" noProof="0">
                <a:ln>
                  <a:noFill/>
                </a:ln>
                <a:solidFill>
                  <a:prstClr val="white"/>
                </a:solidFill>
                <a:effectLst/>
                <a:uLnTx/>
                <a:uFillTx/>
                <a:latin typeface="Calibri" charset="0"/>
                <a:ea typeface="ＭＳ Ｐゴシック" charset="-128"/>
                <a:cs typeface="+mn-cs"/>
              </a:rPr>
              <a:pPr marL="0" marR="0" lvl="0" indent="0" algn="l" defTabSz="457200" rtl="0" eaLnBrk="1" fontAlgn="base" latinLnBrk="0" hangingPunct="1">
                <a:lnSpc>
                  <a:spcPts val="2400"/>
                </a:lnSpc>
                <a:spcBef>
                  <a:spcPct val="0"/>
                </a:spcBef>
                <a:spcAft>
                  <a:spcPct val="0"/>
                </a:spcAft>
                <a:buClrTx/>
                <a:buSzTx/>
                <a:buFontTx/>
                <a:buNone/>
                <a:tabLst/>
                <a:defRPr/>
              </a:pPr>
              <a:t>11</a:t>
            </a:fld>
            <a:r>
              <a:rPr kumimoji="0" lang="en-US" altLang="en-US" sz="800" b="1" i="0" u="none" strike="noStrike" kern="1200" cap="none" spc="0" normalizeH="0" baseline="0" noProof="0" dirty="0">
                <a:ln>
                  <a:noFill/>
                </a:ln>
                <a:solidFill>
                  <a:prstClr val="white"/>
                </a:solidFill>
                <a:effectLst/>
                <a:uLnTx/>
                <a:uFillTx/>
                <a:latin typeface="Calibri" charset="0"/>
                <a:ea typeface="ＭＳ Ｐゴシック" charset="-128"/>
                <a:cs typeface="+mn-cs"/>
              </a:rPr>
              <a:t> </a:t>
            </a:r>
            <a:r>
              <a:rPr kumimoji="0" lang="en-US" altLang="en-US" sz="800" b="0" i="0" u="none" strike="noStrike" kern="1200" cap="none" spc="0" normalizeH="0" baseline="0" noProof="0" dirty="0">
                <a:ln>
                  <a:noFill/>
                </a:ln>
                <a:solidFill>
                  <a:prstClr val="white"/>
                </a:solidFill>
                <a:effectLst/>
                <a:uLnTx/>
                <a:uFillTx/>
                <a:latin typeface="Calibri" charset="0"/>
                <a:ea typeface="ＭＳ Ｐゴシック" charset="-128"/>
                <a:cs typeface="+mn-cs"/>
              </a:rPr>
              <a:t>|</a:t>
            </a:r>
            <a:r>
              <a:rPr kumimoji="0" lang="en-US" altLang="en-US" sz="800" b="1" i="0" u="none" strike="noStrike" kern="1200" cap="none" spc="0" normalizeH="0" baseline="0" noProof="0" dirty="0">
                <a:ln>
                  <a:noFill/>
                </a:ln>
                <a:solidFill>
                  <a:prstClr val="white"/>
                </a:solidFill>
                <a:effectLst/>
                <a:uLnTx/>
                <a:uFillTx/>
                <a:latin typeface="Calibri" charset="0"/>
                <a:ea typeface="ＭＳ Ｐゴシック" charset="-128"/>
                <a:cs typeface="+mn-cs"/>
              </a:rPr>
              <a:t> COMS W4111_002_2025_1 -  Lecture 5: ER(4), Relational(4), SQL(4)			© Donald F. Ferguson, 2025</a:t>
            </a:r>
            <a:endParaRPr kumimoji="0" lang="en-US" altLang="en-US" sz="8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198245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F97B6-3357-8E90-473F-30977F199782}"/>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47EEFC01-B0DE-169D-B8B3-ABCE1F51ED66}"/>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A26BD595-F1AB-CC29-DCAC-AB556D3BCF9B}"/>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B5172FEA-FFAB-3FA5-A90E-6156726245FD}"/>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D743D9CA-8F1C-8134-9621-9CCCB812CB0C}"/>
              </a:ext>
            </a:extLst>
          </p:cNvPr>
          <p:cNvSpPr txBox="1">
            <a:spLocks noChangeArrowheads="1"/>
          </p:cNvSpPr>
          <p:nvPr/>
        </p:nvSpPr>
        <p:spPr bwMode="auto">
          <a:xfrm>
            <a:off x="0" y="1694587"/>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3600" dirty="0">
                <a:solidFill>
                  <a:schemeClr val="bg1"/>
                </a:solidFill>
              </a:rPr>
              <a:t>Relational Model</a:t>
            </a:r>
          </a:p>
        </p:txBody>
      </p:sp>
      <p:sp>
        <p:nvSpPr>
          <p:cNvPr id="9" name="TextBox 9">
            <a:extLst>
              <a:ext uri="{FF2B5EF4-FFF2-40B4-BE49-F238E27FC236}">
                <a16:creationId xmlns:a16="http://schemas.microsoft.com/office/drawing/2014/main" id="{4B2C7294-971A-6FB5-47D9-0B5378AC8DB5}"/>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12</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COMS W4111_002_2025_1 -  Lecture 5: ER(4), Relational(4), SQL(4)			© Donald F. Ferguson, 2025</a:t>
            </a:r>
            <a:endParaRPr lang="en-US" altLang="en-US" sz="800" i="1" dirty="0">
              <a:solidFill>
                <a:schemeClr val="bg1"/>
              </a:solidFill>
            </a:endParaRPr>
          </a:p>
        </p:txBody>
      </p:sp>
    </p:spTree>
    <p:extLst>
      <p:ext uri="{BB962C8B-B14F-4D97-AF65-F5344CB8AC3E}">
        <p14:creationId xmlns:p14="http://schemas.microsoft.com/office/powerpoint/2010/main" val="3146950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02C5-BEC8-48AA-0BC9-6B7B3C3DFDD9}"/>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6B5180AC-72D3-22AA-7B33-3DA4843179CE}"/>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1E11D993-371E-86C5-8767-2A5B2A8289F1}"/>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B0ED8426-E272-A81F-008A-8941E23CF780}"/>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5F9789BD-5BDC-4913-0672-828B52926820}"/>
              </a:ext>
            </a:extLst>
          </p:cNvPr>
          <p:cNvSpPr txBox="1">
            <a:spLocks noChangeArrowheads="1"/>
          </p:cNvSpPr>
          <p:nvPr/>
        </p:nvSpPr>
        <p:spPr bwMode="auto">
          <a:xfrm>
            <a:off x="0" y="1694587"/>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3600" dirty="0">
                <a:solidFill>
                  <a:schemeClr val="bg1"/>
                </a:solidFill>
              </a:rPr>
              <a:t>SQL</a:t>
            </a:r>
          </a:p>
        </p:txBody>
      </p:sp>
      <p:sp>
        <p:nvSpPr>
          <p:cNvPr id="9" name="TextBox 9">
            <a:extLst>
              <a:ext uri="{FF2B5EF4-FFF2-40B4-BE49-F238E27FC236}">
                <a16:creationId xmlns:a16="http://schemas.microsoft.com/office/drawing/2014/main" id="{3BDC2580-DAD2-ED8B-6E03-BE6FF8312394}"/>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13</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COMS W4111_002_2025_1 -  Lecture 5: ER(4), Relational(4), SQL(4)			© Donald F. Ferguson, 2025</a:t>
            </a:r>
            <a:endParaRPr lang="en-US" altLang="en-US" sz="800" i="1" dirty="0">
              <a:solidFill>
                <a:schemeClr val="bg1"/>
              </a:solidFill>
            </a:endParaRPr>
          </a:p>
        </p:txBody>
      </p:sp>
    </p:spTree>
    <p:extLst>
      <p:ext uri="{BB962C8B-B14F-4D97-AF65-F5344CB8AC3E}">
        <p14:creationId xmlns:p14="http://schemas.microsoft.com/office/powerpoint/2010/main" val="1221140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5ECAF-8D77-48E2-94E9-A0A3DD997831}"/>
            </a:ext>
          </a:extLst>
        </p:cNvPr>
        <p:cNvGrpSpPr/>
        <p:nvPr/>
      </p:nvGrpSpPr>
      <p:grpSpPr>
        <a:xfrm>
          <a:off x="0" y="0"/>
          <a:ext cx="0" cy="0"/>
          <a:chOff x="0" y="0"/>
          <a:chExt cx="0" cy="0"/>
        </a:xfrm>
      </p:grpSpPr>
      <p:pic>
        <p:nvPicPr>
          <p:cNvPr id="9217" name="Picture 1" descr="16x9_grey.jpg">
            <a:extLst>
              <a:ext uri="{FF2B5EF4-FFF2-40B4-BE49-F238E27FC236}">
                <a16:creationId xmlns:a16="http://schemas.microsoft.com/office/drawing/2014/main" id="{4C2FF8C4-18B2-591E-F13A-3CA44B470D87}"/>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9024" y="-171450"/>
            <a:ext cx="9162047" cy="5143500"/>
          </a:xfrm>
          <a:prstGeom prst="rect">
            <a:avLst/>
          </a:prstGeom>
          <a:noFill/>
          <a:ln>
            <a:noFill/>
          </a:ln>
        </p:spPr>
      </p:pic>
      <p:sp>
        <p:nvSpPr>
          <p:cNvPr id="7" name="Rectangle 6">
            <a:extLst>
              <a:ext uri="{FF2B5EF4-FFF2-40B4-BE49-F238E27FC236}">
                <a16:creationId xmlns:a16="http://schemas.microsoft.com/office/drawing/2014/main" id="{99C0D897-01DA-C4C0-5C94-0CDA4A8E1669}"/>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9219" name="Picture 7">
            <a:extLst>
              <a:ext uri="{FF2B5EF4-FFF2-40B4-BE49-F238E27FC236}">
                <a16:creationId xmlns:a16="http://schemas.microsoft.com/office/drawing/2014/main" id="{A5931A22-C2DC-E71C-9AAD-020C79DE6825}"/>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8">
            <a:extLst>
              <a:ext uri="{FF2B5EF4-FFF2-40B4-BE49-F238E27FC236}">
                <a16:creationId xmlns:a16="http://schemas.microsoft.com/office/drawing/2014/main" id="{878BF668-9200-829B-46A0-704DAE9E5504}"/>
              </a:ext>
            </a:extLst>
          </p:cNvPr>
          <p:cNvSpPr txBox="1">
            <a:spLocks noChangeArrowheads="1"/>
          </p:cNvSpPr>
          <p:nvPr/>
        </p:nvSpPr>
        <p:spPr bwMode="auto">
          <a:xfrm>
            <a:off x="0" y="1352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altLang="en-US" sz="2800" i="1" dirty="0">
                <a:solidFill>
                  <a:prstClr val="white"/>
                </a:solidFill>
              </a:rPr>
              <a:t>Listing of Functions</a:t>
            </a:r>
            <a:endPar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4" name="TextBox 9">
            <a:extLst>
              <a:ext uri="{FF2B5EF4-FFF2-40B4-BE49-F238E27FC236}">
                <a16:creationId xmlns:a16="http://schemas.microsoft.com/office/drawing/2014/main" id="{0B32C3C1-757E-6952-AFC8-6F446BCBB979}"/>
              </a:ext>
            </a:extLst>
          </p:cNvPr>
          <p:cNvSpPr txBox="1">
            <a:spLocks noChangeArrowheads="1"/>
          </p:cNvSpPr>
          <p:nvPr/>
        </p:nvSpPr>
        <p:spPr bwMode="auto">
          <a:xfrm>
            <a:off x="0" y="4695825"/>
            <a:ext cx="6781800" cy="6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defTabSz="914400" eaLnBrk="1" fontAlgn="auto" latinLnBrk="0" hangingPunct="1">
              <a:lnSpc>
                <a:spcPts val="2400"/>
              </a:lnSpc>
              <a:spcBef>
                <a:spcPts val="0"/>
              </a:spcBef>
              <a:spcAft>
                <a:spcPts val="0"/>
              </a:spcAft>
              <a:buClrTx/>
              <a:buSzTx/>
              <a:buFontTx/>
              <a:buNone/>
              <a:tabLst/>
              <a:defRPr/>
            </a:pPr>
            <a:fld id="{A057C3CF-FEF9-2D44-911E-86B89DEEE20D}" type="slidenum">
              <a:rPr kumimoji="0" lang="en-US" altLang="en-US" sz="800" b="1" i="0" u="none" strike="noStrike" kern="0" cap="none" spc="0" normalizeH="0" baseline="0" noProof="0">
                <a:ln>
                  <a:noFill/>
                </a:ln>
                <a:solidFill>
                  <a:prstClr val="white"/>
                </a:solidFill>
                <a:effectLst/>
                <a:uLnTx/>
                <a:uFillTx/>
                <a:latin typeface="Calibri" charset="0"/>
                <a:ea typeface="ＭＳ Ｐゴシック" charset="-128"/>
              </a:rPr>
              <a:pPr marL="0" marR="0" lvl="0" indent="0" defTabSz="914400" eaLnBrk="1" fontAlgn="auto" latinLnBrk="0" hangingPunct="1">
                <a:lnSpc>
                  <a:spcPts val="2400"/>
                </a:lnSpc>
                <a:spcBef>
                  <a:spcPts val="0"/>
                </a:spcBef>
                <a:spcAft>
                  <a:spcPts val="0"/>
                </a:spcAft>
                <a:buClrTx/>
                <a:buSzTx/>
                <a:buFontTx/>
                <a:buNone/>
                <a:tabLst/>
                <a:defRPr/>
              </a:pPr>
              <a:t>14</a:t>
            </a:fld>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a:t>
            </a:r>
            <a:r>
              <a:rPr kumimoji="0" lang="en-US" altLang="en-US" sz="800" b="0" i="0" u="none" strike="noStrike" kern="0" cap="none" spc="0" normalizeH="0" baseline="0" noProof="0" dirty="0">
                <a:ln>
                  <a:noFill/>
                </a:ln>
                <a:solidFill>
                  <a:prstClr val="white"/>
                </a:solidFill>
                <a:effectLst/>
                <a:uLnTx/>
                <a:uFillTx/>
                <a:latin typeface="Calibri" charset="0"/>
                <a:ea typeface="ＭＳ Ｐゴシック" charset="-128"/>
              </a:rPr>
              <a:t>|</a:t>
            </a:r>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COMS W4111_002_2025_1 -  Lecture 5: ER(4), Relational(4), SQL(4)			© Donald F. Ferguson, 2025</a:t>
            </a:r>
            <a:endParaRPr kumimoji="0" lang="en-US" altLang="en-US" sz="800" b="0" i="1" u="none" strike="noStrike" kern="0" cap="none" spc="0" normalizeH="0" baseline="0" noProof="0" dirty="0">
              <a:ln>
                <a:noFill/>
              </a:ln>
              <a:solidFill>
                <a:prstClr val="white"/>
              </a:solidFill>
              <a:effectLst/>
              <a:uLnTx/>
              <a:uFillTx/>
              <a:latin typeface="Calibri" charset="0"/>
              <a:ea typeface="ＭＳ Ｐゴシック" charset="-128"/>
            </a:endParaRPr>
          </a:p>
        </p:txBody>
      </p:sp>
    </p:spTree>
    <p:extLst>
      <p:ext uri="{BB962C8B-B14F-4D97-AF65-F5344CB8AC3E}">
        <p14:creationId xmlns:p14="http://schemas.microsoft.com/office/powerpoint/2010/main" val="1623325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456B47-D424-6F44-C2B8-BA7B6ADF529B}"/>
              </a:ext>
            </a:extLst>
          </p:cNvPr>
          <p:cNvSpPr>
            <a:spLocks noGrp="1"/>
          </p:cNvSpPr>
          <p:nvPr>
            <p:ph type="title"/>
          </p:nvPr>
        </p:nvSpPr>
        <p:spPr/>
        <p:txBody>
          <a:bodyPr/>
          <a:lstStyle/>
          <a:p>
            <a:r>
              <a:rPr lang="en-US" dirty="0"/>
              <a:t>Functions</a:t>
            </a:r>
          </a:p>
        </p:txBody>
      </p:sp>
      <p:pic>
        <p:nvPicPr>
          <p:cNvPr id="4" name="Picture 3">
            <a:extLst>
              <a:ext uri="{FF2B5EF4-FFF2-40B4-BE49-F238E27FC236}">
                <a16:creationId xmlns:a16="http://schemas.microsoft.com/office/drawing/2014/main" id="{40BE2C8C-8265-DEAE-C43A-FEAA4CBD13E2}"/>
              </a:ext>
            </a:extLst>
          </p:cNvPr>
          <p:cNvPicPr>
            <a:picLocks noChangeAspect="1"/>
          </p:cNvPicPr>
          <p:nvPr/>
        </p:nvPicPr>
        <p:blipFill>
          <a:blip/>
          <a:stretch>
            <a:fillRect/>
          </a:stretch>
        </p:blipFill>
        <p:spPr>
          <a:xfrm>
            <a:off x="990600" y="461432"/>
            <a:ext cx="6477000" cy="4233139"/>
          </a:xfrm>
          <a:prstGeom prst="rect">
            <a:avLst/>
          </a:prstGeom>
        </p:spPr>
      </p:pic>
    </p:spTree>
    <p:extLst>
      <p:ext uri="{BB962C8B-B14F-4D97-AF65-F5344CB8AC3E}">
        <p14:creationId xmlns:p14="http://schemas.microsoft.com/office/powerpoint/2010/main" val="2348681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2DE982-1302-C4CF-4A03-8D9C05EEEBF6}"/>
              </a:ext>
            </a:extLst>
          </p:cNvPr>
          <p:cNvSpPr>
            <a:spLocks noGrp="1"/>
          </p:cNvSpPr>
          <p:nvPr>
            <p:ph type="title"/>
          </p:nvPr>
        </p:nvSpPr>
        <p:spPr/>
        <p:txBody>
          <a:bodyPr/>
          <a:lstStyle/>
          <a:p>
            <a:r>
              <a:rPr lang="en-US" dirty="0"/>
              <a:t>Functions</a:t>
            </a:r>
          </a:p>
        </p:txBody>
      </p:sp>
      <p:pic>
        <p:nvPicPr>
          <p:cNvPr id="1026" name="Picture 2">
            <a:extLst>
              <a:ext uri="{FF2B5EF4-FFF2-40B4-BE49-F238E27FC236}">
                <a16:creationId xmlns:a16="http://schemas.microsoft.com/office/drawing/2014/main" id="{2A5B0187-51A4-7746-AF38-D5542C234ED0}"/>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057400" y="57150"/>
            <a:ext cx="6400800" cy="4524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149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C5222-1520-7C9B-7361-D6C12C7C3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E032BB-B6A1-DE46-E269-BC674D838B69}"/>
              </a:ext>
            </a:extLst>
          </p:cNvPr>
          <p:cNvSpPr>
            <a:spLocks noGrp="1"/>
          </p:cNvSpPr>
          <p:nvPr>
            <p:ph type="title"/>
          </p:nvPr>
        </p:nvSpPr>
        <p:spPr/>
        <p:txBody>
          <a:bodyPr/>
          <a:lstStyle/>
          <a:p>
            <a:r>
              <a:rPr lang="en-US" dirty="0"/>
              <a:t>Functions</a:t>
            </a:r>
          </a:p>
        </p:txBody>
      </p:sp>
      <p:pic>
        <p:nvPicPr>
          <p:cNvPr id="2" name="Picture 1">
            <a:extLst>
              <a:ext uri="{FF2B5EF4-FFF2-40B4-BE49-F238E27FC236}">
                <a16:creationId xmlns:a16="http://schemas.microsoft.com/office/drawing/2014/main" id="{E657E561-E7BE-9965-ACC2-C268140D3679}"/>
              </a:ext>
            </a:extLst>
          </p:cNvPr>
          <p:cNvPicPr>
            <a:picLocks noChangeAspect="1"/>
          </p:cNvPicPr>
          <p:nvPr/>
        </p:nvPicPr>
        <p:blipFill>
          <a:blip/>
          <a:stretch>
            <a:fillRect/>
          </a:stretch>
        </p:blipFill>
        <p:spPr>
          <a:xfrm>
            <a:off x="2031761" y="133350"/>
            <a:ext cx="6808730" cy="4438151"/>
          </a:xfrm>
          <a:prstGeom prst="rect">
            <a:avLst/>
          </a:prstGeom>
        </p:spPr>
      </p:pic>
    </p:spTree>
    <p:extLst>
      <p:ext uri="{BB962C8B-B14F-4D97-AF65-F5344CB8AC3E}">
        <p14:creationId xmlns:p14="http://schemas.microsoft.com/office/powerpoint/2010/main" val="2260983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987A25-F1BE-BC72-D60A-08D3D534C4F8}"/>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E07D0FEF-ACD9-99AC-905D-79B4F92EEE29}"/>
              </a:ext>
            </a:extLst>
          </p:cNvPr>
          <p:cNvSpPr>
            <a:spLocks noGrp="1"/>
          </p:cNvSpPr>
          <p:nvPr>
            <p:ph type="title"/>
          </p:nvPr>
        </p:nvSpPr>
        <p:spPr/>
        <p:txBody>
          <a:bodyPr/>
          <a:lstStyle/>
          <a:p>
            <a:r>
              <a:rPr lang="en-US" dirty="0"/>
              <a:t>Functions</a:t>
            </a:r>
          </a:p>
        </p:txBody>
      </p:sp>
    </p:spTree>
    <p:extLst>
      <p:ext uri="{BB962C8B-B14F-4D97-AF65-F5344CB8AC3E}">
        <p14:creationId xmlns:p14="http://schemas.microsoft.com/office/powerpoint/2010/main" val="1763772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0DE4D-DB5C-79B8-3471-27A81E5174C7}"/>
            </a:ext>
          </a:extLst>
        </p:cNvPr>
        <p:cNvGrpSpPr/>
        <p:nvPr/>
      </p:nvGrpSpPr>
      <p:grpSpPr>
        <a:xfrm>
          <a:off x="0" y="0"/>
          <a:ext cx="0" cy="0"/>
          <a:chOff x="0" y="0"/>
          <a:chExt cx="0" cy="0"/>
        </a:xfrm>
      </p:grpSpPr>
      <p:pic>
        <p:nvPicPr>
          <p:cNvPr id="9217" name="Picture 1" descr="16x9_grey.jpg">
            <a:extLst>
              <a:ext uri="{FF2B5EF4-FFF2-40B4-BE49-F238E27FC236}">
                <a16:creationId xmlns:a16="http://schemas.microsoft.com/office/drawing/2014/main" id="{AC0D9593-859C-BE83-9F5C-EA8127D1B61F}"/>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9024" y="-171450"/>
            <a:ext cx="9162047" cy="5143500"/>
          </a:xfrm>
          <a:prstGeom prst="rect">
            <a:avLst/>
          </a:prstGeom>
          <a:noFill/>
          <a:ln>
            <a:noFill/>
          </a:ln>
        </p:spPr>
      </p:pic>
      <p:sp>
        <p:nvSpPr>
          <p:cNvPr id="7" name="Rectangle 6">
            <a:extLst>
              <a:ext uri="{FF2B5EF4-FFF2-40B4-BE49-F238E27FC236}">
                <a16:creationId xmlns:a16="http://schemas.microsoft.com/office/drawing/2014/main" id="{9373EA18-BC73-5ABF-B1F7-247C15FE3064}"/>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9219" name="Picture 7">
            <a:extLst>
              <a:ext uri="{FF2B5EF4-FFF2-40B4-BE49-F238E27FC236}">
                <a16:creationId xmlns:a16="http://schemas.microsoft.com/office/drawing/2014/main" id="{391F29CF-3FAB-9AD3-22FF-A1A6EE44096B}"/>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8">
            <a:extLst>
              <a:ext uri="{FF2B5EF4-FFF2-40B4-BE49-F238E27FC236}">
                <a16:creationId xmlns:a16="http://schemas.microsoft.com/office/drawing/2014/main" id="{FB2C31C0-0E46-9ED6-7CE0-766F6A52E522}"/>
              </a:ext>
            </a:extLst>
          </p:cNvPr>
          <p:cNvSpPr txBox="1">
            <a:spLocks noChangeArrowheads="1"/>
          </p:cNvSpPr>
          <p:nvPr/>
        </p:nvSpPr>
        <p:spPr bwMode="auto">
          <a:xfrm>
            <a:off x="0" y="1352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rPr>
              <a:t>Indexes</a:t>
            </a:r>
          </a:p>
        </p:txBody>
      </p:sp>
      <p:sp>
        <p:nvSpPr>
          <p:cNvPr id="4" name="TextBox 9">
            <a:extLst>
              <a:ext uri="{FF2B5EF4-FFF2-40B4-BE49-F238E27FC236}">
                <a16:creationId xmlns:a16="http://schemas.microsoft.com/office/drawing/2014/main" id="{FE34F9B8-FD04-8AD3-09D1-948CE53F9469}"/>
              </a:ext>
            </a:extLst>
          </p:cNvPr>
          <p:cNvSpPr txBox="1">
            <a:spLocks noChangeArrowheads="1"/>
          </p:cNvSpPr>
          <p:nvPr/>
        </p:nvSpPr>
        <p:spPr bwMode="auto">
          <a:xfrm>
            <a:off x="0" y="4695825"/>
            <a:ext cx="6781800" cy="6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defTabSz="914400" eaLnBrk="1" fontAlgn="auto" latinLnBrk="0" hangingPunct="1">
              <a:lnSpc>
                <a:spcPts val="2400"/>
              </a:lnSpc>
              <a:spcBef>
                <a:spcPts val="0"/>
              </a:spcBef>
              <a:spcAft>
                <a:spcPts val="0"/>
              </a:spcAft>
              <a:buClrTx/>
              <a:buSzTx/>
              <a:buFontTx/>
              <a:buNone/>
              <a:tabLst/>
              <a:defRPr/>
            </a:pPr>
            <a:fld id="{A057C3CF-FEF9-2D44-911E-86B89DEEE20D}" type="slidenum">
              <a:rPr kumimoji="0" lang="en-US" altLang="en-US" sz="800" b="1" i="0" u="none" strike="noStrike" kern="0" cap="none" spc="0" normalizeH="0" baseline="0" noProof="0">
                <a:ln>
                  <a:noFill/>
                </a:ln>
                <a:solidFill>
                  <a:prstClr val="white"/>
                </a:solidFill>
                <a:effectLst/>
                <a:uLnTx/>
                <a:uFillTx/>
                <a:latin typeface="Calibri" charset="0"/>
                <a:ea typeface="ＭＳ Ｐゴシック" charset="-128"/>
              </a:rPr>
              <a:pPr marL="0" marR="0" lvl="0" indent="0" defTabSz="914400" eaLnBrk="1" fontAlgn="auto" latinLnBrk="0" hangingPunct="1">
                <a:lnSpc>
                  <a:spcPts val="2400"/>
                </a:lnSpc>
                <a:spcBef>
                  <a:spcPts val="0"/>
                </a:spcBef>
                <a:spcAft>
                  <a:spcPts val="0"/>
                </a:spcAft>
                <a:buClrTx/>
                <a:buSzTx/>
                <a:buFontTx/>
                <a:buNone/>
                <a:tabLst/>
                <a:defRPr/>
              </a:pPr>
              <a:t>19</a:t>
            </a:fld>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a:t>
            </a:r>
            <a:r>
              <a:rPr kumimoji="0" lang="en-US" altLang="en-US" sz="800" b="0" i="0" u="none" strike="noStrike" kern="0" cap="none" spc="0" normalizeH="0" baseline="0" noProof="0" dirty="0">
                <a:ln>
                  <a:noFill/>
                </a:ln>
                <a:solidFill>
                  <a:prstClr val="white"/>
                </a:solidFill>
                <a:effectLst/>
                <a:uLnTx/>
                <a:uFillTx/>
                <a:latin typeface="Calibri" charset="0"/>
                <a:ea typeface="ＭＳ Ｐゴシック" charset="-128"/>
              </a:rPr>
              <a:t>|</a:t>
            </a:r>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COMS W4111_002_2025_1 -  Lecture 5: ER(4), Relational(4), SQL(4)			© Donald F. Ferguson, 2025</a:t>
            </a:r>
            <a:endParaRPr kumimoji="0" lang="en-US" altLang="en-US" sz="800" b="0" i="1" u="none" strike="noStrike" kern="0" cap="none" spc="0" normalizeH="0" baseline="0" noProof="0" dirty="0">
              <a:ln>
                <a:noFill/>
              </a:ln>
              <a:solidFill>
                <a:prstClr val="white"/>
              </a:solidFill>
              <a:effectLst/>
              <a:uLnTx/>
              <a:uFillTx/>
              <a:latin typeface="Calibri" charset="0"/>
              <a:ea typeface="ＭＳ Ｐゴシック" charset="-128"/>
            </a:endParaRPr>
          </a:p>
        </p:txBody>
      </p:sp>
    </p:spTree>
    <p:extLst>
      <p:ext uri="{BB962C8B-B14F-4D97-AF65-F5344CB8AC3E}">
        <p14:creationId xmlns:p14="http://schemas.microsoft.com/office/powerpoint/2010/main" val="3706359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idx="1"/>
          </p:nvPr>
        </p:nvSpPr>
        <p:spPr/>
        <p:txBody>
          <a:bodyPr/>
          <a:lstStyle/>
          <a:p>
            <a:r>
              <a:rPr lang="en-US" altLang="en-US" dirty="0"/>
              <a:t>Many queries reference only a small proportion of the records in a table. </a:t>
            </a:r>
          </a:p>
          <a:p>
            <a:r>
              <a:rPr lang="en-US" altLang="en-US" dirty="0"/>
              <a:t>It is inefficient for the system to read every record to find  a record with  particular value</a:t>
            </a:r>
          </a:p>
          <a:p>
            <a:r>
              <a:rPr lang="en-US" altLang="en-US" dirty="0"/>
              <a:t>An </a:t>
            </a:r>
            <a:r>
              <a:rPr lang="en-US" altLang="en-US" b="1" dirty="0">
                <a:solidFill>
                  <a:srgbClr val="002060"/>
                </a:solidFill>
              </a:rPr>
              <a:t>index</a:t>
            </a:r>
            <a:r>
              <a:rPr lang="en-US" altLang="en-US" dirty="0"/>
              <a:t> on an attribute of a relation is a data structure that allows the database system to find those tuples in the relation that have a specified value for that attribute efficiently, without scanning through all the tuples of the relation.</a:t>
            </a:r>
          </a:p>
          <a:p>
            <a:r>
              <a:rPr lang="en-US" altLang="en-US" dirty="0"/>
              <a:t>We create an index with the </a:t>
            </a:r>
            <a:r>
              <a:rPr lang="en-US" altLang="en-US" b="1" dirty="0"/>
              <a:t>create index </a:t>
            </a:r>
            <a:r>
              <a:rPr lang="en-US" altLang="en-US" dirty="0"/>
              <a:t>command</a:t>
            </a:r>
          </a:p>
          <a:p>
            <a:pPr>
              <a:buNone/>
            </a:pPr>
            <a:r>
              <a:rPr lang="en-US" altLang="en-US" dirty="0"/>
              <a:t>         </a:t>
            </a:r>
            <a:r>
              <a:rPr lang="en-US" altLang="en-US" b="1" dirty="0"/>
              <a:t>create index </a:t>
            </a:r>
            <a:r>
              <a:rPr lang="en-US" altLang="en-US" dirty="0"/>
              <a:t>&lt;name&gt; </a:t>
            </a:r>
            <a:r>
              <a:rPr lang="en-US" altLang="en-US" b="1" dirty="0"/>
              <a:t>on </a:t>
            </a:r>
            <a:r>
              <a:rPr lang="en-US" altLang="en-US" dirty="0"/>
              <a:t>&lt;relation-name&gt; (attribute);</a:t>
            </a:r>
          </a:p>
        </p:txBody>
      </p:sp>
      <p:sp>
        <p:nvSpPr>
          <p:cNvPr id="4177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Index Creation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Index Creation Example</a:t>
            </a:r>
          </a:p>
        </p:txBody>
      </p:sp>
      <p:sp>
        <p:nvSpPr>
          <p:cNvPr id="72707" name="Rectangle 3"/>
          <p:cNvSpPr>
            <a:spLocks noGrp="1" noChangeArrowheads="1"/>
          </p:cNvSpPr>
          <p:nvPr>
            <p:ph type="body" idx="1"/>
          </p:nvPr>
        </p:nvSpPr>
        <p:spPr>
          <a:xfrm>
            <a:off x="1719263" y="820342"/>
            <a:ext cx="5623370" cy="3422475"/>
          </a:xfrm>
        </p:spPr>
        <p:txBody>
          <a:bodyPr/>
          <a:lstStyle/>
          <a:p>
            <a:r>
              <a:rPr lang="en-US" altLang="en-US" b="1" dirty="0"/>
              <a:t>create table </a:t>
            </a:r>
            <a:r>
              <a:rPr lang="en-US" altLang="en-US" i="1" dirty="0"/>
              <a:t>student	</a:t>
            </a:r>
            <a:br>
              <a:rPr lang="en-US" altLang="en-US" i="1" dirty="0"/>
            </a:br>
            <a:r>
              <a:rPr lang="en-US" altLang="en-US" dirty="0"/>
              <a:t>(</a:t>
            </a:r>
            <a:r>
              <a:rPr lang="en-US" altLang="en-US" i="1" dirty="0"/>
              <a:t>ID </a:t>
            </a:r>
            <a:r>
              <a:rPr lang="en-US" altLang="en-US" b="1" dirty="0" err="1"/>
              <a:t>varchar</a:t>
            </a:r>
            <a:r>
              <a:rPr lang="en-US" altLang="en-US" b="1" dirty="0"/>
              <a:t> </a:t>
            </a:r>
            <a:r>
              <a:rPr lang="en-US" altLang="en-US" dirty="0"/>
              <a:t>(5),</a:t>
            </a:r>
            <a:br>
              <a:rPr lang="en-US" altLang="en-US" dirty="0"/>
            </a:br>
            <a:r>
              <a:rPr lang="en-US" altLang="en-US" i="1" dirty="0"/>
              <a:t>name </a:t>
            </a:r>
            <a:r>
              <a:rPr lang="en-US" altLang="en-US" b="1" dirty="0" err="1"/>
              <a:t>varchar</a:t>
            </a:r>
            <a:r>
              <a:rPr lang="en-US" altLang="en-US" b="1" dirty="0"/>
              <a:t> </a:t>
            </a:r>
            <a:r>
              <a:rPr lang="en-US" altLang="en-US" dirty="0"/>
              <a:t>(20) </a:t>
            </a:r>
            <a:r>
              <a:rPr lang="en-US" altLang="en-US" b="1" dirty="0"/>
              <a:t>not null</a:t>
            </a:r>
            <a:r>
              <a:rPr lang="en-US" altLang="en-US" dirty="0"/>
              <a:t>,</a:t>
            </a:r>
            <a:br>
              <a:rPr lang="en-US" altLang="en-US" dirty="0"/>
            </a:br>
            <a:r>
              <a:rPr lang="en-US" altLang="en-US" i="1" dirty="0"/>
              <a:t>dept_name </a:t>
            </a:r>
            <a:r>
              <a:rPr lang="en-US" altLang="en-US" b="1" dirty="0" err="1"/>
              <a:t>varchar</a:t>
            </a:r>
            <a:r>
              <a:rPr lang="en-US" altLang="en-US" b="1" dirty="0"/>
              <a:t> </a:t>
            </a:r>
            <a:r>
              <a:rPr lang="en-US" altLang="en-US" dirty="0"/>
              <a:t>(20),</a:t>
            </a:r>
            <a:br>
              <a:rPr lang="en-US" altLang="en-US" dirty="0"/>
            </a:br>
            <a:r>
              <a:rPr lang="en-US" altLang="en-US" i="1" dirty="0"/>
              <a:t>tot_cred </a:t>
            </a:r>
            <a:r>
              <a:rPr lang="en-US" altLang="en-US" b="1" dirty="0"/>
              <a:t>numeric </a:t>
            </a:r>
            <a:r>
              <a:rPr lang="en-US" altLang="en-US" dirty="0"/>
              <a:t>(3,0) </a:t>
            </a:r>
            <a:r>
              <a:rPr lang="en-US" altLang="en-US" b="1" dirty="0"/>
              <a:t>default </a:t>
            </a:r>
            <a:r>
              <a:rPr lang="en-US" altLang="en-US" dirty="0"/>
              <a:t>0,</a:t>
            </a:r>
            <a:br>
              <a:rPr lang="en-US" altLang="en-US" dirty="0"/>
            </a:br>
            <a:r>
              <a:rPr lang="en-US" altLang="en-US" b="1" dirty="0"/>
              <a:t>primary key </a:t>
            </a:r>
            <a:r>
              <a:rPr lang="en-US" altLang="en-US" dirty="0"/>
              <a:t>(</a:t>
            </a:r>
            <a:r>
              <a:rPr lang="en-US" altLang="en-US" i="1" dirty="0"/>
              <a:t>ID</a:t>
            </a:r>
            <a:r>
              <a:rPr lang="en-US" altLang="en-US" dirty="0"/>
              <a:t>))</a:t>
            </a:r>
          </a:p>
          <a:p>
            <a:r>
              <a:rPr lang="en-US" altLang="en-US" b="1" dirty="0"/>
              <a:t>create index </a:t>
            </a:r>
            <a:r>
              <a:rPr lang="en-US" altLang="en-US" i="1" dirty="0" err="1"/>
              <a:t>studentID_index</a:t>
            </a:r>
            <a:r>
              <a:rPr lang="en-US" altLang="en-US" i="1" dirty="0"/>
              <a:t> </a:t>
            </a:r>
            <a:r>
              <a:rPr lang="en-US" altLang="en-US" b="1" dirty="0"/>
              <a:t>on </a:t>
            </a:r>
            <a:r>
              <a:rPr lang="en-US" altLang="en-US" i="1" dirty="0"/>
              <a:t>student</a:t>
            </a:r>
            <a:r>
              <a:rPr lang="en-US" altLang="en-US" dirty="0"/>
              <a:t>(</a:t>
            </a:r>
            <a:r>
              <a:rPr lang="en-US" altLang="en-US" i="1" dirty="0"/>
              <a:t>ID</a:t>
            </a:r>
            <a:r>
              <a:rPr lang="en-US" altLang="en-US" dirty="0"/>
              <a:t>)</a:t>
            </a:r>
          </a:p>
          <a:p>
            <a:r>
              <a:rPr lang="en-US" altLang="en-US" dirty="0"/>
              <a:t>The query:</a:t>
            </a:r>
          </a:p>
          <a:p>
            <a:pPr>
              <a:buNone/>
            </a:pPr>
            <a:r>
              <a:rPr lang="en-US" altLang="en-US" b="1" dirty="0"/>
              <a:t>            select * </a:t>
            </a:r>
            <a:br>
              <a:rPr lang="en-US" altLang="en-US" b="1" dirty="0"/>
            </a:br>
            <a:r>
              <a:rPr lang="en-US" altLang="en-US" b="1" dirty="0"/>
              <a:t>       from </a:t>
            </a:r>
            <a:r>
              <a:rPr lang="en-US" altLang="en-US" dirty="0"/>
              <a:t> </a:t>
            </a:r>
            <a:r>
              <a:rPr lang="en-US" altLang="en-US" i="1" dirty="0"/>
              <a:t>student</a:t>
            </a:r>
            <a:br>
              <a:rPr lang="en-US" altLang="en-US" i="1" dirty="0"/>
            </a:br>
            <a:r>
              <a:rPr lang="en-US" altLang="en-US" i="1" dirty="0"/>
              <a:t>       </a:t>
            </a:r>
            <a:r>
              <a:rPr lang="en-US" altLang="en-US" b="1" dirty="0"/>
              <a:t>where </a:t>
            </a:r>
            <a:r>
              <a:rPr lang="en-US" altLang="en-US" i="1" dirty="0"/>
              <a:t> ID = </a:t>
            </a:r>
            <a:r>
              <a:rPr lang="en-US" altLang="en-US" dirty="0"/>
              <a:t>'12345'</a:t>
            </a:r>
          </a:p>
          <a:p>
            <a:pPr>
              <a:buNone/>
            </a:pPr>
            <a:r>
              <a:rPr lang="en-US" altLang="en-US" dirty="0"/>
              <a:t>     can be executed by using the index to find the required record,  without looking at all records of </a:t>
            </a:r>
            <a:r>
              <a:rPr lang="en-US" altLang="en-US" i="1" dirty="0"/>
              <a:t>student</a:t>
            </a:r>
            <a:endParaRPr lang="en-US" altLang="en-US" dirty="0"/>
          </a:p>
        </p:txBody>
      </p:sp>
      <p:sp>
        <p:nvSpPr>
          <p:cNvPr id="2" name="TextBox 1">
            <a:extLst>
              <a:ext uri="{FF2B5EF4-FFF2-40B4-BE49-F238E27FC236}">
                <a16:creationId xmlns:a16="http://schemas.microsoft.com/office/drawing/2014/main" id="{EDFF4D97-4A87-F4DB-FEEF-A51D1863DBF6}"/>
              </a:ext>
            </a:extLst>
          </p:cNvPr>
          <p:cNvSpPr txBox="1"/>
          <p:nvPr/>
        </p:nvSpPr>
        <p:spPr>
          <a:xfrm>
            <a:off x="304800" y="3581097"/>
            <a:ext cx="7994829" cy="1323439"/>
          </a:xfrm>
          <a:prstGeom prst="rect">
            <a:avLst/>
          </a:prstGeom>
          <a:noFill/>
        </p:spPr>
        <p:txBody>
          <a:bodyPr wrap="squar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charset="0"/>
                <a:ea typeface="ＭＳ Ｐゴシック" charset="-128"/>
                <a:cs typeface="+mn-cs"/>
              </a:rPr>
              <a:t>DFF:</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0000"/>
                </a:solidFill>
                <a:effectLst/>
                <a:uLnTx/>
                <a:uFillTx/>
                <a:latin typeface="Calibri" charset="0"/>
                <a:ea typeface="ＭＳ Ｐゴシック" charset="-128"/>
                <a:cs typeface="+mn-cs"/>
              </a:rPr>
              <a:t>An index on (column1, column2, column3)</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0000"/>
                </a:solidFill>
                <a:effectLst/>
                <a:uLnTx/>
                <a:uFillTx/>
                <a:latin typeface="Calibri" charset="0"/>
                <a:ea typeface="ＭＳ Ｐゴシック" charset="-128"/>
                <a:cs typeface="+mn-cs"/>
              </a:rPr>
              <a:t>Is also an index on (column1) and (column1, column2)</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0000"/>
                </a:solidFill>
                <a:effectLst/>
                <a:uLnTx/>
                <a:uFillTx/>
                <a:latin typeface="Calibri" charset="0"/>
                <a:ea typeface="ＭＳ Ｐゴシック" charset="-128"/>
                <a:cs typeface="+mn-cs"/>
              </a:rPr>
              <a:t>But not (column2), (column3), (column2, column3).</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FF0000"/>
                </a:solidFill>
                <a:effectLst/>
                <a:uLnTx/>
                <a:uFillTx/>
                <a:latin typeface="Calibri" charset="0"/>
                <a:ea typeface="ＭＳ Ｐゴシック" charset="-128"/>
                <a:cs typeface="+mn-cs"/>
              </a:rPr>
              <a:t>We will see “why” later in the semester.</a:t>
            </a:r>
          </a:p>
        </p:txBody>
      </p:sp>
      <p:sp>
        <p:nvSpPr>
          <p:cNvPr id="3" name="Rounded Rectangle 2">
            <a:extLst>
              <a:ext uri="{FF2B5EF4-FFF2-40B4-BE49-F238E27FC236}">
                <a16:creationId xmlns:a16="http://schemas.microsoft.com/office/drawing/2014/main" id="{FD426261-3273-1DBB-7A07-91CEDC821658}"/>
              </a:ext>
            </a:extLst>
          </p:cNvPr>
          <p:cNvSpPr/>
          <p:nvPr/>
        </p:nvSpPr>
        <p:spPr bwMode="auto">
          <a:xfrm>
            <a:off x="5943600" y="3790950"/>
            <a:ext cx="2438400" cy="9906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Helvetica" charset="0"/>
              </a:rPr>
              <a:t>Show performance in</a:t>
            </a:r>
            <a:br>
              <a:rPr kumimoji="0" lang="en-US" sz="1600" b="0" i="0" u="none" strike="noStrike" cap="none" normalizeH="0" baseline="0" dirty="0">
                <a:ln>
                  <a:noFill/>
                </a:ln>
                <a:solidFill>
                  <a:schemeClr val="tx1"/>
                </a:solidFill>
                <a:effectLst/>
                <a:latin typeface="Helvetica" charset="0"/>
              </a:rPr>
            </a:br>
            <a:r>
              <a:rPr kumimoji="0" lang="en-US" sz="1600" b="0" i="0" u="none" strike="noStrike" cap="none" normalizeH="0" baseline="0" dirty="0">
                <a:ln>
                  <a:noFill/>
                </a:ln>
                <a:solidFill>
                  <a:schemeClr val="tx1"/>
                </a:solidFill>
                <a:effectLst/>
                <a:latin typeface="Helvetica" charset="0"/>
              </a:rPr>
              <a:t>Notebook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02394-2CE0-41CD-EAF9-0E0BBFA5AAE0}"/>
            </a:ext>
          </a:extLst>
        </p:cNvPr>
        <p:cNvGrpSpPr/>
        <p:nvPr/>
      </p:nvGrpSpPr>
      <p:grpSpPr>
        <a:xfrm>
          <a:off x="0" y="0"/>
          <a:ext cx="0" cy="0"/>
          <a:chOff x="0" y="0"/>
          <a:chExt cx="0" cy="0"/>
        </a:xfrm>
      </p:grpSpPr>
      <p:pic>
        <p:nvPicPr>
          <p:cNvPr id="9217" name="Picture 1" descr="16x9_grey.jpg">
            <a:extLst>
              <a:ext uri="{FF2B5EF4-FFF2-40B4-BE49-F238E27FC236}">
                <a16:creationId xmlns:a16="http://schemas.microsoft.com/office/drawing/2014/main" id="{E25E18BC-4934-F1C7-313B-365A87288400}"/>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9024" y="-171450"/>
            <a:ext cx="9162047" cy="5143500"/>
          </a:xfrm>
          <a:prstGeom prst="rect">
            <a:avLst/>
          </a:prstGeom>
          <a:noFill/>
          <a:ln>
            <a:noFill/>
          </a:ln>
        </p:spPr>
      </p:pic>
      <p:sp>
        <p:nvSpPr>
          <p:cNvPr id="7" name="Rectangle 6">
            <a:extLst>
              <a:ext uri="{FF2B5EF4-FFF2-40B4-BE49-F238E27FC236}">
                <a16:creationId xmlns:a16="http://schemas.microsoft.com/office/drawing/2014/main" id="{6C847B9D-18DE-B34F-6672-EF5DBB094038}"/>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9219" name="Picture 7">
            <a:extLst>
              <a:ext uri="{FF2B5EF4-FFF2-40B4-BE49-F238E27FC236}">
                <a16:creationId xmlns:a16="http://schemas.microsoft.com/office/drawing/2014/main" id="{4E85DB4A-F714-CD7C-95F3-853D190B1575}"/>
              </a:ext>
            </a:extLst>
          </p:cNvPr>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8">
            <a:extLst>
              <a:ext uri="{FF2B5EF4-FFF2-40B4-BE49-F238E27FC236}">
                <a16:creationId xmlns:a16="http://schemas.microsoft.com/office/drawing/2014/main" id="{64DFDED1-B586-906E-91CF-6B9A91F2B2A5}"/>
              </a:ext>
            </a:extLst>
          </p:cNvPr>
          <p:cNvSpPr txBox="1">
            <a:spLocks noChangeArrowheads="1"/>
          </p:cNvSpPr>
          <p:nvPr/>
        </p:nvSpPr>
        <p:spPr bwMode="auto">
          <a:xfrm>
            <a:off x="0" y="1352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rPr>
              <a:t>Recursion, Windows Functions</a:t>
            </a:r>
          </a:p>
        </p:txBody>
      </p:sp>
      <p:sp>
        <p:nvSpPr>
          <p:cNvPr id="4" name="TextBox 9">
            <a:extLst>
              <a:ext uri="{FF2B5EF4-FFF2-40B4-BE49-F238E27FC236}">
                <a16:creationId xmlns:a16="http://schemas.microsoft.com/office/drawing/2014/main" id="{DCF7B901-5439-86E0-899E-8A72AE5B8CEE}"/>
              </a:ext>
            </a:extLst>
          </p:cNvPr>
          <p:cNvSpPr txBox="1">
            <a:spLocks noChangeArrowheads="1"/>
          </p:cNvSpPr>
          <p:nvPr/>
        </p:nvSpPr>
        <p:spPr bwMode="auto">
          <a:xfrm>
            <a:off x="0" y="4695825"/>
            <a:ext cx="6781800" cy="6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defTabSz="914400" eaLnBrk="1" fontAlgn="auto" latinLnBrk="0" hangingPunct="1">
              <a:lnSpc>
                <a:spcPts val="2400"/>
              </a:lnSpc>
              <a:spcBef>
                <a:spcPts val="0"/>
              </a:spcBef>
              <a:spcAft>
                <a:spcPts val="0"/>
              </a:spcAft>
              <a:buClrTx/>
              <a:buSzTx/>
              <a:buFontTx/>
              <a:buNone/>
              <a:tabLst/>
              <a:defRPr/>
            </a:pPr>
            <a:fld id="{A057C3CF-FEF9-2D44-911E-86B89DEEE20D}" type="slidenum">
              <a:rPr kumimoji="0" lang="en-US" altLang="en-US" sz="800" b="1" i="0" u="none" strike="noStrike" kern="0" cap="none" spc="0" normalizeH="0" baseline="0" noProof="0">
                <a:ln>
                  <a:noFill/>
                </a:ln>
                <a:solidFill>
                  <a:prstClr val="white"/>
                </a:solidFill>
                <a:effectLst/>
                <a:uLnTx/>
                <a:uFillTx/>
                <a:latin typeface="Calibri" charset="0"/>
                <a:ea typeface="ＭＳ Ｐゴシック" charset="-128"/>
              </a:rPr>
              <a:pPr marL="0" marR="0" lvl="0" indent="0" defTabSz="914400" eaLnBrk="1" fontAlgn="auto" latinLnBrk="0" hangingPunct="1">
                <a:lnSpc>
                  <a:spcPts val="2400"/>
                </a:lnSpc>
                <a:spcBef>
                  <a:spcPts val="0"/>
                </a:spcBef>
                <a:spcAft>
                  <a:spcPts val="0"/>
                </a:spcAft>
                <a:buClrTx/>
                <a:buSzTx/>
                <a:buFontTx/>
                <a:buNone/>
                <a:tabLst/>
                <a:defRPr/>
              </a:pPr>
              <a:t>22</a:t>
            </a:fld>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a:t>
            </a:r>
            <a:r>
              <a:rPr kumimoji="0" lang="en-US" altLang="en-US" sz="800" b="0" i="0" u="none" strike="noStrike" kern="0" cap="none" spc="0" normalizeH="0" baseline="0" noProof="0" dirty="0">
                <a:ln>
                  <a:noFill/>
                </a:ln>
                <a:solidFill>
                  <a:prstClr val="white"/>
                </a:solidFill>
                <a:effectLst/>
                <a:uLnTx/>
                <a:uFillTx/>
                <a:latin typeface="Calibri" charset="0"/>
                <a:ea typeface="ＭＳ Ｐゴシック" charset="-128"/>
              </a:rPr>
              <a:t>|</a:t>
            </a:r>
            <a:r>
              <a:rPr kumimoji="0" lang="en-US" altLang="en-US" sz="800" b="1" i="0" u="none" strike="noStrike" kern="0" cap="none" spc="0" normalizeH="0" baseline="0" noProof="0" dirty="0">
                <a:ln>
                  <a:noFill/>
                </a:ln>
                <a:solidFill>
                  <a:prstClr val="white"/>
                </a:solidFill>
                <a:effectLst/>
                <a:uLnTx/>
                <a:uFillTx/>
                <a:latin typeface="Calibri" charset="0"/>
                <a:ea typeface="ＭＳ Ｐゴシック" charset="-128"/>
              </a:rPr>
              <a:t> COMS W4111_002_2025_1 -  Lecture 5: ER(4), Relational(4), SQL(4)			© Donald F. Ferguson, 2025</a:t>
            </a:r>
            <a:endParaRPr kumimoji="0" lang="en-US" altLang="en-US" sz="800" b="0" i="1" u="none" strike="noStrike" kern="0" cap="none" spc="0" normalizeH="0" baseline="0" noProof="0" dirty="0">
              <a:ln>
                <a:noFill/>
              </a:ln>
              <a:solidFill>
                <a:prstClr val="white"/>
              </a:solidFill>
              <a:effectLst/>
              <a:uLnTx/>
              <a:uFillTx/>
              <a:latin typeface="Calibri" charset="0"/>
              <a:ea typeface="ＭＳ Ｐゴシック" charset="-128"/>
            </a:endParaRPr>
          </a:p>
        </p:txBody>
      </p:sp>
    </p:spTree>
    <p:extLst>
      <p:ext uri="{BB962C8B-B14F-4D97-AF65-F5344CB8AC3E}">
        <p14:creationId xmlns:p14="http://schemas.microsoft.com/office/powerpoint/2010/main" val="337835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1" descr="16x9_BG-08.jpg"/>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E6B9B8"/>
              </a:solidFill>
              <a:effectLst/>
              <a:uLnTx/>
              <a:uFillTx/>
              <a:latin typeface="Calibri" charset="0"/>
              <a:ea typeface="ＭＳ Ｐゴシック" charset="-128"/>
              <a:cs typeface="+mn-cs"/>
            </a:endParaRPr>
          </a:p>
        </p:txBody>
      </p:sp>
      <p:pic>
        <p:nvPicPr>
          <p:cNvPr id="10243" name="Picture 7"/>
          <p:cNvPicPr>
            <a:picLocks noChangeAspect="1"/>
          </p:cNvPicPr>
          <p:nvPr/>
        </p:nvPicPr>
        <p:blipFill>
          <a:blip>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p:cNvSpPr txBox="1">
            <a:spLocks noChangeArrowheads="1"/>
          </p:cNvSpPr>
          <p:nvPr/>
        </p:nvSpPr>
        <p:spPr bwMode="auto">
          <a:xfrm>
            <a:off x="0" y="173355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altLang="en-US" sz="2800" b="0" i="1" u="none" strike="noStrike" kern="1200" cap="none" spc="0" normalizeH="0" baseline="0" noProof="0" dirty="0">
                <a:ln>
                  <a:noFill/>
                </a:ln>
                <a:solidFill>
                  <a:prstClr val="white"/>
                </a:solidFill>
                <a:effectLst/>
                <a:uLnTx/>
                <a:uFillTx/>
                <a:latin typeface="Calibri" charset="0"/>
                <a:ea typeface="ＭＳ Ｐゴシック" charset="-128"/>
                <a:cs typeface="+mn-cs"/>
              </a:rPr>
              <a:t>REST</a:t>
            </a:r>
            <a:endParaRPr kumimoji="0" lang="en-US" altLang="en-US" sz="1600" b="0" i="1" u="none" strike="noStrike" kern="1200" cap="none" spc="0" normalizeH="0" baseline="0" noProof="0" dirty="0">
              <a:ln>
                <a:noFill/>
              </a:ln>
              <a:solidFill>
                <a:prstClr val="white"/>
              </a:solidFill>
              <a:effectLst/>
              <a:uLnTx/>
              <a:uFillTx/>
              <a:latin typeface="Calibri" charset="0"/>
              <a:ea typeface="ＭＳ Ｐゴシック" charset="-128"/>
              <a:cs typeface="+mn-cs"/>
            </a:endParaRPr>
          </a:p>
        </p:txBody>
      </p:sp>
      <p:sp>
        <p:nvSpPr>
          <p:cNvPr id="2" name="TextBox 9">
            <a:extLst>
              <a:ext uri="{FF2B5EF4-FFF2-40B4-BE49-F238E27FC236}">
                <a16:creationId xmlns:a16="http://schemas.microsoft.com/office/drawing/2014/main" id="{DAF6CDBE-9508-9BFA-C6E1-AF66074CE074}"/>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23</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COMS W4111_002_2025_1 -  Lecture 5: ER(4), Relational(4), SQL(4)			© Donald F. Ferguson, 2025</a:t>
            </a:r>
            <a:endParaRPr lang="en-US" altLang="en-US" sz="800" i="1" dirty="0">
              <a:solidFill>
                <a:schemeClr val="bg1"/>
              </a:solidFill>
            </a:endParaRPr>
          </a:p>
        </p:txBody>
      </p:sp>
    </p:spTree>
    <p:extLst>
      <p:ext uri="{BB962C8B-B14F-4D97-AF65-F5344CB8AC3E}">
        <p14:creationId xmlns:p14="http://schemas.microsoft.com/office/powerpoint/2010/main" val="1948951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3BBDAC-FBFF-0949-8AB0-5BB48994E88E}"/>
              </a:ext>
            </a:extLst>
          </p:cNvPr>
          <p:cNvSpPr>
            <a:spLocks noGrp="1"/>
          </p:cNvSpPr>
          <p:nvPr>
            <p:ph idx="1"/>
          </p:nvPr>
        </p:nvSpPr>
        <p:spPr/>
        <p:txBody>
          <a:bodyPr/>
          <a:lstStyle/>
          <a:p>
            <a:pPr marL="0" indent="0">
              <a:buNone/>
            </a:pPr>
            <a:r>
              <a:rPr lang="en-US" sz="1800" dirty="0"/>
              <a:t>Almost any data model has the same core concepts:</a:t>
            </a:r>
          </a:p>
          <a:p>
            <a:r>
              <a:rPr lang="en-US" sz="1800" dirty="0"/>
              <a:t>Types and instances:</a:t>
            </a:r>
          </a:p>
          <a:p>
            <a:pPr lvl="1"/>
            <a:r>
              <a:rPr lang="en-US" sz="1600" dirty="0"/>
              <a:t>Entity Type: A definition of a type of thing with properties and relationships.</a:t>
            </a:r>
          </a:p>
          <a:p>
            <a:pPr lvl="1"/>
            <a:r>
              <a:rPr lang="en-US" sz="1600" dirty="0"/>
              <a:t>Entity Instance: A specific instantiation of the Entity Type</a:t>
            </a:r>
          </a:p>
          <a:p>
            <a:pPr lvl="1"/>
            <a:r>
              <a:rPr lang="en-US" sz="1600" dirty="0"/>
              <a:t>Entity Set Instance: An Entity Type that:</a:t>
            </a:r>
          </a:p>
          <a:p>
            <a:pPr lvl="2"/>
            <a:r>
              <a:rPr lang="en-US" sz="1400" dirty="0"/>
              <a:t>Has properties and relationships like any entity, but ...</a:t>
            </a:r>
          </a:p>
          <a:p>
            <a:pPr lvl="2"/>
            <a:r>
              <a:rPr lang="en-US" sz="1400" dirty="0"/>
              <a:t>Has at least one </a:t>
            </a:r>
            <a:r>
              <a:rPr lang="en-US" sz="1400" i="1" dirty="0"/>
              <a:t>special relationship –</a:t>
            </a:r>
            <a:r>
              <a:rPr lang="en-US" sz="1400" dirty="0"/>
              <a:t> </a:t>
            </a:r>
            <a:r>
              <a:rPr lang="en-US" sz="1400" b="1" i="1" dirty="0"/>
              <a:t>contains.</a:t>
            </a:r>
          </a:p>
          <a:p>
            <a:r>
              <a:rPr lang="en-US" sz="1800" dirty="0"/>
              <a:t>Operations, minimally CRUD, that manipulate entity types and instances:</a:t>
            </a:r>
          </a:p>
          <a:p>
            <a:pPr lvl="1"/>
            <a:r>
              <a:rPr lang="en-US" sz="1600" dirty="0"/>
              <a:t>Create</a:t>
            </a:r>
          </a:p>
          <a:p>
            <a:pPr lvl="1"/>
            <a:r>
              <a:rPr lang="en-US" sz="1600" dirty="0"/>
              <a:t>Retrieve</a:t>
            </a:r>
          </a:p>
          <a:p>
            <a:pPr lvl="1"/>
            <a:r>
              <a:rPr lang="en-US" sz="1600" dirty="0"/>
              <a:t>Update</a:t>
            </a:r>
          </a:p>
          <a:p>
            <a:pPr lvl="1"/>
            <a:r>
              <a:rPr lang="en-US" sz="1600" dirty="0"/>
              <a:t>Delete</a:t>
            </a:r>
          </a:p>
          <a:p>
            <a:pPr lvl="1"/>
            <a:r>
              <a:rPr lang="en-US" sz="1600" dirty="0"/>
              <a:t>Reference/Identify/... ...</a:t>
            </a:r>
          </a:p>
          <a:p>
            <a:pPr lvl="1"/>
            <a:r>
              <a:rPr lang="en-US" sz="1600" dirty="0"/>
              <a:t>Host/database/table/pk</a:t>
            </a:r>
          </a:p>
        </p:txBody>
      </p:sp>
      <p:sp>
        <p:nvSpPr>
          <p:cNvPr id="3" name="Title 2">
            <a:extLst>
              <a:ext uri="{FF2B5EF4-FFF2-40B4-BE49-F238E27FC236}">
                <a16:creationId xmlns:a16="http://schemas.microsoft.com/office/drawing/2014/main" id="{EFD98A04-2FAC-374E-B190-A2830FB42691}"/>
              </a:ext>
            </a:extLst>
          </p:cNvPr>
          <p:cNvSpPr>
            <a:spLocks noGrp="1"/>
          </p:cNvSpPr>
          <p:nvPr>
            <p:ph type="title"/>
          </p:nvPr>
        </p:nvSpPr>
        <p:spPr/>
        <p:txBody>
          <a:bodyPr/>
          <a:lstStyle/>
          <a:p>
            <a:r>
              <a:rPr lang="en-US" dirty="0"/>
              <a:t>Data Modeling Concepts and REST</a:t>
            </a:r>
          </a:p>
        </p:txBody>
      </p:sp>
    </p:spTree>
    <p:extLst>
      <p:ext uri="{BB962C8B-B14F-4D97-AF65-F5344CB8AC3E}">
        <p14:creationId xmlns:p14="http://schemas.microsoft.com/office/powerpoint/2010/main" val="2308454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039087-3B61-85DD-E257-64B6264A3A18}"/>
              </a:ext>
            </a:extLst>
          </p:cNvPr>
          <p:cNvSpPr>
            <a:spLocks noGrp="1"/>
          </p:cNvSpPr>
          <p:nvPr>
            <p:ph type="title"/>
          </p:nvPr>
        </p:nvSpPr>
        <p:spPr/>
        <p:txBody>
          <a:bodyPr/>
          <a:lstStyle/>
          <a:p>
            <a:r>
              <a:rPr lang="en-US" dirty="0"/>
              <a:t>REST </a:t>
            </a:r>
            <a:r>
              <a:rPr lang="en-US" sz="2000" dirty="0"/>
              <a:t>(https://</a:t>
            </a:r>
            <a:r>
              <a:rPr lang="en-US" sz="2000" dirty="0" err="1"/>
              <a:t>www.tutorialspoint.com</a:t>
            </a:r>
            <a:r>
              <a:rPr lang="en-US" sz="2000" dirty="0"/>
              <a:t>/restful/</a:t>
            </a:r>
            <a:r>
              <a:rPr lang="en-US" sz="2000" dirty="0" err="1"/>
              <a:t>restful_introduction.htm</a:t>
            </a:r>
            <a:r>
              <a:rPr lang="en-US" sz="2000" dirty="0"/>
              <a:t>)</a:t>
            </a:r>
            <a:endParaRPr lang="en-US" dirty="0"/>
          </a:p>
        </p:txBody>
      </p:sp>
      <p:pic>
        <p:nvPicPr>
          <p:cNvPr id="4" name="Picture 3">
            <a:extLst>
              <a:ext uri="{FF2B5EF4-FFF2-40B4-BE49-F238E27FC236}">
                <a16:creationId xmlns:a16="http://schemas.microsoft.com/office/drawing/2014/main" id="{8B21AAEF-7FFF-60B7-3205-BB079D6E6AB5}"/>
              </a:ext>
            </a:extLst>
          </p:cNvPr>
          <p:cNvPicPr>
            <a:picLocks noChangeAspect="1"/>
          </p:cNvPicPr>
          <p:nvPr/>
        </p:nvPicPr>
        <p:blipFill>
          <a:blip/>
          <a:stretch>
            <a:fillRect/>
          </a:stretch>
        </p:blipFill>
        <p:spPr>
          <a:xfrm>
            <a:off x="685800" y="725594"/>
            <a:ext cx="7772400" cy="3692311"/>
          </a:xfrm>
          <a:prstGeom prst="rect">
            <a:avLst/>
          </a:prstGeom>
        </p:spPr>
      </p:pic>
    </p:spTree>
    <p:extLst>
      <p:ext uri="{BB962C8B-B14F-4D97-AF65-F5344CB8AC3E}">
        <p14:creationId xmlns:p14="http://schemas.microsoft.com/office/powerpoint/2010/main" val="357184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039087-3B61-85DD-E257-64B6264A3A18}"/>
              </a:ext>
            </a:extLst>
          </p:cNvPr>
          <p:cNvSpPr>
            <a:spLocks noGrp="1"/>
          </p:cNvSpPr>
          <p:nvPr>
            <p:ph type="title"/>
          </p:nvPr>
        </p:nvSpPr>
        <p:spPr/>
        <p:txBody>
          <a:bodyPr/>
          <a:lstStyle/>
          <a:p>
            <a:r>
              <a:rPr lang="en-US" dirty="0"/>
              <a:t>REST </a:t>
            </a:r>
            <a:r>
              <a:rPr lang="en-US" sz="2000" dirty="0"/>
              <a:t>(https://</a:t>
            </a:r>
            <a:r>
              <a:rPr lang="en-US" sz="2000" dirty="0" err="1"/>
              <a:t>www.tutorialspoint.com</a:t>
            </a:r>
            <a:r>
              <a:rPr lang="en-US" sz="2000" dirty="0"/>
              <a:t>/restful/</a:t>
            </a:r>
            <a:r>
              <a:rPr lang="en-US" sz="2000" dirty="0" err="1"/>
              <a:t>restful_introduction.htm</a:t>
            </a:r>
            <a:r>
              <a:rPr lang="en-US" sz="2000" dirty="0"/>
              <a:t>)</a:t>
            </a:r>
            <a:endParaRPr lang="en-US" dirty="0"/>
          </a:p>
        </p:txBody>
      </p:sp>
      <p:pic>
        <p:nvPicPr>
          <p:cNvPr id="2" name="Picture 1">
            <a:extLst>
              <a:ext uri="{FF2B5EF4-FFF2-40B4-BE49-F238E27FC236}">
                <a16:creationId xmlns:a16="http://schemas.microsoft.com/office/drawing/2014/main" id="{8A23EFF9-8BEC-242F-59A5-9A22785EDC87}"/>
              </a:ext>
            </a:extLst>
          </p:cNvPr>
          <p:cNvPicPr>
            <a:picLocks noChangeAspect="1"/>
          </p:cNvPicPr>
          <p:nvPr/>
        </p:nvPicPr>
        <p:blipFill>
          <a:blip/>
          <a:stretch>
            <a:fillRect/>
          </a:stretch>
        </p:blipFill>
        <p:spPr>
          <a:xfrm>
            <a:off x="838200" y="742950"/>
            <a:ext cx="6858000" cy="3814996"/>
          </a:xfrm>
          <a:prstGeom prst="rect">
            <a:avLst/>
          </a:prstGeom>
        </p:spPr>
      </p:pic>
    </p:spTree>
    <p:extLst>
      <p:ext uri="{BB962C8B-B14F-4D97-AF65-F5344CB8AC3E}">
        <p14:creationId xmlns:p14="http://schemas.microsoft.com/office/powerpoint/2010/main" val="3895928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6684FE-E2C4-BD4A-9ECC-57DF975CB173}"/>
              </a:ext>
            </a:extLst>
          </p:cNvPr>
          <p:cNvSpPr>
            <a:spLocks noGrp="1"/>
          </p:cNvSpPr>
          <p:nvPr>
            <p:ph type="title"/>
          </p:nvPr>
        </p:nvSpPr>
        <p:spPr/>
        <p:txBody>
          <a:bodyPr/>
          <a:lstStyle/>
          <a:p>
            <a:r>
              <a:rPr lang="en-US" dirty="0"/>
              <a:t>REST and Resources</a:t>
            </a:r>
          </a:p>
        </p:txBody>
      </p:sp>
      <p:pic>
        <p:nvPicPr>
          <p:cNvPr id="4" name="Picture 3">
            <a:extLst>
              <a:ext uri="{FF2B5EF4-FFF2-40B4-BE49-F238E27FC236}">
                <a16:creationId xmlns:a16="http://schemas.microsoft.com/office/drawing/2014/main" id="{E9C97049-A8BD-4943-88DD-9B84458004AF}"/>
              </a:ext>
            </a:extLst>
          </p:cNvPr>
          <p:cNvPicPr>
            <a:picLocks noChangeAspect="1"/>
          </p:cNvPicPr>
          <p:nvPr/>
        </p:nvPicPr>
        <p:blipFill>
          <a:blip/>
          <a:stretch>
            <a:fillRect/>
          </a:stretch>
        </p:blipFill>
        <p:spPr>
          <a:xfrm>
            <a:off x="586595" y="478609"/>
            <a:ext cx="7970809" cy="4191000"/>
          </a:xfrm>
          <a:prstGeom prst="rect">
            <a:avLst/>
          </a:prstGeom>
        </p:spPr>
      </p:pic>
    </p:spTree>
    <p:extLst>
      <p:ext uri="{BB962C8B-B14F-4D97-AF65-F5344CB8AC3E}">
        <p14:creationId xmlns:p14="http://schemas.microsoft.com/office/powerpoint/2010/main" val="4137625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6684FE-E2C4-BD4A-9ECC-57DF975CB173}"/>
              </a:ext>
            </a:extLst>
          </p:cNvPr>
          <p:cNvSpPr>
            <a:spLocks noGrp="1"/>
          </p:cNvSpPr>
          <p:nvPr>
            <p:ph type="title"/>
          </p:nvPr>
        </p:nvSpPr>
        <p:spPr/>
        <p:txBody>
          <a:bodyPr/>
          <a:lstStyle/>
          <a:p>
            <a:r>
              <a:rPr lang="en-US" dirty="0"/>
              <a:t>URLs</a:t>
            </a:r>
          </a:p>
        </p:txBody>
      </p:sp>
      <p:pic>
        <p:nvPicPr>
          <p:cNvPr id="2" name="Picture 1">
            <a:extLst>
              <a:ext uri="{FF2B5EF4-FFF2-40B4-BE49-F238E27FC236}">
                <a16:creationId xmlns:a16="http://schemas.microsoft.com/office/drawing/2014/main" id="{B5152171-0140-4948-9F24-6DD2F17D5115}"/>
              </a:ext>
            </a:extLst>
          </p:cNvPr>
          <p:cNvPicPr>
            <a:picLocks noChangeAspect="1"/>
          </p:cNvPicPr>
          <p:nvPr/>
        </p:nvPicPr>
        <p:blipFill>
          <a:blip/>
          <a:stretch>
            <a:fillRect/>
          </a:stretch>
        </p:blipFill>
        <p:spPr>
          <a:xfrm>
            <a:off x="609600" y="535781"/>
            <a:ext cx="7239000" cy="4071938"/>
          </a:xfrm>
          <a:prstGeom prst="rect">
            <a:avLst/>
          </a:prstGeom>
        </p:spPr>
      </p:pic>
    </p:spTree>
    <p:extLst>
      <p:ext uri="{BB962C8B-B14F-4D97-AF65-F5344CB8AC3E}">
        <p14:creationId xmlns:p14="http://schemas.microsoft.com/office/powerpoint/2010/main" val="93040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EBD626-276D-4A40-97BB-4CAD7DD5FBA1}"/>
              </a:ext>
            </a:extLst>
          </p:cNvPr>
          <p:cNvSpPr>
            <a:spLocks noGrp="1"/>
          </p:cNvSpPr>
          <p:nvPr>
            <p:ph type="title"/>
          </p:nvPr>
        </p:nvSpPr>
        <p:spPr/>
        <p:txBody>
          <a:bodyPr/>
          <a:lstStyle/>
          <a:p>
            <a:r>
              <a:rPr lang="en-US" dirty="0"/>
              <a:t>Simplistic, Conceptual Mapping (Examples)</a:t>
            </a:r>
          </a:p>
        </p:txBody>
      </p:sp>
      <p:graphicFrame>
        <p:nvGraphicFramePr>
          <p:cNvPr id="4" name="Table 4">
            <a:extLst>
              <a:ext uri="{FF2B5EF4-FFF2-40B4-BE49-F238E27FC236}">
                <a16:creationId xmlns:a16="http://schemas.microsoft.com/office/drawing/2014/main" id="{881CD1BB-2B96-7340-8E52-7798838E9BF5}"/>
              </a:ext>
            </a:extLst>
          </p:cNvPr>
          <p:cNvGraphicFramePr>
            <a:graphicFrameLocks noGrp="1"/>
          </p:cNvGraphicFramePr>
          <p:nvPr/>
        </p:nvGraphicFramePr>
        <p:xfrm>
          <a:off x="76200" y="539750"/>
          <a:ext cx="8915400" cy="388112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1105482728"/>
                    </a:ext>
                  </a:extLst>
                </a:gridCol>
                <a:gridCol w="3162300">
                  <a:extLst>
                    <a:ext uri="{9D8B030D-6E8A-4147-A177-3AD203B41FA5}">
                      <a16:colId xmlns:a16="http://schemas.microsoft.com/office/drawing/2014/main" val="1740203498"/>
                    </a:ext>
                  </a:extLst>
                </a:gridCol>
                <a:gridCol w="3162300">
                  <a:extLst>
                    <a:ext uri="{9D8B030D-6E8A-4147-A177-3AD203B41FA5}">
                      <a16:colId xmlns:a16="http://schemas.microsoft.com/office/drawing/2014/main" val="1388233871"/>
                    </a:ext>
                  </a:extLst>
                </a:gridCol>
                <a:gridCol w="1295400">
                  <a:extLst>
                    <a:ext uri="{9D8B030D-6E8A-4147-A177-3AD203B41FA5}">
                      <a16:colId xmlns:a16="http://schemas.microsoft.com/office/drawing/2014/main" val="2185306061"/>
                    </a:ext>
                  </a:extLst>
                </a:gridCol>
              </a:tblGrid>
              <a:tr h="370840">
                <a:tc>
                  <a:txBody>
                    <a:bodyPr/>
                    <a:lstStyle/>
                    <a:p>
                      <a:r>
                        <a:rPr lang="en-US" sz="1400" dirty="0"/>
                        <a:t>REST Method</a:t>
                      </a:r>
                    </a:p>
                  </a:txBody>
                  <a:tcPr/>
                </a:tc>
                <a:tc>
                  <a:txBody>
                    <a:bodyPr/>
                    <a:lstStyle/>
                    <a:p>
                      <a:r>
                        <a:rPr lang="en-US" sz="1400" dirty="0"/>
                        <a:t>Resource Path</a:t>
                      </a:r>
                    </a:p>
                  </a:txBody>
                  <a:tcPr/>
                </a:tc>
                <a:tc>
                  <a:txBody>
                    <a:bodyPr/>
                    <a:lstStyle/>
                    <a:p>
                      <a:r>
                        <a:rPr lang="en-US" sz="1400" dirty="0"/>
                        <a:t>Relational Operation</a:t>
                      </a:r>
                    </a:p>
                  </a:txBody>
                  <a:tcPr/>
                </a:tc>
                <a:tc>
                  <a:txBody>
                    <a:bodyPr/>
                    <a:lstStyle/>
                    <a:p>
                      <a:r>
                        <a:rPr lang="en-US" sz="1400" dirty="0"/>
                        <a:t>DB Resource</a:t>
                      </a:r>
                    </a:p>
                  </a:txBody>
                  <a:tcPr/>
                </a:tc>
                <a:extLst>
                  <a:ext uri="{0D108BD9-81ED-4DB2-BD59-A6C34878D82A}">
                    <a16:rowId xmlns:a16="http://schemas.microsoft.com/office/drawing/2014/main" val="2666651282"/>
                  </a:ext>
                </a:extLst>
              </a:tr>
              <a:tr h="370840">
                <a:tc>
                  <a:txBody>
                    <a:bodyPr/>
                    <a:lstStyle/>
                    <a:p>
                      <a:r>
                        <a:rPr lang="en-US" sz="1400" dirty="0"/>
                        <a:t>DELETE</a:t>
                      </a:r>
                    </a:p>
                  </a:txBody>
                  <a:tcPr/>
                </a:tc>
                <a:tc>
                  <a:txBody>
                    <a:bodyPr/>
                    <a:lstStyle/>
                    <a:p>
                      <a:r>
                        <a:rPr lang="en-US" sz="1400" dirty="0"/>
                        <a:t>/people</a:t>
                      </a:r>
                    </a:p>
                  </a:txBody>
                  <a:tcPr/>
                </a:tc>
                <a:tc>
                  <a:txBody>
                    <a:bodyPr/>
                    <a:lstStyle/>
                    <a:p>
                      <a:r>
                        <a:rPr lang="en-US" sz="1400" dirty="0"/>
                        <a:t>DROP TABLE</a:t>
                      </a:r>
                    </a:p>
                  </a:txBody>
                  <a:tcPr/>
                </a:tc>
                <a:tc>
                  <a:txBody>
                    <a:bodyPr/>
                    <a:lstStyle/>
                    <a:p>
                      <a:r>
                        <a:rPr lang="en-US" sz="1400" dirty="0"/>
                        <a:t>people table</a:t>
                      </a:r>
                    </a:p>
                  </a:txBody>
                  <a:tcPr/>
                </a:tc>
                <a:extLst>
                  <a:ext uri="{0D108BD9-81ED-4DB2-BD59-A6C34878D82A}">
                    <a16:rowId xmlns:a16="http://schemas.microsoft.com/office/drawing/2014/main" val="2145860210"/>
                  </a:ext>
                </a:extLst>
              </a:tr>
              <a:tr h="370840">
                <a:tc>
                  <a:txBody>
                    <a:bodyPr/>
                    <a:lstStyle/>
                    <a:p>
                      <a:r>
                        <a:rPr lang="en-US" sz="1400" dirty="0"/>
                        <a:t>POST</a:t>
                      </a:r>
                    </a:p>
                  </a:txBody>
                  <a:tcPr/>
                </a:tc>
                <a:tc>
                  <a:txBody>
                    <a:bodyPr/>
                    <a:lstStyle/>
                    <a:p>
                      <a:r>
                        <a:rPr lang="en-US" sz="1400" dirty="0"/>
                        <a:t>/people</a:t>
                      </a:r>
                      <a:br>
                        <a:rPr lang="en-US" sz="1400" dirty="0"/>
                      </a:br>
                      <a:endParaRPr lang="en-US" sz="1400" dirty="0"/>
                    </a:p>
                  </a:txBody>
                  <a:tcPr/>
                </a:tc>
                <a:tc>
                  <a:txBody>
                    <a:bodyPr/>
                    <a:lstStyle/>
                    <a:p>
                      <a:r>
                        <a:rPr lang="en-US" sz="1400" dirty="0"/>
                        <a:t>INSERT INTO PEOPLE (...) VALUES(...)</a:t>
                      </a:r>
                    </a:p>
                  </a:txBody>
                  <a:tcPr/>
                </a:tc>
                <a:tc>
                  <a:txBody>
                    <a:bodyPr/>
                    <a:lstStyle/>
                    <a:p>
                      <a:r>
                        <a:rPr lang="en-US" sz="1400" dirty="0"/>
                        <a:t>people table</a:t>
                      </a:r>
                      <a:br>
                        <a:rPr lang="en-US" sz="1400" dirty="0"/>
                      </a:br>
                      <a:r>
                        <a:rPr lang="en-US" sz="1400" dirty="0"/>
                        <a:t>people row</a:t>
                      </a:r>
                    </a:p>
                  </a:txBody>
                  <a:tcPr/>
                </a:tc>
                <a:extLst>
                  <a:ext uri="{0D108BD9-81ED-4DB2-BD59-A6C34878D82A}">
                    <a16:rowId xmlns:a16="http://schemas.microsoft.com/office/drawing/2014/main" val="2019342088"/>
                  </a:ext>
                </a:extLst>
              </a:tr>
              <a:tr h="370840">
                <a:tc>
                  <a:txBody>
                    <a:bodyPr/>
                    <a:lstStyle/>
                    <a:p>
                      <a:r>
                        <a:rPr lang="en-US" sz="1400" dirty="0"/>
                        <a:t>GET</a:t>
                      </a:r>
                    </a:p>
                  </a:txBody>
                  <a:tcPr/>
                </a:tc>
                <a:tc>
                  <a:txBody>
                    <a:bodyPr/>
                    <a:lstStyle/>
                    <a:p>
                      <a:r>
                        <a:rPr lang="en-US" sz="1400" dirty="0"/>
                        <a:t>/people/21</a:t>
                      </a:r>
                    </a:p>
                  </a:txBody>
                  <a:tcPr/>
                </a:tc>
                <a:tc>
                  <a:txBody>
                    <a:bodyPr/>
                    <a:lstStyle/>
                    <a:p>
                      <a:r>
                        <a:rPr lang="en-US" sz="1400" dirty="0"/>
                        <a:t>SHOW KEYS FROM people ...;</a:t>
                      </a:r>
                    </a:p>
                    <a:p>
                      <a:endParaRPr lang="en-US" sz="1400" dirty="0"/>
                    </a:p>
                    <a:p>
                      <a:r>
                        <a:rPr lang="en-US" sz="1400" dirty="0"/>
                        <a:t>SELECT * FROM people WHERE</a:t>
                      </a:r>
                      <a:br>
                        <a:rPr lang="en-US" sz="1400" dirty="0"/>
                      </a:br>
                      <a:r>
                        <a:rPr lang="en-US" sz="1400" dirty="0"/>
                        <a:t>     </a:t>
                      </a:r>
                      <a:r>
                        <a:rPr lang="en-US" sz="1400" dirty="0" err="1"/>
                        <a:t>playerID</a:t>
                      </a:r>
                      <a:r>
                        <a:rPr lang="en-US" sz="1400" dirty="0"/>
                        <a:t>= 21</a:t>
                      </a:r>
                    </a:p>
                  </a:txBody>
                  <a:tcPr/>
                </a:tc>
                <a:tc>
                  <a:txBody>
                    <a:bodyPr/>
                    <a:lstStyle/>
                    <a:p>
                      <a:r>
                        <a:rPr lang="en-US" sz="1400" dirty="0"/>
                        <a:t>people row</a:t>
                      </a:r>
                    </a:p>
                  </a:txBody>
                  <a:tcPr/>
                </a:tc>
                <a:extLst>
                  <a:ext uri="{0D108BD9-81ED-4DB2-BD59-A6C34878D82A}">
                    <a16:rowId xmlns:a16="http://schemas.microsoft.com/office/drawing/2014/main" val="2039214742"/>
                  </a:ext>
                </a:extLst>
              </a:tr>
              <a:tr h="370840">
                <a:tc>
                  <a:txBody>
                    <a:bodyPr/>
                    <a:lstStyle/>
                    <a:p>
                      <a:r>
                        <a:rPr lang="en-US" sz="1400" dirty="0"/>
                        <a:t>GET</a:t>
                      </a:r>
                    </a:p>
                  </a:txBody>
                  <a:tcPr/>
                </a:tc>
                <a:tc>
                  <a:txBody>
                    <a:bodyPr/>
                    <a:lstStyle/>
                    <a:p>
                      <a:r>
                        <a:rPr lang="en-US" sz="1400" dirty="0"/>
                        <a:t>/people/21/batting</a:t>
                      </a:r>
                    </a:p>
                  </a:txBody>
                  <a:tcPr/>
                </a:tc>
                <a:tc>
                  <a:txBody>
                    <a:bodyPr/>
                    <a:lstStyle/>
                    <a:p>
                      <a:r>
                        <a:rPr lang="en-US" sz="1400" dirty="0"/>
                        <a:t>SELECT batting.* FROM</a:t>
                      </a:r>
                      <a:br>
                        <a:rPr lang="en-US" sz="1400" dirty="0"/>
                      </a:br>
                      <a:r>
                        <a:rPr lang="en-US" sz="1400" dirty="0"/>
                        <a:t>    people JOIN batting USING(</a:t>
                      </a:r>
                      <a:r>
                        <a:rPr lang="en-US" sz="1400" dirty="0" err="1"/>
                        <a:t>playerID</a:t>
                      </a:r>
                      <a:r>
                        <a:rPr lang="en-US" sz="1400" dirty="0"/>
                        <a:t>)</a:t>
                      </a:r>
                      <a:br>
                        <a:rPr lang="en-US" sz="1400" dirty="0"/>
                      </a:br>
                      <a:r>
                        <a:rPr lang="en-US" sz="1400" dirty="0"/>
                        <a:t>WHERE </a:t>
                      </a:r>
                      <a:r>
                        <a:rPr lang="en-US" sz="1400" dirty="0" err="1"/>
                        <a:t>playerID</a:t>
                      </a:r>
                      <a:r>
                        <a:rPr lang="en-US" sz="1400" dirty="0"/>
                        <a:t>=21</a:t>
                      </a:r>
                    </a:p>
                  </a:txBody>
                  <a:tcPr/>
                </a:tc>
                <a:tc>
                  <a:txBody>
                    <a:bodyPr/>
                    <a:lstStyle/>
                    <a:p>
                      <a:endParaRPr lang="en-US" sz="1400"/>
                    </a:p>
                  </a:txBody>
                  <a:tcPr/>
                </a:tc>
                <a:extLst>
                  <a:ext uri="{0D108BD9-81ED-4DB2-BD59-A6C34878D82A}">
                    <a16:rowId xmlns:a16="http://schemas.microsoft.com/office/drawing/2014/main" val="2762068965"/>
                  </a:ext>
                </a:extLst>
              </a:tr>
              <a:tr h="370840">
                <a:tc>
                  <a:txBody>
                    <a:bodyPr/>
                    <a:lstStyle/>
                    <a:p>
                      <a:r>
                        <a:rPr lang="en-US" sz="1400" dirty="0"/>
                        <a:t>GET</a:t>
                      </a:r>
                    </a:p>
                  </a:txBody>
                  <a:tcPr/>
                </a:tc>
                <a:tc>
                  <a:txBody>
                    <a:bodyPr/>
                    <a:lstStyle/>
                    <a:p>
                      <a:r>
                        <a:rPr lang="en-US" sz="1400" dirty="0"/>
                        <a:t>/people/21/batting/2004_1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SELECT batting.* FROM</a:t>
                      </a:r>
                      <a:br>
                        <a:rPr lang="en-US" sz="1400" dirty="0"/>
                      </a:br>
                      <a:r>
                        <a:rPr lang="en-US" sz="1400" dirty="0"/>
                        <a:t>    people JOIN batting USING(</a:t>
                      </a:r>
                      <a:r>
                        <a:rPr lang="en-US" sz="1400" dirty="0" err="1"/>
                        <a:t>playerID</a:t>
                      </a:r>
                      <a:r>
                        <a:rPr lang="en-US" sz="1400" dirty="0"/>
                        <a:t>)</a:t>
                      </a:r>
                      <a:br>
                        <a:rPr lang="en-US" sz="1400" dirty="0"/>
                      </a:br>
                      <a:r>
                        <a:rPr lang="en-US" sz="1400" dirty="0"/>
                        <a:t>WHERE </a:t>
                      </a:r>
                      <a:r>
                        <a:rPr lang="en-US" sz="1400" dirty="0" err="1"/>
                        <a:t>playerID</a:t>
                      </a:r>
                      <a:r>
                        <a:rPr lang="en-US" sz="1400" dirty="0"/>
                        <a:t>=21</a:t>
                      </a:r>
                      <a:br>
                        <a:rPr lang="en-US" sz="1400" dirty="0"/>
                      </a:br>
                      <a:r>
                        <a:rPr lang="en-US" sz="1400" dirty="0"/>
                        <a:t>AND </a:t>
                      </a:r>
                      <a:r>
                        <a:rPr lang="en-US" sz="1400" dirty="0" err="1"/>
                        <a:t>yearID</a:t>
                      </a:r>
                      <a:r>
                        <a:rPr lang="en-US" sz="1400" dirty="0"/>
                        <a:t>=2004 AND stint=1</a:t>
                      </a:r>
                    </a:p>
                  </a:txBody>
                  <a:tcPr/>
                </a:tc>
                <a:tc>
                  <a:txBody>
                    <a:bodyPr/>
                    <a:lstStyle/>
                    <a:p>
                      <a:endParaRPr lang="en-US" sz="1400" dirty="0"/>
                    </a:p>
                  </a:txBody>
                  <a:tcPr/>
                </a:tc>
                <a:extLst>
                  <a:ext uri="{0D108BD9-81ED-4DB2-BD59-A6C34878D82A}">
                    <a16:rowId xmlns:a16="http://schemas.microsoft.com/office/drawing/2014/main" val="2294298711"/>
                  </a:ext>
                </a:extLst>
              </a:tr>
            </a:tbl>
          </a:graphicData>
        </a:graphic>
      </p:graphicFrame>
    </p:spTree>
    <p:extLst>
      <p:ext uri="{BB962C8B-B14F-4D97-AF65-F5344CB8AC3E}">
        <p14:creationId xmlns:p14="http://schemas.microsoft.com/office/powerpoint/2010/main" val="3899581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E0D7BE-6494-83A6-8C98-66AC8FBD0439}"/>
              </a:ext>
            </a:extLst>
          </p:cNvPr>
          <p:cNvSpPr>
            <a:spLocks noGrp="1"/>
          </p:cNvSpPr>
          <p:nvPr>
            <p:ph type="title"/>
          </p:nvPr>
        </p:nvSpPr>
        <p:spPr/>
        <p:txBody>
          <a:bodyPr/>
          <a:lstStyle/>
          <a:p>
            <a:r>
              <a:rPr lang="en-US" dirty="0"/>
              <a:t>Application Architecture</a:t>
            </a:r>
          </a:p>
        </p:txBody>
      </p:sp>
      <p:pic>
        <p:nvPicPr>
          <p:cNvPr id="5" name="Picture 4">
            <a:extLst>
              <a:ext uri="{FF2B5EF4-FFF2-40B4-BE49-F238E27FC236}">
                <a16:creationId xmlns:a16="http://schemas.microsoft.com/office/drawing/2014/main" id="{384BB8DD-B4D4-6818-2523-83256F6228C3}"/>
              </a:ext>
            </a:extLst>
          </p:cNvPr>
          <p:cNvPicPr>
            <a:picLocks noChangeAspect="1"/>
          </p:cNvPicPr>
          <p:nvPr/>
        </p:nvPicPr>
        <p:blipFill>
          <a:blip/>
          <a:stretch>
            <a:fillRect/>
          </a:stretch>
        </p:blipFill>
        <p:spPr>
          <a:xfrm>
            <a:off x="304800" y="666750"/>
            <a:ext cx="7696200" cy="3211114"/>
          </a:xfrm>
          <a:prstGeom prst="rect">
            <a:avLst/>
          </a:prstGeom>
        </p:spPr>
      </p:pic>
    </p:spTree>
    <p:extLst>
      <p:ext uri="{BB962C8B-B14F-4D97-AF65-F5344CB8AC3E}">
        <p14:creationId xmlns:p14="http://schemas.microsoft.com/office/powerpoint/2010/main" val="2605273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5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6F2769-7194-4217-93D3-3AF3A4742282}">
  <ds:schemaRefs>
    <ds:schemaRef ds:uri="http://schemas.microsoft.com/office/2006/metadata/properties"/>
    <ds:schemaRef ds:uri="http://schemas.microsoft.com/sharepoint/v3/fields"/>
    <ds:schemaRef ds:uri="http://schemas.microsoft.com/office/infopath/2007/PartnerControls"/>
    <ds:schemaRef ds:uri="http://schemas.microsoft.com/office/2006/documentManagement/types"/>
    <ds:schemaRef ds:uri="http://purl.org/dc/dcmitype/"/>
    <ds:schemaRef ds:uri="http://purl.org/dc/terms/"/>
    <ds:schemaRef ds:uri="http://purl.org/dc/elements/1.1/"/>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3.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92608</TotalTime>
  <Words>1598</Words>
  <Application>Microsoft Macintosh PowerPoint</Application>
  <PresentationFormat>On-screen Show (16:9)</PresentationFormat>
  <Paragraphs>157</Paragraphs>
  <Slides>30</Slides>
  <Notes>13</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30</vt:i4>
      </vt:variant>
    </vt:vector>
  </HeadingPairs>
  <TitlesOfParts>
    <vt:vector size="44" baseType="lpstr">
      <vt:lpstr>Arial</vt:lpstr>
      <vt:lpstr>Calibri</vt:lpstr>
      <vt:lpstr>Helvetica</vt:lpstr>
      <vt:lpstr>Monotype Sorts</vt:lpstr>
      <vt:lpstr>Museo For Dell</vt:lpstr>
      <vt:lpstr>Times New Roman</vt:lpstr>
      <vt:lpstr>Webdings</vt:lpstr>
      <vt:lpstr>Wingdings</vt:lpstr>
      <vt:lpstr>Office Theme</vt:lpstr>
      <vt:lpstr>2_db-5-grey</vt:lpstr>
      <vt:lpstr>1_Office Theme</vt:lpstr>
      <vt:lpstr>2_Office Theme</vt:lpstr>
      <vt:lpstr>3_Office Theme</vt:lpstr>
      <vt:lpstr>5_db-5-grey</vt:lpstr>
      <vt:lpstr>PowerPoint Presentation</vt:lpstr>
      <vt:lpstr>PowerPoint Presentation</vt:lpstr>
      <vt:lpstr>Contents</vt:lpstr>
      <vt:lpstr>PowerPoint Presentation</vt:lpstr>
      <vt:lpstr>Course Updates</vt:lpstr>
      <vt:lpstr>PowerPoint Presentation</vt:lpstr>
      <vt:lpstr>Codd’s 12 Rules</vt:lpstr>
      <vt:lpstr>Codd’s 12 Rules</vt:lpstr>
      <vt:lpstr>PowerPoint Presentation</vt:lpstr>
      <vt:lpstr>PowerPoint Presentation</vt:lpstr>
      <vt:lpstr>PowerPoint Presentation</vt:lpstr>
      <vt:lpstr>PowerPoint Presentation</vt:lpstr>
      <vt:lpstr>PowerPoint Presentation</vt:lpstr>
      <vt:lpstr>PowerPoint Presentation</vt:lpstr>
      <vt:lpstr>Functions</vt:lpstr>
      <vt:lpstr>Functions</vt:lpstr>
      <vt:lpstr>Functions</vt:lpstr>
      <vt:lpstr>Functions</vt:lpstr>
      <vt:lpstr>PowerPoint Presentation</vt:lpstr>
      <vt:lpstr>Index Creation</vt:lpstr>
      <vt:lpstr>Index Creation Example</vt:lpstr>
      <vt:lpstr>PowerPoint Presentation</vt:lpstr>
      <vt:lpstr>PowerPoint Presentation</vt:lpstr>
      <vt:lpstr>Data Modeling Concepts and REST</vt:lpstr>
      <vt:lpstr>REST (https://www.tutorialspoint.com/restful/restful_introduction.htm)</vt:lpstr>
      <vt:lpstr>REST (https://www.tutorialspoint.com/restful/restful_introduction.htm)</vt:lpstr>
      <vt:lpstr>REST and Resources</vt:lpstr>
      <vt:lpstr>URLs</vt:lpstr>
      <vt:lpstr>Simplistic, Conceptual Mapping (Examples)</vt:lpstr>
      <vt:lpstr>Application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Donald Ferguson</cp:lastModifiedBy>
  <cp:revision>623</cp:revision>
  <cp:lastPrinted>2018-11-15T21:01:50Z</cp:lastPrinted>
  <dcterms:created xsi:type="dcterms:W3CDTF">2010-04-12T23:12:02Z</dcterms:created>
  <dcterms:modified xsi:type="dcterms:W3CDTF">2025-10-12T19:39:47Z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