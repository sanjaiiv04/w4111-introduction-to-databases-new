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93455" r:id="rId4"/>
    <p:sldMasterId id="2147493587" r:id="rId5"/>
    <p:sldMasterId id="2147493597" r:id="rId6"/>
    <p:sldMasterId id="2147493621" r:id="rId7"/>
  </p:sldMasterIdLst>
  <p:notesMasterIdLst>
    <p:notesMasterId r:id="rId49"/>
  </p:notesMasterIdLst>
  <p:handoutMasterIdLst>
    <p:handoutMasterId r:id="rId50"/>
  </p:handoutMasterIdLst>
  <p:sldIdLst>
    <p:sldId id="854" r:id="rId8"/>
    <p:sldId id="2142532378" r:id="rId9"/>
    <p:sldId id="2142532459" r:id="rId10"/>
    <p:sldId id="257" r:id="rId11"/>
    <p:sldId id="2142532415" r:id="rId12"/>
    <p:sldId id="2142532445" r:id="rId13"/>
    <p:sldId id="259" r:id="rId14"/>
    <p:sldId id="2142532417" r:id="rId15"/>
    <p:sldId id="256" r:id="rId16"/>
    <p:sldId id="344" r:id="rId17"/>
    <p:sldId id="319" r:id="rId18"/>
    <p:sldId id="343" r:id="rId19"/>
    <p:sldId id="465" r:id="rId20"/>
    <p:sldId id="440" r:id="rId21"/>
    <p:sldId id="363" r:id="rId22"/>
    <p:sldId id="309" r:id="rId23"/>
    <p:sldId id="2142532447" r:id="rId24"/>
    <p:sldId id="2142532446" r:id="rId25"/>
    <p:sldId id="310" r:id="rId26"/>
    <p:sldId id="2142532448" r:id="rId27"/>
    <p:sldId id="388" r:id="rId28"/>
    <p:sldId id="311" r:id="rId29"/>
    <p:sldId id="2142532449" r:id="rId30"/>
    <p:sldId id="312" r:id="rId31"/>
    <p:sldId id="313" r:id="rId32"/>
    <p:sldId id="462" r:id="rId33"/>
    <p:sldId id="463" r:id="rId34"/>
    <p:sldId id="455" r:id="rId35"/>
    <p:sldId id="317" r:id="rId36"/>
    <p:sldId id="318" r:id="rId37"/>
    <p:sldId id="364" r:id="rId38"/>
    <p:sldId id="439" r:id="rId39"/>
    <p:sldId id="425" r:id="rId40"/>
    <p:sldId id="320" r:id="rId41"/>
    <p:sldId id="346" r:id="rId42"/>
    <p:sldId id="441" r:id="rId43"/>
    <p:sldId id="426" r:id="rId44"/>
    <p:sldId id="427" r:id="rId45"/>
    <p:sldId id="466" r:id="rId46"/>
    <p:sldId id="428" r:id="rId47"/>
    <p:sldId id="429" r:id="rId48"/>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kern="1200">
        <a:solidFill>
          <a:schemeClr val="tx1"/>
        </a:solidFill>
        <a:latin typeface="Calibri" charset="0"/>
        <a:ea typeface="ＭＳ Ｐゴシック" charset="-128"/>
        <a:cs typeface="+mn-cs"/>
      </a:defRPr>
    </a:lvl5pPr>
    <a:lvl6pPr marL="2286000" algn="l" defTabSz="914400" rtl="0" eaLnBrk="1" latinLnBrk="0" hangingPunct="1">
      <a:defRPr kern="1200">
        <a:solidFill>
          <a:schemeClr val="tx1"/>
        </a:solidFill>
        <a:latin typeface="Calibri" charset="0"/>
        <a:ea typeface="ＭＳ Ｐゴシック" charset="-128"/>
        <a:cs typeface="+mn-cs"/>
      </a:defRPr>
    </a:lvl6pPr>
    <a:lvl7pPr marL="2743200" algn="l" defTabSz="914400" rtl="0" eaLnBrk="1" latinLnBrk="0" hangingPunct="1">
      <a:defRPr kern="1200">
        <a:solidFill>
          <a:schemeClr val="tx1"/>
        </a:solidFill>
        <a:latin typeface="Calibri" charset="0"/>
        <a:ea typeface="ＭＳ Ｐゴシック" charset="-128"/>
        <a:cs typeface="+mn-cs"/>
      </a:defRPr>
    </a:lvl7pPr>
    <a:lvl8pPr marL="3200400" algn="l" defTabSz="914400" rtl="0" eaLnBrk="1" latinLnBrk="0" hangingPunct="1">
      <a:defRPr kern="1200">
        <a:solidFill>
          <a:schemeClr val="tx1"/>
        </a:solidFill>
        <a:latin typeface="Calibri" charset="0"/>
        <a:ea typeface="ＭＳ Ｐゴシック" charset="-128"/>
        <a:cs typeface="+mn-cs"/>
      </a:defRPr>
    </a:lvl8pPr>
    <a:lvl9pPr marL="3657600" algn="l" defTabSz="914400" rtl="0" eaLnBrk="1" latinLnBrk="0" hangingPunct="1">
      <a:defRPr kern="1200">
        <a:solidFill>
          <a:schemeClr val="tx1"/>
        </a:solidFill>
        <a:latin typeface="Calibri" charset="0"/>
        <a:ea typeface="ＭＳ Ｐゴシック"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1A2C64"/>
    <a:srgbClr val="32AA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57"/>
    <p:restoredTop sz="96311"/>
  </p:normalViewPr>
  <p:slideViewPr>
    <p:cSldViewPr snapToObjects="1">
      <p:cViewPr varScale="1">
        <p:scale>
          <a:sx n="216" d="100"/>
          <a:sy n="216" d="100"/>
        </p:scale>
        <p:origin x="1680" y="480"/>
      </p:cViewPr>
      <p:guideLst>
        <p:guide orient="horz" pos="1620"/>
        <p:guide pos="2880"/>
      </p:guideLst>
    </p:cSldViewPr>
  </p:slideViewPr>
  <p:outlineViewPr>
    <p:cViewPr>
      <p:scale>
        <a:sx n="33" d="100"/>
        <a:sy n="33" d="100"/>
      </p:scale>
      <p:origin x="0" y="-26648"/>
    </p:cViewPr>
  </p:outlineViewPr>
  <p:notesTextViewPr>
    <p:cViewPr>
      <p:scale>
        <a:sx n="100" d="100"/>
        <a:sy n="100" d="100"/>
      </p:scale>
      <p:origin x="0" y="0"/>
    </p:cViewPr>
  </p:notesTextViewPr>
  <p:sorterViewPr>
    <p:cViewPr varScale="1">
      <p:scale>
        <a:sx n="1" d="1"/>
        <a:sy n="1" d="1"/>
      </p:scale>
      <p:origin x="0" y="-22824"/>
    </p:cViewPr>
  </p:sorterViewPr>
  <p:notesViewPr>
    <p:cSldViewPr snapToObjects="1">
      <p:cViewPr varScale="1">
        <p:scale>
          <a:sx n="107" d="100"/>
          <a:sy n="107" d="100"/>
        </p:scale>
        <p:origin x="3648"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handoutMaster" Target="handoutMasters/handoutMaster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8" Type="http://schemas.openxmlformats.org/officeDocument/2006/relationships/slide" Target="slides/slide1.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AFB2AC-7E4F-8047-9193-854483C1A223}" type="datetimeFigureOut">
              <a:rPr lang="en-US" smtClean="0"/>
              <a:t>11/29/25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F1CE209-2B77-6A4B-8F32-9DF4E1CE944B}" type="slidenum">
              <a:rPr lang="en-US" smtClean="0"/>
              <a:t>‹#›</a:t>
            </a:fld>
            <a:endParaRPr lang="en-US"/>
          </a:p>
        </p:txBody>
      </p:sp>
    </p:spTree>
    <p:extLst>
      <p:ext uri="{BB962C8B-B14F-4D97-AF65-F5344CB8AC3E}">
        <p14:creationId xmlns:p14="http://schemas.microsoft.com/office/powerpoint/2010/main" val="8162578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A9567C9F-4D7F-5847-BD8F-556675060DA1}" type="datetimeFigureOut">
              <a:rPr lang="en-US" altLang="en-US"/>
              <a:pPr/>
              <a:t>11/29/25</a:t>
            </a:fld>
            <a:endParaRPr lang="en-US" alt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5D6415B-586E-2B45-B637-70E4CB56C153}"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mn-lt"/>
        <a:ea typeface="ＭＳ Ｐゴシック" charset="-128"/>
        <a:cs typeface="+mn-cs"/>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150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r>
              <a:rPr lang="en-US" altLang="en-US" dirty="0"/>
              <a:t>  </a:t>
            </a:r>
          </a:p>
        </p:txBody>
      </p:sp>
      <p:sp>
        <p:nvSpPr>
          <p:cNvPr id="21504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CFD365BF-ADBE-9B41-ABF1-832DDE2B814C}" type="slidenum">
              <a:rPr lang="en-US" altLang="en-US"/>
              <a:pPr/>
              <a:t>1</a:t>
            </a:fld>
            <a:endParaRPr lang="en-US" altLang="en-US"/>
          </a:p>
        </p:txBody>
      </p:sp>
    </p:spTree>
    <p:extLst>
      <p:ext uri="{BB962C8B-B14F-4D97-AF65-F5344CB8AC3E}">
        <p14:creationId xmlns:p14="http://schemas.microsoft.com/office/powerpoint/2010/main" val="626528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96810-8BAD-97F7-FF17-BADCBEFA9345}"/>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84DD705D-28B4-12A9-3463-405E479378EF}"/>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9138" name="Notes Placeholder 2">
            <a:extLst>
              <a:ext uri="{FF2B5EF4-FFF2-40B4-BE49-F238E27FC236}">
                <a16:creationId xmlns:a16="http://schemas.microsoft.com/office/drawing/2014/main" id="{02A43DD8-3162-02AE-74BD-F805331FE3A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9A47C0E3-DD14-6506-9F69-E1DE3E82535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27EDD166-DF5B-E640-90C2-FE28AE548D5C}" type="slidenum">
              <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4037457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59928-2B24-745C-C864-AC58DD007DC5}"/>
            </a:ext>
          </a:extLst>
        </p:cNvPr>
        <p:cNvGrpSpPr/>
        <p:nvPr/>
      </p:nvGrpSpPr>
      <p:grpSpPr>
        <a:xfrm>
          <a:off x="0" y="0"/>
          <a:ext cx="0" cy="0"/>
          <a:chOff x="0" y="0"/>
          <a:chExt cx="0" cy="0"/>
        </a:xfrm>
      </p:grpSpPr>
      <p:sp>
        <p:nvSpPr>
          <p:cNvPr id="218113" name="Slide Image Placeholder 1">
            <a:extLst>
              <a:ext uri="{FF2B5EF4-FFF2-40B4-BE49-F238E27FC236}">
                <a16:creationId xmlns:a16="http://schemas.microsoft.com/office/drawing/2014/main" id="{52ACC252-90CD-8037-0E86-C0E4A6E8750C}"/>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18114" name="Notes Placeholder 2">
            <a:extLst>
              <a:ext uri="{FF2B5EF4-FFF2-40B4-BE49-F238E27FC236}">
                <a16:creationId xmlns:a16="http://schemas.microsoft.com/office/drawing/2014/main" id="{A6A7FC76-8C84-2D85-695B-4A6AFAC2DBB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tLang="en-US"/>
          </a:p>
        </p:txBody>
      </p:sp>
      <p:sp>
        <p:nvSpPr>
          <p:cNvPr id="218115" name="Slide Number Placeholder 3">
            <a:extLst>
              <a:ext uri="{FF2B5EF4-FFF2-40B4-BE49-F238E27FC236}">
                <a16:creationId xmlns:a16="http://schemas.microsoft.com/office/drawing/2014/main" id="{35977F9C-F285-A88D-326A-4830AD27DC3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D4A0B81F-8AE9-1943-AF53-E78D21B80C2F}" type="slidenum">
              <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9522585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6A61727-5893-4388-9008-C2143E22BC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DF81E613-5591-4D23-A0A6-D6157730738E}"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4</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0243" name="Rectangle 2">
            <a:extLst>
              <a:ext uri="{FF2B5EF4-FFF2-40B4-BE49-F238E27FC236}">
                <a16:creationId xmlns:a16="http://schemas.microsoft.com/office/drawing/2014/main" id="{C8BFB265-E11E-47B2-BE6B-C8A9F6A3E1F5}"/>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F62FBC9D-FE5C-4325-9C3D-F324D70ADD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DE17B393-09EE-42C6-A794-9E1A41A497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F0C90ED3-6162-407E-8955-73C5104A025A}"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4339" name="Rectangle 2">
            <a:extLst>
              <a:ext uri="{FF2B5EF4-FFF2-40B4-BE49-F238E27FC236}">
                <a16:creationId xmlns:a16="http://schemas.microsoft.com/office/drawing/2014/main" id="{35DAEE99-CE43-408C-877F-41745DB239C8}"/>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AD60ADDD-A532-4486-9CBB-71BEDF5B0C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37064-6394-FB59-307D-CA7F10800B30}"/>
            </a:ext>
          </a:extLst>
        </p:cNvPr>
        <p:cNvGrpSpPr/>
        <p:nvPr/>
      </p:nvGrpSpPr>
      <p:grpSpPr>
        <a:xfrm>
          <a:off x="0" y="0"/>
          <a:ext cx="0" cy="0"/>
          <a:chOff x="0" y="0"/>
          <a:chExt cx="0" cy="0"/>
        </a:xfrm>
      </p:grpSpPr>
      <p:sp>
        <p:nvSpPr>
          <p:cNvPr id="218113" name="Slide Image Placeholder 1">
            <a:extLst>
              <a:ext uri="{FF2B5EF4-FFF2-40B4-BE49-F238E27FC236}">
                <a16:creationId xmlns:a16="http://schemas.microsoft.com/office/drawing/2014/main" id="{0F7F770C-D7FC-E527-6B92-90D89DA03892}"/>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18114" name="Notes Placeholder 2">
            <a:extLst>
              <a:ext uri="{FF2B5EF4-FFF2-40B4-BE49-F238E27FC236}">
                <a16:creationId xmlns:a16="http://schemas.microsoft.com/office/drawing/2014/main" id="{A5833863-0552-9A23-4FA2-4205614BDBC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tLang="en-US"/>
          </a:p>
        </p:txBody>
      </p:sp>
      <p:sp>
        <p:nvSpPr>
          <p:cNvPr id="218115" name="Slide Number Placeholder 3">
            <a:extLst>
              <a:ext uri="{FF2B5EF4-FFF2-40B4-BE49-F238E27FC236}">
                <a16:creationId xmlns:a16="http://schemas.microsoft.com/office/drawing/2014/main" id="{8A042577-679E-FEEC-49DE-EBBDABFE04E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D4A0B81F-8AE9-1943-AF53-E78D21B80C2F}" type="slidenum">
              <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5113241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6321B667-9A45-42B8-9A88-05CCA7CE45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2F219423-C9AB-4B43-A997-58F863D1912F}"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8195" name="Rectangle 2">
            <a:extLst>
              <a:ext uri="{FF2B5EF4-FFF2-40B4-BE49-F238E27FC236}">
                <a16:creationId xmlns:a16="http://schemas.microsoft.com/office/drawing/2014/main" id="{23F8EC89-E9A1-405D-981C-52FF1AF2496B}"/>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E27EED68-434D-49BF-B488-F849812758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D737C83C-5231-400C-ABAC-E802D57250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276960B5-CD0D-4E77-9549-F0BE319614AF}"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0243" name="Rectangle 2">
            <a:extLst>
              <a:ext uri="{FF2B5EF4-FFF2-40B4-BE49-F238E27FC236}">
                <a16:creationId xmlns:a16="http://schemas.microsoft.com/office/drawing/2014/main" id="{9C02F081-F3E5-4E82-A506-8249FCC7EAD5}"/>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E01E14C4-E8D3-4EF2-AE91-C909FDE038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E0B70E7C-6BD0-4B47-846B-BDFA05BE3F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91FFDD60-6F1F-41F9-AE11-E0C93AB48046}"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2291" name="Rectangle 2">
            <a:extLst>
              <a:ext uri="{FF2B5EF4-FFF2-40B4-BE49-F238E27FC236}">
                <a16:creationId xmlns:a16="http://schemas.microsoft.com/office/drawing/2014/main" id="{09056EE3-D9C5-4A86-BC14-5FA042746930}"/>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9C850731-90E0-4872-BC7B-AD10870C11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F32DA4FD-03E3-4ADF-B51F-ED6C5C47E1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28F12D1A-C6EE-4D7C-AC44-7E505EC7AF9A}"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4339" name="Rectangle 2">
            <a:extLst>
              <a:ext uri="{FF2B5EF4-FFF2-40B4-BE49-F238E27FC236}">
                <a16:creationId xmlns:a16="http://schemas.microsoft.com/office/drawing/2014/main" id="{0DF77218-C772-4D7B-9568-C8F8165B99E5}"/>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D40D1FB1-38D3-4CD0-9B4F-E6C0968214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D0482A31-2272-4E6D-88CF-8A3A657D1E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54B71EC1-98C8-4C1B-A7B7-2EA1784A50B7}"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6387" name="Rectangle 2">
            <a:extLst>
              <a:ext uri="{FF2B5EF4-FFF2-40B4-BE49-F238E27FC236}">
                <a16:creationId xmlns:a16="http://schemas.microsoft.com/office/drawing/2014/main" id="{0178B70B-A1FF-4B51-87E4-9FB5C80155D5}"/>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422DA72A-EB36-4112-96CC-ADB4B4E9BB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3152DB3B-E3D4-4EB9-891D-3AFF2DD1D4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9217FA94-1851-4A4F-882F-690D434D5664}"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8435" name="Rectangle 2">
            <a:extLst>
              <a:ext uri="{FF2B5EF4-FFF2-40B4-BE49-F238E27FC236}">
                <a16:creationId xmlns:a16="http://schemas.microsoft.com/office/drawing/2014/main" id="{AAF0C87B-A3AD-4535-996D-565146AFE9C0}"/>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CC7946C1-AA22-4D30-A389-86F48E7982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88A60A3C-83B9-4899-851B-E58271EE25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8F2A6619-26FC-4C2B-BBB5-BE9514BF1391}"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20483" name="Rectangle 2">
            <a:extLst>
              <a:ext uri="{FF2B5EF4-FFF2-40B4-BE49-F238E27FC236}">
                <a16:creationId xmlns:a16="http://schemas.microsoft.com/office/drawing/2014/main" id="{19CE9E0F-6018-43CB-B763-D2A60ACCC8C4}"/>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FE9F0D31-793C-457E-82A5-88A01D82B9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28C1544A-10C5-41D5-BE9F-0F5FFAC90E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B858AEBB-0155-4B61-8D5B-283345223885}"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22531" name="Rectangle 2">
            <a:extLst>
              <a:ext uri="{FF2B5EF4-FFF2-40B4-BE49-F238E27FC236}">
                <a16:creationId xmlns:a16="http://schemas.microsoft.com/office/drawing/2014/main" id="{D6171361-ED55-4304-B92D-1B39E353D0B6}"/>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731805C8-25FE-4591-82A9-583FCE3F77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E15551B6-F202-41C7-9919-C9D7CFDD0F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3C98B507-36CD-452D-B3F8-31AD42CE15FF}"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24579" name="Rectangle 2">
            <a:extLst>
              <a:ext uri="{FF2B5EF4-FFF2-40B4-BE49-F238E27FC236}">
                <a16:creationId xmlns:a16="http://schemas.microsoft.com/office/drawing/2014/main" id="{A97D8762-D09A-4267-9D70-BE56B46690D3}"/>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C64E75D3-B753-40E5-8669-F958D69C70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B0FCF47F-4348-498B-B820-B9B73C6D58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CEF0E0E8-D17B-41A3-B753-2245199CBB30}"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26627" name="Rectangle 2">
            <a:extLst>
              <a:ext uri="{FF2B5EF4-FFF2-40B4-BE49-F238E27FC236}">
                <a16:creationId xmlns:a16="http://schemas.microsoft.com/office/drawing/2014/main" id="{E6EC2138-3D91-405A-B29F-B1C527799DDB}"/>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77519BCB-959F-4CA7-86A5-A3590C17A1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CBC8D124-B136-42BA-B33A-1DF2378A5F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543A896A-CD88-45BB-883A-A5A6ACCFC261}"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28675" name="Rectangle 2">
            <a:extLst>
              <a:ext uri="{FF2B5EF4-FFF2-40B4-BE49-F238E27FC236}">
                <a16:creationId xmlns:a16="http://schemas.microsoft.com/office/drawing/2014/main" id="{D0E5C191-44C7-4313-85F7-8BD71D8C9317}"/>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F12ECE34-0B14-4777-B117-F516895DED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B375F6E7-BF43-423E-9E8D-8524F7B1F7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AE8B0E96-3F79-4205-B0CE-221B7F97329C}"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30723" name="Rectangle 2">
            <a:extLst>
              <a:ext uri="{FF2B5EF4-FFF2-40B4-BE49-F238E27FC236}">
                <a16:creationId xmlns:a16="http://schemas.microsoft.com/office/drawing/2014/main" id="{F61EE5A8-966A-41BB-B726-B2C48308DB8E}"/>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C1EC76AA-7316-448A-A891-5E3CEF9330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B375F6E7-BF43-423E-9E8D-8524F7B1F7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AE8B0E96-3F79-4205-B0CE-221B7F97329C}"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30723" name="Rectangle 2">
            <a:extLst>
              <a:ext uri="{FF2B5EF4-FFF2-40B4-BE49-F238E27FC236}">
                <a16:creationId xmlns:a16="http://schemas.microsoft.com/office/drawing/2014/main" id="{F61EE5A8-966A-41BB-B726-B2C48308DB8E}"/>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C1EC76AA-7316-448A-A891-5E3CEF9330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238568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B375F6E7-BF43-423E-9E8D-8524F7B1F7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AE8B0E96-3F79-4205-B0CE-221B7F97329C}"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30723" name="Rectangle 2">
            <a:extLst>
              <a:ext uri="{FF2B5EF4-FFF2-40B4-BE49-F238E27FC236}">
                <a16:creationId xmlns:a16="http://schemas.microsoft.com/office/drawing/2014/main" id="{F61EE5A8-966A-41BB-B726-B2C48308DB8E}"/>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C1EC76AA-7316-448A-A891-5E3CEF9330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How about </a:t>
            </a:r>
            <a:r>
              <a:rPr lang="en-US" altLang="en-US">
                <a:sym typeface="Greek Symbols" pitchFamily="18" charset="2"/>
              </a:rPr>
              <a:t>(r </a:t>
            </a:r>
            <a:r>
              <a:rPr lang="en-IN"/>
              <a:t>⟕ s) ⟕ t  vs </a:t>
            </a:r>
            <a:r>
              <a:rPr lang="en-US" altLang="en-US">
                <a:sym typeface="Greek Symbols" pitchFamily="18" charset="2"/>
              </a:rPr>
              <a:t>(r </a:t>
            </a:r>
            <a:r>
              <a:rPr lang="en-IN"/>
              <a:t>⟕ t) ⟕ s assuming r has common attributes with s and t?  Hint: consider 2 cases where s and t have common attributes and those where they have no common attribute </a:t>
            </a:r>
            <a:endParaRPr lang="en-US" altLang="en-US">
              <a:latin typeface="Times New Roman" panose="02020603050405020304" pitchFamily="18" charset="0"/>
            </a:endParaRPr>
          </a:p>
        </p:txBody>
      </p:sp>
    </p:spTree>
    <p:extLst>
      <p:ext uri="{BB962C8B-B14F-4D97-AF65-F5344CB8AC3E}">
        <p14:creationId xmlns:p14="http://schemas.microsoft.com/office/powerpoint/2010/main" val="20964848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9047973B-0933-4747-BC7D-DC93B515F7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06076AEA-D4D8-443A-B94D-3E3B52B66C93}"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38915" name="Rectangle 2">
            <a:extLst>
              <a:ext uri="{FF2B5EF4-FFF2-40B4-BE49-F238E27FC236}">
                <a16:creationId xmlns:a16="http://schemas.microsoft.com/office/drawing/2014/main" id="{094E1CE2-39F3-415A-A9D3-7A1485FAB11B}"/>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9618E90F-7E5F-432A-A700-F2B7700B1C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371AD5BA-2A20-45B1-B5ED-8C53DA2ECC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D7A7E811-F856-4583-9950-8E1234DCF49C}"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40963" name="Rectangle 2">
            <a:extLst>
              <a:ext uri="{FF2B5EF4-FFF2-40B4-BE49-F238E27FC236}">
                <a16:creationId xmlns:a16="http://schemas.microsoft.com/office/drawing/2014/main" id="{294988F5-3980-4401-8BEA-49271D3F2BC3}"/>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1081064C-90F0-4D6B-84C2-C2B908F487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DC3B6426-DEBD-439A-B825-EAF23D531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D3591014-7458-4460-9DFD-89B1944A3F9E}"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43011" name="Rectangle 2">
            <a:extLst>
              <a:ext uri="{FF2B5EF4-FFF2-40B4-BE49-F238E27FC236}">
                <a16:creationId xmlns:a16="http://schemas.microsoft.com/office/drawing/2014/main" id="{86B845D5-6C90-4896-8EFD-B2EEDA235B7F}"/>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0ADE95A0-2975-4AFA-9BF4-3B9DD6F099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0704F009-3D51-4C12-ADD5-A92556FDEB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5A4F0F59-CA50-4DDE-B670-499E64C342ED}"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45059" name="Rectangle 2">
            <a:extLst>
              <a:ext uri="{FF2B5EF4-FFF2-40B4-BE49-F238E27FC236}">
                <a16:creationId xmlns:a16="http://schemas.microsoft.com/office/drawing/2014/main" id="{802C35DC-9644-47A0-A511-5C011EF6CF5A}"/>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8EA22417-65CB-4CAA-9F03-4A2CC240A4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8640E601-E447-4EA9-8E5B-261D289D72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31BC6F3F-3101-443A-9932-59D410DB72C2}"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33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47107" name="Rectangle 2">
            <a:extLst>
              <a:ext uri="{FF2B5EF4-FFF2-40B4-BE49-F238E27FC236}">
                <a16:creationId xmlns:a16="http://schemas.microsoft.com/office/drawing/2014/main" id="{EB6B35C0-D563-464E-8DD0-1467C17E1176}"/>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59CA3D8A-3E47-403D-9CF5-59912AA4EF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03C188B3-A46D-44EC-BBED-E180A2EEEA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F6DDAB6A-6145-44B6-8CC9-B34BECF16AE0}"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34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49155" name="Rectangle 2">
            <a:extLst>
              <a:ext uri="{FF2B5EF4-FFF2-40B4-BE49-F238E27FC236}">
                <a16:creationId xmlns:a16="http://schemas.microsoft.com/office/drawing/2014/main" id="{38C02448-FBA7-4F1D-93CC-8D33FFE4CBAB}"/>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DEEE7383-E30A-4C27-985A-259DE8AF32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99DAD2C2-02CA-410F-9747-535A391D1E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0FF631D1-8BF0-4D43-A038-0CCB2780AD80}"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35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55299" name="Rectangle 2">
            <a:extLst>
              <a:ext uri="{FF2B5EF4-FFF2-40B4-BE49-F238E27FC236}">
                <a16:creationId xmlns:a16="http://schemas.microsoft.com/office/drawing/2014/main" id="{B8D9A3CC-B793-4BD1-92A4-0520D4E33D34}"/>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E2880CCD-EC1F-44F1-A82B-9B6F2E4CDF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B71F9817-AE90-43BC-B9F6-0E83DBE356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5AE47EE8-3D78-4D31-A06E-E02CB864D6BF}"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36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70659" name="Rectangle 2">
            <a:extLst>
              <a:ext uri="{FF2B5EF4-FFF2-40B4-BE49-F238E27FC236}">
                <a16:creationId xmlns:a16="http://schemas.microsoft.com/office/drawing/2014/main" id="{2A8AC900-14A0-453C-BEE3-4D571CA98DBE}"/>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C16CDD18-4DDB-4796-9237-3BEB1B4BDB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B8E1D179-B9D0-48F6-B6D0-CA0943E584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387635B1-A065-42E2-B3DD-0514E4CC0D92}"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37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72707" name="Rectangle 2">
            <a:extLst>
              <a:ext uri="{FF2B5EF4-FFF2-40B4-BE49-F238E27FC236}">
                <a16:creationId xmlns:a16="http://schemas.microsoft.com/office/drawing/2014/main" id="{6261093E-637A-458C-94AC-5E33FAC54E61}"/>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DADF86CC-0D28-4363-A6D7-10D10E9193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1ECC75F1-FF96-44EB-9E57-7B4029AEEE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5918ACC0-49F8-47AD-970F-E6ED5878580B}"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38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74755" name="Rectangle 2">
            <a:extLst>
              <a:ext uri="{FF2B5EF4-FFF2-40B4-BE49-F238E27FC236}">
                <a16:creationId xmlns:a16="http://schemas.microsoft.com/office/drawing/2014/main" id="{94DFE4F3-2356-4D53-BC8E-C847746CD5EF}"/>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57C376C0-3BE1-415B-9426-66FD918A09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FABB337A-7416-4EA0-B63B-3F3E233AD1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8C5B2E15-168D-404D-B3E5-D811B39D72AB}"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40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76803" name="Rectangle 2">
            <a:extLst>
              <a:ext uri="{FF2B5EF4-FFF2-40B4-BE49-F238E27FC236}">
                <a16:creationId xmlns:a16="http://schemas.microsoft.com/office/drawing/2014/main" id="{38E8E170-8726-477F-A246-82382BBD6D26}"/>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8ECF24F5-E536-40B5-A388-459BFDBDDC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83559CD3-DE10-4005-9316-DA78585EA0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8213" rtl="0" eaLnBrk="0" fontAlgn="base" latinLnBrk="0" hangingPunct="0">
              <a:lnSpc>
                <a:spcPct val="100000"/>
              </a:lnSpc>
              <a:spcBef>
                <a:spcPct val="0"/>
              </a:spcBef>
              <a:spcAft>
                <a:spcPct val="0"/>
              </a:spcAft>
              <a:buClrTx/>
              <a:buSzTx/>
              <a:buFontTx/>
              <a:buNone/>
              <a:tabLst/>
              <a:defRPr/>
            </a:pPr>
            <a:fld id="{7BDC10EE-63E0-4227-A36A-67C2F043110C}"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8213" rtl="0" eaLnBrk="0" fontAlgn="base" latinLnBrk="0" hangingPunct="0">
                <a:lnSpc>
                  <a:spcPct val="100000"/>
                </a:lnSpc>
                <a:spcBef>
                  <a:spcPct val="0"/>
                </a:spcBef>
                <a:spcAft>
                  <a:spcPct val="0"/>
                </a:spcAft>
                <a:buClrTx/>
                <a:buSzTx/>
                <a:buFontTx/>
                <a:buNone/>
                <a:tabLst/>
                <a:defRPr/>
              </a:pPr>
              <a:t>41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78851" name="Rectangle 2">
            <a:extLst>
              <a:ext uri="{FF2B5EF4-FFF2-40B4-BE49-F238E27FC236}">
                <a16:creationId xmlns:a16="http://schemas.microsoft.com/office/drawing/2014/main" id="{C7D3DFD0-427F-437C-952B-2FFAA5FBDA40}"/>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2C53DDDB-BBE4-4830-A772-48EB4E4562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www.db-book.com/" TargetMode="External"/><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www.db-book.com/" TargetMode="Externa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www.db-book.com/" TargetMode="Externa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www.db-book.com/" TargetMode="External"/><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www.db-book.com/" TargetMode="Externa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90550"/>
            <a:ext cx="8839200" cy="4038600"/>
          </a:xfrm>
          <a:prstGeom prst="rect">
            <a:avLst/>
          </a:prstGeo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F05F4A72-606B-984B-907B-5BEA9B53E5C0}"/>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Tree>
    <p:extLst>
      <p:ext uri="{BB962C8B-B14F-4D97-AF65-F5344CB8AC3E}">
        <p14:creationId xmlns:p14="http://schemas.microsoft.com/office/powerpoint/2010/main" val="26876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a">
    <p:spTree>
      <p:nvGrpSpPr>
        <p:cNvPr id="1" name=""/>
        <p:cNvGrpSpPr/>
        <p:nvPr/>
      </p:nvGrpSpPr>
      <p:grpSpPr>
        <a:xfrm>
          <a:off x="0" y="0"/>
          <a:ext cx="0" cy="0"/>
          <a:chOff x="0" y="0"/>
          <a:chExt cx="0" cy="0"/>
        </a:xfrm>
      </p:grpSpPr>
      <p:sp>
        <p:nvSpPr>
          <p:cNvPr id="7" name="Title 1"/>
          <p:cNvSpPr txBox="1">
            <a:spLocks/>
          </p:cNvSpPr>
          <p:nvPr userDrawn="1"/>
        </p:nvSpPr>
        <p:spPr>
          <a:xfrm>
            <a:off x="152400" y="895350"/>
            <a:ext cx="6934200" cy="457200"/>
          </a:xfrm>
          <a:prstGeom prst="rect">
            <a:avLst/>
          </a:prstGeom>
        </p:spPr>
        <p:txBody>
          <a:bodyPr/>
          <a:lst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a:lstStyle>
          <a:p>
            <a:pPr algn="l"/>
            <a:r>
              <a:rPr lang="en-US" sz="2800" dirty="0">
                <a:solidFill>
                  <a:schemeClr val="bg1"/>
                </a:solidFill>
              </a:rPr>
              <a:t>Click to edit Master title style</a:t>
            </a:r>
          </a:p>
        </p:txBody>
      </p:sp>
      <p:sp>
        <p:nvSpPr>
          <p:cNvPr id="3" name="Title 1">
            <a:extLst>
              <a:ext uri="{FF2B5EF4-FFF2-40B4-BE49-F238E27FC236}">
                <a16:creationId xmlns:a16="http://schemas.microsoft.com/office/drawing/2014/main" id="{FFB43658-48CD-764C-86BF-302575415EF4}"/>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
        <p:nvSpPr>
          <p:cNvPr id="4" name="Content Placeholder 2">
            <a:extLst>
              <a:ext uri="{FF2B5EF4-FFF2-40B4-BE49-F238E27FC236}">
                <a16:creationId xmlns:a16="http://schemas.microsoft.com/office/drawing/2014/main" id="{FF6F2A81-D24A-A44F-8915-B9DC7FC2AE67}"/>
              </a:ext>
            </a:extLst>
          </p:cNvPr>
          <p:cNvSpPr>
            <a:spLocks noGrp="1"/>
          </p:cNvSpPr>
          <p:nvPr>
            <p:ph idx="1"/>
          </p:nvPr>
        </p:nvSpPr>
        <p:spPr>
          <a:xfrm>
            <a:off x="152400"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0D255CA6-4B6D-7842-85B8-A423C0C60A30}"/>
              </a:ext>
            </a:extLst>
          </p:cNvPr>
          <p:cNvSpPr>
            <a:spLocks noGrp="1"/>
          </p:cNvSpPr>
          <p:nvPr>
            <p:ph idx="10"/>
          </p:nvPr>
        </p:nvSpPr>
        <p:spPr>
          <a:xfrm>
            <a:off x="4606103"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9264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35744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4637"/>
          </a:xfrm>
          <a:prstGeom prst="rect">
            <a:avLst/>
          </a:prstGeom>
        </p:spPr>
        <p:txBody>
          <a:bodyPr/>
          <a:lstStyle>
            <a:lvl1pPr>
              <a:defRPr/>
            </a:lvl1pPr>
          </a:lstStyle>
          <a:p>
            <a:fld id="{80CC6A0C-5777-6141-8161-40A51E54DA25}" type="datetimeFigureOut">
              <a:rPr lang="en-US" altLang="en-US"/>
              <a:pPr/>
              <a:t>11/29/25</a:t>
            </a:fld>
            <a:endParaRPr lang="en-US" altLang="en-US"/>
          </a:p>
        </p:txBody>
      </p:sp>
      <p:sp>
        <p:nvSpPr>
          <p:cNvPr id="6" name="Footer Placeholder 5"/>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4767263"/>
            <a:ext cx="2133600" cy="274637"/>
          </a:xfrm>
          <a:prstGeom prst="rect">
            <a:avLst/>
          </a:prstGeom>
        </p:spPr>
        <p:txBody>
          <a:bodyPr/>
          <a:lstStyle>
            <a:lvl1pPr>
              <a:defRPr/>
            </a:lvl1pPr>
          </a:lstStyle>
          <a:p>
            <a:fld id="{BB1B0572-E7E6-434E-BFB5-5CD3555E83A4}" type="slidenum">
              <a:rPr lang="en-US" altLang="en-US"/>
              <a:pPr/>
              <a:t>‹#›</a:t>
            </a:fld>
            <a:endParaRPr lang="en-US" altLang="en-US">
              <a:solidFill>
                <a:srgbClr val="88A44D"/>
              </a:solidFill>
            </a:endParaRPr>
          </a:p>
        </p:txBody>
      </p:sp>
    </p:spTree>
    <p:extLst>
      <p:ext uri="{BB962C8B-B14F-4D97-AF65-F5344CB8AC3E}">
        <p14:creationId xmlns:p14="http://schemas.microsoft.com/office/powerpoint/2010/main" val="878251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01FA5FD1-732F-9047-B0F4-603D0EAC5CB0}" type="datetimeFigureOut">
              <a:rPr lang="en-US" altLang="en-US"/>
              <a:pPr/>
              <a:t>11/29/25</a:t>
            </a:fld>
            <a:endParaRPr lang="en-US" altLang="en-US"/>
          </a:p>
        </p:txBody>
      </p:sp>
      <p:sp>
        <p:nvSpPr>
          <p:cNvPr id="6"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3DBB9D51-EA15-824B-AFBA-C5CFF763538D}" type="slidenum">
              <a:rPr lang="en-US" altLang="en-US"/>
              <a:pPr/>
              <a:t>‹#›</a:t>
            </a:fld>
            <a:endParaRPr lang="en-US" altLang="en-US"/>
          </a:p>
        </p:txBody>
      </p:sp>
    </p:spTree>
    <p:extLst>
      <p:ext uri="{BB962C8B-B14F-4D97-AF65-F5344CB8AC3E}">
        <p14:creationId xmlns:p14="http://schemas.microsoft.com/office/powerpoint/2010/main" val="11087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200150"/>
            <a:ext cx="8229600" cy="339407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D56D54B9-89B7-A248-9210-3C9346164D0F}" type="datetimeFigureOut">
              <a:rPr lang="en-US" altLang="en-US"/>
              <a:pPr/>
              <a:t>11/29/25</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B5559CE1-75A0-2043-A1BB-26E32B46DEB8}" type="slidenum">
              <a:rPr lang="en-US" altLang="en-US"/>
              <a:pPr/>
              <a:t>‹#›</a:t>
            </a:fld>
            <a:endParaRPr lang="en-US" altLang="en-US"/>
          </a:p>
        </p:txBody>
      </p:sp>
    </p:spTree>
    <p:extLst>
      <p:ext uri="{BB962C8B-B14F-4D97-AF65-F5344CB8AC3E}">
        <p14:creationId xmlns:p14="http://schemas.microsoft.com/office/powerpoint/2010/main" val="1656220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EBE5339B-726A-CF41-B4A0-6109F9D8F0EB}" type="datetimeFigureOut">
              <a:rPr lang="en-US" altLang="en-US"/>
              <a:pPr/>
              <a:t>11/29/25</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D5ED28FB-5F5E-B441-A1E3-774C424C6E37}" type="slidenum">
              <a:rPr lang="en-US" altLang="en-US"/>
              <a:pPr/>
              <a:t>‹#›</a:t>
            </a:fld>
            <a:endParaRPr lang="en-US" altLang="en-US"/>
          </a:p>
        </p:txBody>
      </p:sp>
    </p:spTree>
    <p:extLst>
      <p:ext uri="{BB962C8B-B14F-4D97-AF65-F5344CB8AC3E}">
        <p14:creationId xmlns:p14="http://schemas.microsoft.com/office/powerpoint/2010/main" val="413398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90550"/>
            <a:ext cx="8839200" cy="4038600"/>
          </a:xfrm>
          <a:prstGeom prst="rect">
            <a:avLst/>
          </a:prstGeo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F05F4A72-606B-984B-907B-5BEA9B53E5C0}"/>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Tree>
    <p:extLst>
      <p:ext uri="{BB962C8B-B14F-4D97-AF65-F5344CB8AC3E}">
        <p14:creationId xmlns:p14="http://schemas.microsoft.com/office/powerpoint/2010/main" val="2231296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a">
    <p:spTree>
      <p:nvGrpSpPr>
        <p:cNvPr id="1" name=""/>
        <p:cNvGrpSpPr/>
        <p:nvPr/>
      </p:nvGrpSpPr>
      <p:grpSpPr>
        <a:xfrm>
          <a:off x="0" y="0"/>
          <a:ext cx="0" cy="0"/>
          <a:chOff x="0" y="0"/>
          <a:chExt cx="0" cy="0"/>
        </a:xfrm>
      </p:grpSpPr>
      <p:sp>
        <p:nvSpPr>
          <p:cNvPr id="7" name="Title 1"/>
          <p:cNvSpPr txBox="1">
            <a:spLocks/>
          </p:cNvSpPr>
          <p:nvPr userDrawn="1"/>
        </p:nvSpPr>
        <p:spPr>
          <a:xfrm>
            <a:off x="152400" y="895350"/>
            <a:ext cx="6934200" cy="457200"/>
          </a:xfrm>
          <a:prstGeom prst="rect">
            <a:avLst/>
          </a:prstGeom>
        </p:spPr>
        <p:txBody>
          <a:bodyPr/>
          <a:lst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a:lstStyle>
          <a:p>
            <a:pPr algn="l"/>
            <a:r>
              <a:rPr lang="en-US" sz="2800" dirty="0">
                <a:solidFill>
                  <a:schemeClr val="bg1"/>
                </a:solidFill>
              </a:rPr>
              <a:t>Click to edit Master title style</a:t>
            </a:r>
          </a:p>
        </p:txBody>
      </p:sp>
      <p:sp>
        <p:nvSpPr>
          <p:cNvPr id="3" name="Title 1">
            <a:extLst>
              <a:ext uri="{FF2B5EF4-FFF2-40B4-BE49-F238E27FC236}">
                <a16:creationId xmlns:a16="http://schemas.microsoft.com/office/drawing/2014/main" id="{FFB43658-48CD-764C-86BF-302575415EF4}"/>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
        <p:nvSpPr>
          <p:cNvPr id="4" name="Content Placeholder 2">
            <a:extLst>
              <a:ext uri="{FF2B5EF4-FFF2-40B4-BE49-F238E27FC236}">
                <a16:creationId xmlns:a16="http://schemas.microsoft.com/office/drawing/2014/main" id="{FF6F2A81-D24A-A44F-8915-B9DC7FC2AE67}"/>
              </a:ext>
            </a:extLst>
          </p:cNvPr>
          <p:cNvSpPr>
            <a:spLocks noGrp="1"/>
          </p:cNvSpPr>
          <p:nvPr>
            <p:ph idx="1"/>
          </p:nvPr>
        </p:nvSpPr>
        <p:spPr>
          <a:xfrm>
            <a:off x="152400"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0D255CA6-4B6D-7842-85B8-A423C0C60A30}"/>
              </a:ext>
            </a:extLst>
          </p:cNvPr>
          <p:cNvSpPr>
            <a:spLocks noGrp="1"/>
          </p:cNvSpPr>
          <p:nvPr>
            <p:ph idx="10"/>
          </p:nvPr>
        </p:nvSpPr>
        <p:spPr>
          <a:xfrm>
            <a:off x="4606103"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559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340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4637"/>
          </a:xfrm>
          <a:prstGeom prst="rect">
            <a:avLst/>
          </a:prstGeom>
        </p:spPr>
        <p:txBody>
          <a:bodyPr/>
          <a:lstStyle>
            <a:lvl1pPr>
              <a:defRPr/>
            </a:lvl1pPr>
          </a:lstStyle>
          <a:p>
            <a:fld id="{80CC6A0C-5777-6141-8161-40A51E54DA25}" type="datetimeFigureOut">
              <a:rPr lang="en-US" altLang="en-US"/>
              <a:pPr/>
              <a:t>11/29/25</a:t>
            </a:fld>
            <a:endParaRPr lang="en-US" altLang="en-US"/>
          </a:p>
        </p:txBody>
      </p:sp>
      <p:sp>
        <p:nvSpPr>
          <p:cNvPr id="6" name="Footer Placeholder 5"/>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4767263"/>
            <a:ext cx="2133600" cy="274637"/>
          </a:xfrm>
          <a:prstGeom prst="rect">
            <a:avLst/>
          </a:prstGeom>
        </p:spPr>
        <p:txBody>
          <a:bodyPr/>
          <a:lstStyle>
            <a:lvl1pPr>
              <a:defRPr/>
            </a:lvl1pPr>
          </a:lstStyle>
          <a:p>
            <a:fld id="{BB1B0572-E7E6-434E-BFB5-5CD3555E83A4}" type="slidenum">
              <a:rPr lang="en-US" altLang="en-US"/>
              <a:pPr/>
              <a:t>‹#›</a:t>
            </a:fld>
            <a:endParaRPr lang="en-US" altLang="en-US">
              <a:solidFill>
                <a:srgbClr val="88A44D"/>
              </a:solidFill>
            </a:endParaRPr>
          </a:p>
        </p:txBody>
      </p:sp>
    </p:spTree>
    <p:extLst>
      <p:ext uri="{BB962C8B-B14F-4D97-AF65-F5344CB8AC3E}">
        <p14:creationId xmlns:p14="http://schemas.microsoft.com/office/powerpoint/2010/main" val="41071679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01FA5FD1-732F-9047-B0F4-603D0EAC5CB0}" type="datetimeFigureOut">
              <a:rPr lang="en-US" altLang="en-US"/>
              <a:pPr/>
              <a:t>11/29/25</a:t>
            </a:fld>
            <a:endParaRPr lang="en-US" altLang="en-US"/>
          </a:p>
        </p:txBody>
      </p:sp>
      <p:sp>
        <p:nvSpPr>
          <p:cNvPr id="6"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3DBB9D51-EA15-824B-AFBA-C5CFF763538D}" type="slidenum">
              <a:rPr lang="en-US" altLang="en-US"/>
              <a:pPr/>
              <a:t>‹#›</a:t>
            </a:fld>
            <a:endParaRPr lang="en-US" altLang="en-US"/>
          </a:p>
        </p:txBody>
      </p:sp>
    </p:spTree>
    <p:extLst>
      <p:ext uri="{BB962C8B-B14F-4D97-AF65-F5344CB8AC3E}">
        <p14:creationId xmlns:p14="http://schemas.microsoft.com/office/powerpoint/2010/main" val="18290535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200150"/>
            <a:ext cx="8229600" cy="339407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D56D54B9-89B7-A248-9210-3C9346164D0F}" type="datetimeFigureOut">
              <a:rPr lang="en-US" altLang="en-US"/>
              <a:pPr/>
              <a:t>11/29/25</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B5559CE1-75A0-2043-A1BB-26E32B46DEB8}" type="slidenum">
              <a:rPr lang="en-US" altLang="en-US"/>
              <a:pPr/>
              <a:t>‹#›</a:t>
            </a:fld>
            <a:endParaRPr lang="en-US" altLang="en-US"/>
          </a:p>
        </p:txBody>
      </p:sp>
    </p:spTree>
    <p:extLst>
      <p:ext uri="{BB962C8B-B14F-4D97-AF65-F5344CB8AC3E}">
        <p14:creationId xmlns:p14="http://schemas.microsoft.com/office/powerpoint/2010/main" val="34527955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EBE5339B-726A-CF41-B4A0-6109F9D8F0EB}" type="datetimeFigureOut">
              <a:rPr lang="en-US" altLang="en-US"/>
              <a:pPr/>
              <a:t>11/29/25</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D5ED28FB-5F5E-B441-A1E3-774C424C6E37}" type="slidenum">
              <a:rPr lang="en-US" altLang="en-US"/>
              <a:pPr/>
              <a:t>‹#›</a:t>
            </a:fld>
            <a:endParaRPr lang="en-US" altLang="en-US"/>
          </a:p>
        </p:txBody>
      </p:sp>
    </p:spTree>
    <p:extLst>
      <p:ext uri="{BB962C8B-B14F-4D97-AF65-F5344CB8AC3E}">
        <p14:creationId xmlns:p14="http://schemas.microsoft.com/office/powerpoint/2010/main" val="618677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itle_and_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855358"/>
            <a:ext cx="8279946" cy="387798"/>
          </a:xfrm>
          <a:prstGeom prst="rect">
            <a:avLst/>
          </a:prstGeom>
        </p:spPr>
        <p:txBody>
          <a:bodyPr wrap="square" anchor="t"/>
          <a:lstStyle>
            <a:lvl1pPr>
              <a:lnSpc>
                <a:spcPct val="90000"/>
              </a:lnSpc>
              <a:defRPr sz="2800" b="0">
                <a:solidFill>
                  <a:schemeClr val="accent1"/>
                </a:solidFill>
                <a:latin typeface="Century Schoolbook" charset="0"/>
                <a:ea typeface="Century Schoolbook" charset="0"/>
                <a:cs typeface="Century Schoolbook" charset="0"/>
              </a:defRPr>
            </a:lvl1pPr>
          </a:lstStyle>
          <a:p>
            <a:r>
              <a:rPr lang="en-US" dirty="0"/>
              <a:t>Click to edit master title </a:t>
            </a:r>
          </a:p>
        </p:txBody>
      </p:sp>
      <p:sp>
        <p:nvSpPr>
          <p:cNvPr id="3" name="Content Placeholder 2"/>
          <p:cNvSpPr>
            <a:spLocks noGrp="1"/>
          </p:cNvSpPr>
          <p:nvPr>
            <p:ph sz="half" idx="1" hasCustomPrompt="1"/>
          </p:nvPr>
        </p:nvSpPr>
        <p:spPr>
          <a:xfrm>
            <a:off x="457200" y="969264"/>
            <a:ext cx="8267140" cy="3545980"/>
          </a:xfrm>
          <a:prstGeom prst="rect">
            <a:avLst/>
          </a:prstGeom>
        </p:spPr>
        <p:txBody>
          <a:bodyPr lIns="0" tIns="0" rIns="0" bIns="0">
            <a:normAutofit/>
          </a:bodyPr>
          <a:lstStyle>
            <a:lvl1pPr>
              <a:spcBef>
                <a:spcPts val="1200"/>
              </a:spcBef>
              <a:spcAft>
                <a:spcPts val="0"/>
              </a:spcAft>
              <a:defRPr sz="1800">
                <a:solidFill>
                  <a:schemeClr val="tx1"/>
                </a:solidFill>
                <a:latin typeface="Century Schoolbook" charset="0"/>
                <a:ea typeface="Century Schoolbook" charset="0"/>
                <a:cs typeface="Century Schoolbook" charset="0"/>
              </a:defRPr>
            </a:lvl1pPr>
            <a:lvl2pPr>
              <a:spcBef>
                <a:spcPts val="300"/>
              </a:spcBef>
              <a:spcAft>
                <a:spcPts val="0"/>
              </a:spcAft>
              <a:buFont typeface="Museo Sans For Dell" pitchFamily="2" charset="0"/>
              <a:buChar char="–"/>
              <a:defRPr sz="1600">
                <a:solidFill>
                  <a:schemeClr val="tx1"/>
                </a:solidFill>
                <a:latin typeface="Century Schoolbook" charset="0"/>
                <a:ea typeface="Century Schoolbook" charset="0"/>
                <a:cs typeface="Century Schoolbook" charset="0"/>
              </a:defRPr>
            </a:lvl2pPr>
            <a:lvl3pPr>
              <a:spcBef>
                <a:spcPts val="300"/>
              </a:spcBef>
              <a:spcAft>
                <a:spcPts val="0"/>
              </a:spcAft>
              <a:defRPr sz="1400">
                <a:solidFill>
                  <a:schemeClr val="tx1"/>
                </a:solidFill>
                <a:latin typeface="Century Schoolbook" charset="0"/>
                <a:ea typeface="Century Schoolbook" charset="0"/>
                <a:cs typeface="Century Schoolbook" charset="0"/>
              </a:defRPr>
            </a:lvl3pPr>
            <a:lvl4pPr>
              <a:spcBef>
                <a:spcPts val="300"/>
              </a:spcBef>
              <a:spcAft>
                <a:spcPts val="0"/>
              </a:spcAft>
              <a:defRPr sz="1200" baseline="0">
                <a:solidFill>
                  <a:schemeClr val="tx1"/>
                </a:solidFill>
                <a:latin typeface="Century Schoolbook" charset="0"/>
                <a:ea typeface="Century Schoolbook" charset="0"/>
                <a:cs typeface="Century Schoolbook" charset="0"/>
              </a:defRPr>
            </a:lvl4pPr>
            <a:lvl5pPr>
              <a:spcBef>
                <a:spcPts val="300"/>
              </a:spcBef>
              <a:spcAft>
                <a:spcPts val="0"/>
              </a:spcAft>
              <a:buClr>
                <a:schemeClr val="accent1"/>
              </a:buClr>
              <a:buNone/>
              <a:defRPr sz="1100">
                <a:solidFill>
                  <a:schemeClr val="tx1"/>
                </a:solidFill>
                <a:latin typeface="Museo Sans For Dell" pitchFamily="2" charset="0"/>
              </a:defRPr>
            </a:lvl5pPr>
            <a:lvl6pPr>
              <a:defRPr sz="1800"/>
            </a:lvl6pPr>
            <a:lvl7pPr>
              <a:defRPr sz="1800"/>
            </a:lvl7pPr>
            <a:lvl8pPr>
              <a:defRPr sz="1800"/>
            </a:lvl8pPr>
            <a:lvl9pPr>
              <a:defRPr sz="1800"/>
            </a:lvl9pPr>
          </a:lstStyle>
          <a:p>
            <a:pPr lvl="0"/>
            <a:r>
              <a:rPr lang="en-US" dirty="0"/>
              <a:t>Click to edit text</a:t>
            </a:r>
          </a:p>
          <a:p>
            <a:pPr lvl="1"/>
            <a:r>
              <a:rPr lang="en-US" dirty="0"/>
              <a:t>Second level</a:t>
            </a:r>
          </a:p>
          <a:p>
            <a:pPr lvl="2"/>
            <a:r>
              <a:rPr lang="en-US" dirty="0"/>
              <a:t>Third level</a:t>
            </a:r>
          </a:p>
          <a:p>
            <a:pPr lvl="3"/>
            <a:r>
              <a:rPr lang="en-US" dirty="0"/>
              <a:t>Fourth level</a:t>
            </a:r>
          </a:p>
        </p:txBody>
      </p:sp>
      <p:cxnSp>
        <p:nvCxnSpPr>
          <p:cNvPr id="20" name="Straight Connector 19"/>
          <p:cNvCxnSpPr>
            <a:cxnSpLocks noChangeShapeType="1"/>
          </p:cNvCxnSpPr>
          <p:nvPr/>
        </p:nvCxnSpPr>
        <p:spPr bwMode="auto">
          <a:xfrm>
            <a:off x="436563" y="4629150"/>
            <a:ext cx="8262035" cy="0"/>
          </a:xfrm>
          <a:prstGeom prst="line">
            <a:avLst/>
          </a:prstGeom>
          <a:noFill/>
          <a:ln w="9525">
            <a:solidFill>
              <a:srgbClr val="AAAAAA"/>
            </a:solidFill>
            <a:round/>
            <a:headEnd/>
            <a:tailEnd/>
          </a:ln>
        </p:spPr>
      </p:cxnSp>
    </p:spTree>
    <p:extLst>
      <p:ext uri="{BB962C8B-B14F-4D97-AF65-F5344CB8AC3E}">
        <p14:creationId xmlns:p14="http://schemas.microsoft.com/office/powerpoint/2010/main" val="688810320"/>
      </p:ext>
    </p:extLst>
  </p:cSld>
  <p:clrMapOvr>
    <a:masterClrMapping/>
  </p:clrMapOvr>
  <p:transition spd="med">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7" name="Title 1"/>
          <p:cNvSpPr txBox="1">
            <a:spLocks/>
          </p:cNvSpPr>
          <p:nvPr userDrawn="1"/>
        </p:nvSpPr>
        <p:spPr>
          <a:xfrm>
            <a:off x="152400" y="895350"/>
            <a:ext cx="6934200" cy="457200"/>
          </a:xfrm>
          <a:prstGeom prst="rect">
            <a:avLst/>
          </a:prstGeom>
        </p:spPr>
        <p:txBody>
          <a:bodyPr/>
          <a:lst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a:lstStyle>
          <a:p>
            <a:pPr algn="l"/>
            <a:r>
              <a:rPr lang="en-US" sz="2800" dirty="0">
                <a:solidFill>
                  <a:schemeClr val="bg1"/>
                </a:solidFill>
              </a:rPr>
              <a:t>Click to edit Master title style</a:t>
            </a:r>
          </a:p>
        </p:txBody>
      </p:sp>
    </p:spTree>
    <p:extLst>
      <p:ext uri="{BB962C8B-B14F-4D97-AF65-F5344CB8AC3E}">
        <p14:creationId xmlns:p14="http://schemas.microsoft.com/office/powerpoint/2010/main" val="12354031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AB433D2-BE84-467A-82DB-DBFCF9F936A3}"/>
              </a:ext>
            </a:extLst>
          </p:cNvPr>
          <p:cNvSpPr txBox="1">
            <a:spLocks noChangeArrowheads="1"/>
          </p:cNvSpPr>
          <p:nvPr/>
        </p:nvSpPr>
        <p:spPr bwMode="auto">
          <a:xfrm>
            <a:off x="3105581" y="4294585"/>
            <a:ext cx="2832827" cy="623248"/>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200" b="1" dirty="0">
                <a:solidFill>
                  <a:srgbClr val="002060"/>
                </a:solidFill>
              </a:rPr>
              <a:t>Database System Concepts, 7</a:t>
            </a:r>
            <a:r>
              <a:rPr lang="en-US" altLang="en-US" sz="1200" b="1" baseline="30000" dirty="0">
                <a:solidFill>
                  <a:srgbClr val="002060"/>
                </a:solidFill>
              </a:rPr>
              <a:t>th</a:t>
            </a:r>
            <a:r>
              <a:rPr lang="en-US" altLang="en-US" sz="1200" b="1" dirty="0">
                <a:solidFill>
                  <a:srgbClr val="002060"/>
                </a:solidFill>
              </a:rPr>
              <a:t> Ed</a:t>
            </a:r>
            <a:r>
              <a:rPr lang="en-US" altLang="en-US" sz="1200" dirty="0">
                <a:solidFill>
                  <a:srgbClr val="002060"/>
                </a:solidFill>
              </a:rPr>
              <a:t>.</a:t>
            </a:r>
          </a:p>
          <a:p>
            <a:pPr algn="ctr">
              <a:spcBef>
                <a:spcPct val="50000"/>
              </a:spcBef>
              <a:defRPr/>
            </a:pPr>
            <a:r>
              <a:rPr lang="en-US" altLang="en-US" sz="900" b="1" dirty="0">
                <a:solidFill>
                  <a:srgbClr val="002060"/>
                </a:solidFill>
              </a:rPr>
              <a:t>©Silberschatz, Korth and Sudarshan</a:t>
            </a:r>
            <a:br>
              <a:rPr lang="en-US" altLang="en-US" sz="900" b="1" dirty="0">
                <a:solidFill>
                  <a:srgbClr val="002060"/>
                </a:solidFill>
              </a:rPr>
            </a:br>
            <a:r>
              <a:rPr lang="en-US" altLang="en-US" sz="900" b="1" dirty="0">
                <a:solidFill>
                  <a:srgbClr val="002060"/>
                </a:solidFill>
              </a:rPr>
              <a:t>See </a:t>
            </a:r>
            <a:r>
              <a:rPr lang="en-US" altLang="en-US" sz="900" b="1" dirty="0">
                <a:solidFill>
                  <a:srgbClr val="002060"/>
                </a:solidFill>
                <a:hlinkClick r:id="rId2"/>
              </a:rPr>
              <a:t>www.db-book.com</a:t>
            </a:r>
            <a:r>
              <a:rPr lang="en-US" altLang="en-US" sz="900" b="1" dirty="0">
                <a:solidFill>
                  <a:srgbClr val="002060"/>
                </a:solidFill>
              </a:rPr>
              <a:t> for conditions on re-use </a:t>
            </a:r>
          </a:p>
        </p:txBody>
      </p:sp>
      <p:sp>
        <p:nvSpPr>
          <p:cNvPr id="487426" name="Rectangle 2"/>
          <p:cNvSpPr>
            <a:spLocks noGrp="1" noChangeArrowheads="1"/>
          </p:cNvSpPr>
          <p:nvPr>
            <p:ph type="ctrTitle"/>
          </p:nvPr>
        </p:nvSpPr>
        <p:spPr>
          <a:xfrm>
            <a:off x="685800" y="1714500"/>
            <a:ext cx="7772400" cy="857250"/>
          </a:xfrm>
        </p:spPr>
        <p:txBody>
          <a:bodyPr/>
          <a:lstStyle>
            <a:lvl1pPr>
              <a:defRPr sz="2100">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E5B7FE48-B4A0-4404-A94E-2D4837BDADF1}"/>
              </a:ext>
            </a:extLst>
          </p:cNvPr>
          <p:cNvSpPr>
            <a:spLocks noGrp="1" noChangeArrowheads="1"/>
          </p:cNvSpPr>
          <p:nvPr>
            <p:ph type="sldNum" sz="quarter" idx="11"/>
          </p:nvPr>
        </p:nvSpPr>
        <p:spPr>
          <a:xfrm>
            <a:off x="6596063" y="4663679"/>
            <a:ext cx="1905000" cy="342900"/>
          </a:xfrm>
        </p:spPr>
        <p:txBody>
          <a:bodyPr/>
          <a:lstStyle>
            <a:lvl1pPr>
              <a:defRPr smtClean="0">
                <a:solidFill>
                  <a:srgbClr val="578963"/>
                </a:solidFill>
              </a:defRPr>
            </a:lvl1pPr>
          </a:lstStyle>
          <a:p>
            <a:pPr>
              <a:defRPr/>
            </a:pPr>
            <a:fld id="{441F42D0-7627-45E8-BCAB-6293FCFFA666}" type="slidenum">
              <a:rPr lang="en-US" altLang="en-US" smtClean="0"/>
              <a:pPr>
                <a:defRPr/>
              </a:pPr>
              <a:t>‹#›</a:t>
            </a:fld>
            <a:endParaRPr lang="en-US" altLang="en-US"/>
          </a:p>
        </p:txBody>
      </p:sp>
      <p:pic>
        <p:nvPicPr>
          <p:cNvPr id="9" name="Picture 8" descr="Cover-6Ed"/>
          <p:cNvPicPr>
            <a:picLocks noChangeAspect="1" noChangeArrowheads="1"/>
          </p:cNvPicPr>
          <p:nvPr/>
        </p:nvPicPr>
        <p:blipFill>
          <a:blip r:embed="rId3"/>
          <a:stretch>
            <a:fillRect/>
          </a:stretch>
        </p:blipFill>
        <p:spPr bwMode="auto">
          <a:xfrm>
            <a:off x="1" y="9252"/>
            <a:ext cx="1331269"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77026798-0827-482F-848C-054321BDF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Cover-6Ed">
            <a:extLst>
              <a:ext uri="{FF2B5EF4-FFF2-40B4-BE49-F238E27FC236}">
                <a16:creationId xmlns:a16="http://schemas.microsoft.com/office/drawing/2014/main" id="{5B23C462-273B-47CE-B464-FA0DEA18F60D}"/>
              </a:ext>
            </a:extLst>
          </p:cNvPr>
          <p:cNvPicPr>
            <a:picLocks noChangeAspect="1" noChangeArrowheads="1"/>
          </p:cNvPicPr>
          <p:nvPr userDrawn="1"/>
        </p:nvPicPr>
        <p:blipFill>
          <a:blip r:embed="rId3"/>
          <a:stretch>
            <a:fillRect/>
          </a:stretch>
        </p:blipFill>
        <p:spPr bwMode="auto">
          <a:xfrm>
            <a:off x="1" y="9252"/>
            <a:ext cx="1331269"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828338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100"/>
            </a:lvl1pPr>
          </a:lstStyle>
          <a:p>
            <a:r>
              <a:rPr lang="en-US" dirty="0"/>
              <a:t>Click to edit Master title style</a:t>
            </a:r>
          </a:p>
        </p:txBody>
      </p:sp>
      <p:sp>
        <p:nvSpPr>
          <p:cNvPr id="3" name="Content Placeholder 2"/>
          <p:cNvSpPr>
            <a:spLocks noGrp="1"/>
          </p:cNvSpPr>
          <p:nvPr>
            <p:ph idx="1"/>
          </p:nvPr>
        </p:nvSpPr>
        <p:spPr>
          <a:xfrm>
            <a:off x="831272" y="826873"/>
            <a:ext cx="8014277" cy="4025979"/>
          </a:xfrm>
        </p:spPr>
        <p:txBody>
          <a:bodyPr/>
          <a:lstStyle>
            <a:lvl1pPr marL="257175" indent="-257175">
              <a:buSzPct val="110000"/>
              <a:buFont typeface="Wingdings" panose="05000000000000000000" pitchFamily="2" charset="2"/>
              <a:buChar char="§"/>
              <a:defRPr sz="1275"/>
            </a:lvl1pPr>
            <a:lvl2pPr marL="557213" indent="-214313">
              <a:buSzPct val="110000"/>
              <a:buFont typeface="Arial" panose="020B0604020202020204" pitchFamily="34" charset="0"/>
              <a:buChar char="•"/>
              <a:defRPr sz="1275"/>
            </a:lvl2pPr>
            <a:lvl3pPr marL="814388" indent="-171450">
              <a:buSzPct val="100000"/>
              <a:buFont typeface="Wingdings" panose="05000000000000000000" pitchFamily="2" charset="2"/>
              <a:buChar char="§"/>
              <a:defRPr sz="1275"/>
            </a:lvl3pPr>
            <a:lvl4pPr marL="1071563" indent="-171450">
              <a:buFont typeface="Arial" panose="020B0604020202020204" pitchFamily="34" charset="0"/>
              <a:buChar char="•"/>
              <a:defRPr sz="1275"/>
            </a:lvl4pPr>
            <a:lvl5pPr marL="1328738" indent="-171450">
              <a:buSzPct val="100000"/>
              <a:buFont typeface="Wingdings" panose="05000000000000000000" pitchFamily="2" charset="2"/>
              <a:buChar char="§"/>
              <a:defRPr sz="1275"/>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a:extLst>
              <a:ext uri="{FF2B5EF4-FFF2-40B4-BE49-F238E27FC236}">
                <a16:creationId xmlns:a16="http://schemas.microsoft.com/office/drawing/2014/main" id="{E42D457B-4574-44A7-82F5-364A95AA2566}"/>
              </a:ext>
            </a:extLst>
          </p:cNvPr>
          <p:cNvSpPr>
            <a:spLocks noGrp="1" noChangeArrowheads="1"/>
          </p:cNvSpPr>
          <p:nvPr>
            <p:ph type="sldNum" sz="quarter" idx="10"/>
          </p:nvPr>
        </p:nvSpPr>
        <p:spPr>
          <a:ln/>
        </p:spPr>
        <p:txBody>
          <a:bodyPr/>
          <a:lstStyle>
            <a:lvl1pPr>
              <a:defRPr/>
            </a:lvl1pPr>
          </a:lstStyle>
          <a:p>
            <a:pPr>
              <a:defRPr/>
            </a:pPr>
            <a:fld id="{5CC1BFAE-C44B-49AE-8C45-A7AABAAB5FEE}" type="slidenum">
              <a:rPr lang="en-US" altLang="en-US" smtClean="0"/>
              <a:pPr>
                <a:defRPr/>
              </a:pPr>
              <a:t>‹#›</a:t>
            </a:fld>
            <a:endParaRPr lang="en-US" altLang="en-US"/>
          </a:p>
        </p:txBody>
      </p:sp>
    </p:spTree>
    <p:extLst>
      <p:ext uri="{BB962C8B-B14F-4D97-AF65-F5344CB8AC3E}">
        <p14:creationId xmlns:p14="http://schemas.microsoft.com/office/powerpoint/2010/main" val="28603325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835604"/>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74863" y="3055247"/>
            <a:ext cx="7772400" cy="1125140"/>
          </a:xfrm>
        </p:spPr>
        <p:txBody>
          <a:bodyPr anchor="b"/>
          <a:lstStyle>
            <a:lvl1pPr marL="257175" indent="-257175">
              <a:buFont typeface="Wingdings" panose="05000000000000000000" pitchFamily="2" charset="2"/>
              <a:buChar char="§"/>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Edit Master text styles</a:t>
            </a:r>
          </a:p>
        </p:txBody>
      </p:sp>
      <p:sp>
        <p:nvSpPr>
          <p:cNvPr id="4" name="Rectangle 3">
            <a:extLst>
              <a:ext uri="{FF2B5EF4-FFF2-40B4-BE49-F238E27FC236}">
                <a16:creationId xmlns:a16="http://schemas.microsoft.com/office/drawing/2014/main" id="{9833A2CD-6A4B-4240-88F1-B4D7FEB50A79}"/>
              </a:ext>
            </a:extLst>
          </p:cNvPr>
          <p:cNvSpPr>
            <a:spLocks noGrp="1" noChangeArrowheads="1"/>
          </p:cNvSpPr>
          <p:nvPr>
            <p:ph type="sldNum" sz="quarter" idx="10"/>
          </p:nvPr>
        </p:nvSpPr>
        <p:spPr>
          <a:ln/>
        </p:spPr>
        <p:txBody>
          <a:bodyPr/>
          <a:lstStyle>
            <a:lvl1pPr>
              <a:defRPr/>
            </a:lvl1pPr>
          </a:lstStyle>
          <a:p>
            <a:pPr>
              <a:defRPr/>
            </a:pPr>
            <a:fld id="{12BBE0E1-96FA-42C8-A339-7F81B98D396B}" type="slidenum">
              <a:rPr lang="en-US" altLang="en-US" smtClean="0"/>
              <a:pPr>
                <a:defRPr/>
              </a:pPr>
              <a:t>‹#›</a:t>
            </a:fld>
            <a:endParaRPr lang="en-US" altLang="en-US"/>
          </a:p>
        </p:txBody>
      </p:sp>
    </p:spTree>
    <p:extLst>
      <p:ext uri="{BB962C8B-B14F-4D97-AF65-F5344CB8AC3E}">
        <p14:creationId xmlns:p14="http://schemas.microsoft.com/office/powerpoint/2010/main" val="16964507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100"/>
            </a:lvl1pPr>
          </a:lstStyle>
          <a:p>
            <a:r>
              <a:rPr lang="en-US" dirty="0"/>
              <a:t>Click to edit Master title style</a:t>
            </a:r>
          </a:p>
        </p:txBody>
      </p:sp>
      <p:sp>
        <p:nvSpPr>
          <p:cNvPr id="5" name="Rectangle 3">
            <a:extLst>
              <a:ext uri="{FF2B5EF4-FFF2-40B4-BE49-F238E27FC236}">
                <a16:creationId xmlns:a16="http://schemas.microsoft.com/office/drawing/2014/main" id="{BC4FAFEB-DA24-40E3-81A3-2C7117781D6B}"/>
              </a:ext>
            </a:extLst>
          </p:cNvPr>
          <p:cNvSpPr>
            <a:spLocks noGrp="1" noChangeArrowheads="1"/>
          </p:cNvSpPr>
          <p:nvPr>
            <p:ph type="sldNum" sz="quarter" idx="10"/>
          </p:nvPr>
        </p:nvSpPr>
        <p:spPr>
          <a:ln/>
        </p:spPr>
        <p:txBody>
          <a:bodyPr/>
          <a:lstStyle>
            <a:lvl1pPr>
              <a:defRPr/>
            </a:lvl1pPr>
          </a:lstStyle>
          <a:p>
            <a:pPr>
              <a:defRPr/>
            </a:pPr>
            <a:fld id="{D13E6E76-F12E-4D1B-9B56-009C721BF777}" type="slidenum">
              <a:rPr lang="en-US" altLang="en-US" smtClean="0"/>
              <a:pPr>
                <a:defRPr/>
              </a:pPr>
              <a:t>‹#›</a:t>
            </a:fld>
            <a:endParaRPr lang="en-US" altLang="en-US"/>
          </a:p>
        </p:txBody>
      </p:sp>
      <p:sp>
        <p:nvSpPr>
          <p:cNvPr id="6" name="Content Placeholder 2">
            <a:extLst>
              <a:ext uri="{FF2B5EF4-FFF2-40B4-BE49-F238E27FC236}">
                <a16:creationId xmlns:a16="http://schemas.microsoft.com/office/drawing/2014/main" id="{EE86E211-15D2-459B-B331-A82FFB150BE0}"/>
              </a:ext>
            </a:extLst>
          </p:cNvPr>
          <p:cNvSpPr>
            <a:spLocks noGrp="1"/>
          </p:cNvSpPr>
          <p:nvPr>
            <p:ph idx="1"/>
          </p:nvPr>
        </p:nvSpPr>
        <p:spPr>
          <a:xfrm>
            <a:off x="437424" y="826873"/>
            <a:ext cx="3985352" cy="4025979"/>
          </a:xfrm>
        </p:spPr>
        <p:txBody>
          <a:bodyPr/>
          <a:lstStyle>
            <a:lvl1pPr marL="257175" indent="-257175">
              <a:buSzPct val="110000"/>
              <a:buFont typeface="Wingdings" panose="05000000000000000000" pitchFamily="2" charset="2"/>
              <a:buChar char="§"/>
              <a:defRPr sz="1275"/>
            </a:lvl1pPr>
            <a:lvl2pPr marL="557213" indent="-214313">
              <a:buSzPct val="110000"/>
              <a:buFont typeface="Arial" panose="020B0604020202020204" pitchFamily="34" charset="0"/>
              <a:buChar char="•"/>
              <a:defRPr sz="1275"/>
            </a:lvl2pPr>
            <a:lvl3pPr marL="814388" indent="-171450">
              <a:buSzPct val="100000"/>
              <a:buFont typeface="Wingdings" panose="05000000000000000000" pitchFamily="2" charset="2"/>
              <a:buChar char="§"/>
              <a:defRPr sz="1275"/>
            </a:lvl3pPr>
            <a:lvl4pPr marL="1071563" indent="-171450">
              <a:buFont typeface="Arial" panose="020B0604020202020204" pitchFamily="34" charset="0"/>
              <a:buChar char="•"/>
              <a:defRPr sz="1275"/>
            </a:lvl4pPr>
            <a:lvl5pPr marL="1328738" indent="-171450">
              <a:buSzPct val="100000"/>
              <a:buFont typeface="Wingdings" panose="05000000000000000000" pitchFamily="2" charset="2"/>
              <a:buChar char="§"/>
              <a:defRPr sz="1275"/>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613555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lvl1pPr>
              <a:defRPr sz="2100"/>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275"/>
            </a:lvl1pPr>
            <a:lvl2pPr>
              <a:defRPr sz="1275"/>
            </a:lvl2pPr>
            <a:lvl3pPr>
              <a:defRPr sz="1275"/>
            </a:lvl3pPr>
            <a:lvl4pPr>
              <a:defRPr sz="1275"/>
            </a:lvl4pPr>
            <a:lvl5pPr>
              <a:defRPr sz="1275"/>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275"/>
            </a:lvl1pPr>
            <a:lvl2pPr>
              <a:defRPr sz="1275"/>
            </a:lvl2pPr>
            <a:lvl3pPr>
              <a:defRPr sz="1275"/>
            </a:lvl3pPr>
            <a:lvl4pPr>
              <a:defRPr sz="1275"/>
            </a:lvl4pPr>
            <a:lvl5pPr>
              <a:defRPr sz="1275"/>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42096E68-496F-4499-93E9-D10C62B93D1A}"/>
              </a:ext>
            </a:extLst>
          </p:cNvPr>
          <p:cNvSpPr>
            <a:spLocks noGrp="1" noChangeArrowheads="1"/>
          </p:cNvSpPr>
          <p:nvPr>
            <p:ph type="sldNum" sz="quarter" idx="10"/>
          </p:nvPr>
        </p:nvSpPr>
        <p:spPr>
          <a:ln/>
        </p:spPr>
        <p:txBody>
          <a:bodyPr/>
          <a:lstStyle>
            <a:lvl1pPr>
              <a:defRPr/>
            </a:lvl1pPr>
          </a:lstStyle>
          <a:p>
            <a:pPr>
              <a:defRPr/>
            </a:pPr>
            <a:fld id="{12023997-F532-4D5B-B2F3-9E05A41D497B}" type="slidenum">
              <a:rPr lang="en-US" altLang="en-US" smtClean="0"/>
              <a:pPr>
                <a:defRPr/>
              </a:pPr>
              <a:t>‹#›</a:t>
            </a:fld>
            <a:endParaRPr lang="en-US" altLang="en-US"/>
          </a:p>
        </p:txBody>
      </p:sp>
    </p:spTree>
    <p:extLst>
      <p:ext uri="{BB962C8B-B14F-4D97-AF65-F5344CB8AC3E}">
        <p14:creationId xmlns:p14="http://schemas.microsoft.com/office/powerpoint/2010/main" val="20405305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100"/>
            </a:lvl1pPr>
          </a:lstStyle>
          <a:p>
            <a:r>
              <a:rPr lang="en-US" dirty="0"/>
              <a:t>Click to edit Master title style</a:t>
            </a:r>
          </a:p>
        </p:txBody>
      </p:sp>
      <p:sp>
        <p:nvSpPr>
          <p:cNvPr id="3" name="Rectangle 3">
            <a:extLst>
              <a:ext uri="{FF2B5EF4-FFF2-40B4-BE49-F238E27FC236}">
                <a16:creationId xmlns:a16="http://schemas.microsoft.com/office/drawing/2014/main" id="{F8A17BCC-393D-48FB-8CCD-31D1E0C6FA40}"/>
              </a:ext>
            </a:extLst>
          </p:cNvPr>
          <p:cNvSpPr>
            <a:spLocks noGrp="1" noChangeArrowheads="1"/>
          </p:cNvSpPr>
          <p:nvPr>
            <p:ph type="sldNum" sz="quarter" idx="10"/>
          </p:nvPr>
        </p:nvSpPr>
        <p:spPr>
          <a:ln/>
        </p:spPr>
        <p:txBody>
          <a:bodyPr/>
          <a:lstStyle>
            <a:lvl1pPr>
              <a:defRPr/>
            </a:lvl1pPr>
          </a:lstStyle>
          <a:p>
            <a:pPr>
              <a:defRPr/>
            </a:pPr>
            <a:fld id="{96649892-EB20-4383-9D6A-6D1ED2147F7F}" type="slidenum">
              <a:rPr lang="en-US" altLang="en-US" smtClean="0"/>
              <a:pPr>
                <a:defRPr/>
              </a:pPr>
              <a:t>‹#›</a:t>
            </a:fld>
            <a:endParaRPr lang="en-US" altLang="en-US"/>
          </a:p>
        </p:txBody>
      </p:sp>
    </p:spTree>
    <p:extLst>
      <p:ext uri="{BB962C8B-B14F-4D97-AF65-F5344CB8AC3E}">
        <p14:creationId xmlns:p14="http://schemas.microsoft.com/office/powerpoint/2010/main" val="15150916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54EDB4F-7D4C-4F34-9AD3-169F9858A5EE}"/>
              </a:ext>
            </a:extLst>
          </p:cNvPr>
          <p:cNvSpPr>
            <a:spLocks noGrp="1" noChangeArrowheads="1"/>
          </p:cNvSpPr>
          <p:nvPr>
            <p:ph type="sldNum" sz="quarter" idx="10"/>
          </p:nvPr>
        </p:nvSpPr>
        <p:spPr>
          <a:ln/>
        </p:spPr>
        <p:txBody>
          <a:bodyPr/>
          <a:lstStyle>
            <a:lvl1pPr>
              <a:defRPr/>
            </a:lvl1pPr>
          </a:lstStyle>
          <a:p>
            <a:pPr>
              <a:defRPr/>
            </a:pPr>
            <a:fld id="{3B271689-3C51-413B-9388-DDBA7E74E1E4}" type="slidenum">
              <a:rPr lang="en-US" altLang="en-US" smtClean="0"/>
              <a:pPr>
                <a:defRPr/>
              </a:pPr>
              <a:t>‹#›</a:t>
            </a:fld>
            <a:endParaRPr lang="en-US" altLang="en-US"/>
          </a:p>
        </p:txBody>
      </p:sp>
    </p:spTree>
    <p:extLst>
      <p:ext uri="{BB962C8B-B14F-4D97-AF65-F5344CB8AC3E}">
        <p14:creationId xmlns:p14="http://schemas.microsoft.com/office/powerpoint/2010/main" val="3543055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1275"/>
            </a:lvl1pPr>
            <a:lvl2pPr>
              <a:defRPr sz="1275"/>
            </a:lvl2pPr>
            <a:lvl3pPr>
              <a:defRPr sz="1275"/>
            </a:lvl3pPr>
            <a:lvl4pPr>
              <a:defRPr sz="1275"/>
            </a:lvl4pPr>
            <a:lvl5pPr>
              <a:defRPr sz="1275"/>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Rectangle 3">
            <a:extLst>
              <a:ext uri="{FF2B5EF4-FFF2-40B4-BE49-F238E27FC236}">
                <a16:creationId xmlns:a16="http://schemas.microsoft.com/office/drawing/2014/main" id="{AA8DFBA5-2441-4C97-8340-430BD863557C}"/>
              </a:ext>
            </a:extLst>
          </p:cNvPr>
          <p:cNvSpPr>
            <a:spLocks noGrp="1" noChangeArrowheads="1"/>
          </p:cNvSpPr>
          <p:nvPr>
            <p:ph type="sldNum" sz="quarter" idx="10"/>
          </p:nvPr>
        </p:nvSpPr>
        <p:spPr>
          <a:ln/>
        </p:spPr>
        <p:txBody>
          <a:bodyPr/>
          <a:lstStyle>
            <a:lvl1pPr>
              <a:defRPr/>
            </a:lvl1pPr>
          </a:lstStyle>
          <a:p>
            <a:pPr>
              <a:defRPr/>
            </a:pPr>
            <a:fld id="{E9CD7985-991B-46C7-A32A-6942E2DB1188}" type="slidenum">
              <a:rPr lang="en-US" altLang="en-US" smtClean="0"/>
              <a:pPr>
                <a:defRPr/>
              </a:pPr>
              <a:t>‹#›</a:t>
            </a:fld>
            <a:endParaRPr lang="en-US" altLang="en-US"/>
          </a:p>
        </p:txBody>
      </p:sp>
    </p:spTree>
    <p:extLst>
      <p:ext uri="{BB962C8B-B14F-4D97-AF65-F5344CB8AC3E}">
        <p14:creationId xmlns:p14="http://schemas.microsoft.com/office/powerpoint/2010/main" val="6759879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Rectangle 3">
            <a:extLst>
              <a:ext uri="{FF2B5EF4-FFF2-40B4-BE49-F238E27FC236}">
                <a16:creationId xmlns:a16="http://schemas.microsoft.com/office/drawing/2014/main" id="{D8B4ACE8-FA36-4C9A-B2D0-93D5FB40D304}"/>
              </a:ext>
            </a:extLst>
          </p:cNvPr>
          <p:cNvSpPr>
            <a:spLocks noGrp="1" noChangeArrowheads="1"/>
          </p:cNvSpPr>
          <p:nvPr>
            <p:ph type="sldNum" sz="quarter" idx="10"/>
          </p:nvPr>
        </p:nvSpPr>
        <p:spPr>
          <a:ln/>
        </p:spPr>
        <p:txBody>
          <a:bodyPr/>
          <a:lstStyle>
            <a:lvl1pPr>
              <a:defRPr/>
            </a:lvl1pPr>
          </a:lstStyle>
          <a:p>
            <a:pPr>
              <a:defRPr/>
            </a:pPr>
            <a:fld id="{F779FD90-85FD-43B3-9F6B-6E3DF5251AE4}" type="slidenum">
              <a:rPr lang="en-US" altLang="en-US" smtClean="0"/>
              <a:pPr>
                <a:defRPr/>
              </a:pPr>
              <a:t>‹#›</a:t>
            </a:fld>
            <a:endParaRPr lang="en-US" altLang="en-US"/>
          </a:p>
        </p:txBody>
      </p:sp>
    </p:spTree>
    <p:extLst>
      <p:ext uri="{BB962C8B-B14F-4D97-AF65-F5344CB8AC3E}">
        <p14:creationId xmlns:p14="http://schemas.microsoft.com/office/powerpoint/2010/main" val="38775008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1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1275"/>
            </a:lvl1pPr>
            <a:lvl2pPr>
              <a:defRPr sz="1275"/>
            </a:lvl2pPr>
            <a:lvl3pPr>
              <a:defRPr sz="1275"/>
            </a:lvl3pPr>
            <a:lvl4pPr>
              <a:defRPr sz="1275"/>
            </a:lvl4pPr>
            <a:lvl5pPr>
              <a:defRPr sz="1275"/>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7677CD6D-A5E2-4543-81E0-D97745649CEB}"/>
              </a:ext>
            </a:extLst>
          </p:cNvPr>
          <p:cNvSpPr>
            <a:spLocks noGrp="1" noChangeArrowheads="1"/>
          </p:cNvSpPr>
          <p:nvPr>
            <p:ph type="sldNum" sz="quarter" idx="10"/>
          </p:nvPr>
        </p:nvSpPr>
        <p:spPr>
          <a:ln/>
        </p:spPr>
        <p:txBody>
          <a:bodyPr/>
          <a:lstStyle>
            <a:lvl1pPr>
              <a:defRPr/>
            </a:lvl1pPr>
          </a:lstStyle>
          <a:p>
            <a:pPr>
              <a:defRPr/>
            </a:pPr>
            <a:fld id="{17078238-A850-4F7F-9FB2-C7F3ED51152A}" type="slidenum">
              <a:rPr lang="en-US" altLang="en-US" smtClean="0"/>
              <a:pPr>
                <a:defRPr/>
              </a:pPr>
              <a:t>‹#›</a:t>
            </a:fld>
            <a:endParaRPr lang="en-US" altLang="en-US"/>
          </a:p>
        </p:txBody>
      </p:sp>
    </p:spTree>
    <p:extLst>
      <p:ext uri="{BB962C8B-B14F-4D97-AF65-F5344CB8AC3E}">
        <p14:creationId xmlns:p14="http://schemas.microsoft.com/office/powerpoint/2010/main" val="14783914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88106"/>
            <a:ext cx="2019300" cy="4410075"/>
          </a:xfrm>
        </p:spPr>
        <p:txBody>
          <a:bodyPr vert="eaVert"/>
          <a:lstStyle>
            <a:lvl1pPr>
              <a:defRPr sz="2100"/>
            </a:lvl1pPr>
          </a:lstStyle>
          <a:p>
            <a:r>
              <a:rPr lang="en-US" dirty="0"/>
              <a:t>Click to edit Master title style</a:t>
            </a:r>
          </a:p>
        </p:txBody>
      </p:sp>
      <p:sp>
        <p:nvSpPr>
          <p:cNvPr id="3" name="Vertical Text Placeholder 2"/>
          <p:cNvSpPr>
            <a:spLocks noGrp="1"/>
          </p:cNvSpPr>
          <p:nvPr>
            <p:ph type="body" orient="vert" idx="1"/>
          </p:nvPr>
        </p:nvSpPr>
        <p:spPr>
          <a:xfrm>
            <a:off x="768350" y="88106"/>
            <a:ext cx="5905500" cy="4410075"/>
          </a:xfrm>
        </p:spPr>
        <p:txBody>
          <a:bodyPr vert="eaVert"/>
          <a:lstStyle>
            <a:lvl1pPr>
              <a:defRPr sz="1275"/>
            </a:lvl1pPr>
            <a:lvl2pPr>
              <a:defRPr sz="1275"/>
            </a:lvl2pPr>
            <a:lvl3pPr>
              <a:defRPr sz="1275"/>
            </a:lvl3pPr>
            <a:lvl4pPr>
              <a:defRPr sz="1275"/>
            </a:lvl4pPr>
            <a:lvl5pPr>
              <a:defRPr sz="1275"/>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66D4BD1A-4145-49C3-8D7D-1F956B760305}"/>
              </a:ext>
            </a:extLst>
          </p:cNvPr>
          <p:cNvSpPr>
            <a:spLocks noGrp="1" noChangeArrowheads="1"/>
          </p:cNvSpPr>
          <p:nvPr>
            <p:ph type="sldNum" sz="quarter" idx="10"/>
          </p:nvPr>
        </p:nvSpPr>
        <p:spPr>
          <a:ln/>
        </p:spPr>
        <p:txBody>
          <a:bodyPr/>
          <a:lstStyle>
            <a:lvl1pPr>
              <a:defRPr/>
            </a:lvl1pPr>
          </a:lstStyle>
          <a:p>
            <a:pPr>
              <a:defRPr/>
            </a:pPr>
            <a:fld id="{03875237-B0F8-4D27-B8AA-EA0E8F7832E5}" type="slidenum">
              <a:rPr lang="en-US" altLang="en-US" smtClean="0"/>
              <a:pPr>
                <a:defRPr/>
              </a:pPr>
              <a:t>‹#›</a:t>
            </a:fld>
            <a:endParaRPr lang="en-US" altLang="en-US"/>
          </a:p>
        </p:txBody>
      </p:sp>
    </p:spTree>
    <p:extLst>
      <p:ext uri="{BB962C8B-B14F-4D97-AF65-F5344CB8AC3E}">
        <p14:creationId xmlns:p14="http://schemas.microsoft.com/office/powerpoint/2010/main" val="30743930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8350" y="88106"/>
            <a:ext cx="8077200" cy="457200"/>
          </a:xfrm>
        </p:spPr>
        <p:txBody>
          <a:bodyPr/>
          <a:lstStyle>
            <a:lvl1pPr>
              <a:defRPr sz="2100"/>
            </a:lvl1pPr>
          </a:lstStyle>
          <a:p>
            <a:r>
              <a:rPr lang="en-US"/>
              <a:t>Click to edit Master title style</a:t>
            </a:r>
          </a:p>
        </p:txBody>
      </p:sp>
      <p:sp>
        <p:nvSpPr>
          <p:cNvPr id="3" name="Text Placeholder 2"/>
          <p:cNvSpPr>
            <a:spLocks noGrp="1"/>
          </p:cNvSpPr>
          <p:nvPr>
            <p:ph type="body" sz="half" idx="1"/>
          </p:nvPr>
        </p:nvSpPr>
        <p:spPr>
          <a:xfrm>
            <a:off x="814389" y="820342"/>
            <a:ext cx="3754437" cy="3677840"/>
          </a:xfrm>
        </p:spPr>
        <p:txBody>
          <a:bodyPr/>
          <a:lstStyle>
            <a:lvl1pPr>
              <a:defRPr sz="1275"/>
            </a:lvl1pPr>
            <a:lvl2pPr>
              <a:defRPr sz="1275"/>
            </a:lvl2pPr>
            <a:lvl3pPr>
              <a:defRPr sz="1275"/>
            </a:lvl3pPr>
            <a:lvl4pPr>
              <a:defRPr sz="1275"/>
            </a:lvl4pPr>
            <a:lvl5pPr>
              <a:defRPr sz="1275"/>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820342"/>
            <a:ext cx="3754438" cy="3677840"/>
          </a:xfrm>
        </p:spPr>
        <p:txBody>
          <a:bodyPr/>
          <a:lstStyle>
            <a:lvl1pPr>
              <a:defRPr sz="1275"/>
            </a:lvl1pPr>
            <a:lvl2pPr>
              <a:defRPr sz="1275"/>
            </a:lvl2pPr>
            <a:lvl3pPr>
              <a:defRPr sz="1275"/>
            </a:lvl3pPr>
            <a:lvl4pPr>
              <a:defRPr sz="1275"/>
            </a:lvl4pPr>
            <a:lvl5pPr>
              <a:defRPr sz="1275"/>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D7C2D5D2-FFA8-4B97-9D6C-DF120847B519}"/>
              </a:ext>
            </a:extLst>
          </p:cNvPr>
          <p:cNvSpPr>
            <a:spLocks noGrp="1" noChangeArrowheads="1"/>
          </p:cNvSpPr>
          <p:nvPr>
            <p:ph type="sldNum" sz="quarter" idx="10"/>
          </p:nvPr>
        </p:nvSpPr>
        <p:spPr>
          <a:ln/>
        </p:spPr>
        <p:txBody>
          <a:bodyPr/>
          <a:lstStyle>
            <a:lvl1pPr>
              <a:defRPr/>
            </a:lvl1pPr>
          </a:lstStyle>
          <a:p>
            <a:pPr>
              <a:defRPr/>
            </a:pPr>
            <a:fld id="{D13E6E76-F12E-4D1B-9B56-009C721BF777}" type="slidenum">
              <a:rPr lang="en-US" altLang="en-US" smtClean="0"/>
              <a:pPr>
                <a:defRPr/>
              </a:pPr>
              <a:t>‹#›</a:t>
            </a:fld>
            <a:endParaRPr lang="en-US" altLang="en-US"/>
          </a:p>
        </p:txBody>
      </p:sp>
    </p:spTree>
    <p:extLst>
      <p:ext uri="{BB962C8B-B14F-4D97-AF65-F5344CB8AC3E}">
        <p14:creationId xmlns:p14="http://schemas.microsoft.com/office/powerpoint/2010/main" val="22859824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E2D77BB-A1E3-4E40-9A08-249BCF8B8523}"/>
              </a:ext>
            </a:extLst>
          </p:cNvPr>
          <p:cNvSpPr txBox="1">
            <a:spLocks noChangeArrowheads="1"/>
          </p:cNvSpPr>
          <p:nvPr/>
        </p:nvSpPr>
        <p:spPr bwMode="auto">
          <a:xfrm>
            <a:off x="3105581" y="4294585"/>
            <a:ext cx="2832827" cy="623248"/>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200" b="1" dirty="0">
                <a:solidFill>
                  <a:srgbClr val="002060"/>
                </a:solidFill>
              </a:rPr>
              <a:t>Database System Concepts, 7</a:t>
            </a:r>
            <a:r>
              <a:rPr lang="en-US" altLang="en-US" sz="1200" b="1" baseline="30000" dirty="0">
                <a:solidFill>
                  <a:srgbClr val="002060"/>
                </a:solidFill>
              </a:rPr>
              <a:t>th</a:t>
            </a:r>
            <a:r>
              <a:rPr lang="en-US" altLang="en-US" sz="1200" b="1" dirty="0">
                <a:solidFill>
                  <a:srgbClr val="002060"/>
                </a:solidFill>
              </a:rPr>
              <a:t> Ed</a:t>
            </a:r>
            <a:r>
              <a:rPr lang="en-US" altLang="en-US" sz="1200" dirty="0">
                <a:solidFill>
                  <a:srgbClr val="002060"/>
                </a:solidFill>
              </a:rPr>
              <a:t>.</a:t>
            </a:r>
          </a:p>
          <a:p>
            <a:pPr algn="ctr">
              <a:spcBef>
                <a:spcPct val="50000"/>
              </a:spcBef>
              <a:defRPr/>
            </a:pPr>
            <a:r>
              <a:rPr lang="en-US" altLang="en-US" sz="900" b="1" dirty="0">
                <a:solidFill>
                  <a:srgbClr val="002060"/>
                </a:solidFill>
              </a:rPr>
              <a:t>©Silberschatz, </a:t>
            </a:r>
            <a:r>
              <a:rPr lang="en-US" altLang="en-US" sz="900" b="1" dirty="0" err="1">
                <a:solidFill>
                  <a:srgbClr val="002060"/>
                </a:solidFill>
              </a:rPr>
              <a:t>Korth</a:t>
            </a:r>
            <a:r>
              <a:rPr lang="en-US" altLang="en-US" sz="900" b="1" dirty="0">
                <a:solidFill>
                  <a:srgbClr val="002060"/>
                </a:solidFill>
              </a:rPr>
              <a:t> and Sudarshan</a:t>
            </a:r>
            <a:br>
              <a:rPr lang="en-US" altLang="en-US" sz="900" b="1" dirty="0">
                <a:solidFill>
                  <a:srgbClr val="002060"/>
                </a:solidFill>
              </a:rPr>
            </a:br>
            <a:r>
              <a:rPr lang="en-US" altLang="en-US" sz="900" b="1" dirty="0">
                <a:solidFill>
                  <a:srgbClr val="002060"/>
                </a:solidFill>
              </a:rPr>
              <a:t>See </a:t>
            </a:r>
            <a:r>
              <a:rPr lang="en-US" altLang="en-US" sz="900" b="1" dirty="0">
                <a:solidFill>
                  <a:srgbClr val="002060"/>
                </a:solidFill>
                <a:hlinkClick r:id="rId2"/>
              </a:rPr>
              <a:t>www.db-book.com</a:t>
            </a:r>
            <a:r>
              <a:rPr lang="en-US" altLang="en-US" sz="900" b="1" dirty="0">
                <a:solidFill>
                  <a:srgbClr val="002060"/>
                </a:solidFill>
              </a:rPr>
              <a:t> for conditions on re-use </a:t>
            </a:r>
          </a:p>
        </p:txBody>
      </p:sp>
      <p:sp>
        <p:nvSpPr>
          <p:cNvPr id="613378" name="Rectangle 2"/>
          <p:cNvSpPr>
            <a:spLocks noGrp="1" noChangeArrowheads="1"/>
          </p:cNvSpPr>
          <p:nvPr>
            <p:ph type="ctrTitle"/>
          </p:nvPr>
        </p:nvSpPr>
        <p:spPr>
          <a:xfrm>
            <a:off x="685800" y="1714500"/>
            <a:ext cx="7772400" cy="857250"/>
          </a:xfrm>
        </p:spPr>
        <p:txBody>
          <a:bodyPr/>
          <a:lstStyle>
            <a:lvl1pPr>
              <a:defRPr>
                <a:solidFill>
                  <a:srgbClr val="002060"/>
                </a:solidFill>
              </a:defRPr>
            </a:lvl1pPr>
          </a:lstStyle>
          <a:p>
            <a:r>
              <a:rPr lang="en-US"/>
              <a:t>Click to edit Master title style</a:t>
            </a:r>
            <a:endParaRPr lang="en-US" dirty="0"/>
          </a:p>
        </p:txBody>
      </p:sp>
      <p:sp>
        <p:nvSpPr>
          <p:cNvPr id="7" name="Rectangle 4">
            <a:extLst>
              <a:ext uri="{FF2B5EF4-FFF2-40B4-BE49-F238E27FC236}">
                <a16:creationId xmlns:a16="http://schemas.microsoft.com/office/drawing/2014/main" id="{4053C40E-D8FC-4564-9F45-CF1A70873460}"/>
              </a:ext>
            </a:extLst>
          </p:cNvPr>
          <p:cNvSpPr>
            <a:spLocks noGrp="1" noChangeArrowheads="1"/>
          </p:cNvSpPr>
          <p:nvPr>
            <p:ph type="ftr" sz="quarter" idx="10"/>
          </p:nvPr>
        </p:nvSpPr>
        <p:spPr bwMode="auto">
          <a:xfrm>
            <a:off x="2862263" y="4335066"/>
            <a:ext cx="3448050" cy="3429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a:solidFill>
                  <a:srgbClr val="578963"/>
                </a:solidFill>
                <a:latin typeface="Times New Roman" charset="0"/>
                <a:ea typeface="+mn-ea"/>
                <a:cs typeface="+mn-cs"/>
              </a:defRPr>
            </a:lvl1pPr>
          </a:lstStyle>
          <a:p>
            <a:pPr>
              <a:defRPr/>
            </a:pPr>
            <a:r>
              <a:rPr lang="en-US" dirty="0"/>
              <a:t>7</a:t>
            </a:r>
          </a:p>
        </p:txBody>
      </p:sp>
      <p:sp>
        <p:nvSpPr>
          <p:cNvPr id="8" name="Rectangle 5">
            <a:extLst>
              <a:ext uri="{FF2B5EF4-FFF2-40B4-BE49-F238E27FC236}">
                <a16:creationId xmlns:a16="http://schemas.microsoft.com/office/drawing/2014/main" id="{D2D242F4-2B18-4F93-AF83-C0B3D393143B}"/>
              </a:ext>
            </a:extLst>
          </p:cNvPr>
          <p:cNvSpPr>
            <a:spLocks noGrp="1" noChangeArrowheads="1"/>
          </p:cNvSpPr>
          <p:nvPr>
            <p:ph type="sldNum" sz="quarter" idx="11"/>
          </p:nvPr>
        </p:nvSpPr>
        <p:spPr>
          <a:xfrm>
            <a:off x="6596063" y="4663679"/>
            <a:ext cx="1905000" cy="342900"/>
          </a:xfrm>
        </p:spPr>
        <p:txBody>
          <a:bodyPr/>
          <a:lstStyle>
            <a:lvl1pPr>
              <a:defRPr smtClean="0">
                <a:solidFill>
                  <a:srgbClr val="578963"/>
                </a:solidFill>
              </a:defRPr>
            </a:lvl1pPr>
          </a:lstStyle>
          <a:p>
            <a:pPr>
              <a:defRPr/>
            </a:pPr>
            <a:fld id="{D13E6E76-F12E-4D1B-9B56-009C721BF777}" type="slidenum">
              <a:rPr lang="en-US" altLang="en-US" smtClean="0"/>
              <a:pPr>
                <a:defRPr/>
              </a:pPr>
              <a:t>‹#›</a:t>
            </a:fld>
            <a:endParaRPr lang="en-US" altLang="en-US"/>
          </a:p>
        </p:txBody>
      </p:sp>
      <p:pic>
        <p:nvPicPr>
          <p:cNvPr id="9" name="Picture 8" descr="Cover-6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89117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AB433D2-BE84-467A-82DB-DBFCF9F936A3}"/>
              </a:ext>
            </a:extLst>
          </p:cNvPr>
          <p:cNvSpPr txBox="1">
            <a:spLocks noChangeArrowheads="1"/>
          </p:cNvSpPr>
          <p:nvPr/>
        </p:nvSpPr>
        <p:spPr bwMode="auto">
          <a:xfrm>
            <a:off x="3105581" y="4294585"/>
            <a:ext cx="2832827" cy="623248"/>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200" b="1" dirty="0">
                <a:solidFill>
                  <a:srgbClr val="002060"/>
                </a:solidFill>
              </a:rPr>
              <a:t>Database System Concepts, 7</a:t>
            </a:r>
            <a:r>
              <a:rPr lang="en-US" altLang="en-US" sz="1200" b="1" baseline="30000" dirty="0">
                <a:solidFill>
                  <a:srgbClr val="002060"/>
                </a:solidFill>
              </a:rPr>
              <a:t>th</a:t>
            </a:r>
            <a:r>
              <a:rPr lang="en-US" altLang="en-US" sz="1200" b="1" dirty="0">
                <a:solidFill>
                  <a:srgbClr val="002060"/>
                </a:solidFill>
              </a:rPr>
              <a:t> Ed</a:t>
            </a:r>
            <a:r>
              <a:rPr lang="en-US" altLang="en-US" sz="1200" dirty="0">
                <a:solidFill>
                  <a:srgbClr val="002060"/>
                </a:solidFill>
              </a:rPr>
              <a:t>.</a:t>
            </a:r>
          </a:p>
          <a:p>
            <a:pPr algn="ctr">
              <a:spcBef>
                <a:spcPct val="50000"/>
              </a:spcBef>
              <a:defRPr/>
            </a:pPr>
            <a:r>
              <a:rPr lang="en-US" altLang="en-US" sz="900" b="1" dirty="0">
                <a:solidFill>
                  <a:srgbClr val="002060"/>
                </a:solidFill>
              </a:rPr>
              <a:t>©Silberschatz, </a:t>
            </a:r>
            <a:r>
              <a:rPr lang="en-US" altLang="en-US" sz="900" b="1" dirty="0" err="1">
                <a:solidFill>
                  <a:srgbClr val="002060"/>
                </a:solidFill>
              </a:rPr>
              <a:t>Korth</a:t>
            </a:r>
            <a:r>
              <a:rPr lang="en-US" altLang="en-US" sz="900" b="1" dirty="0">
                <a:solidFill>
                  <a:srgbClr val="002060"/>
                </a:solidFill>
              </a:rPr>
              <a:t> and Sudarshan</a:t>
            </a:r>
            <a:br>
              <a:rPr lang="en-US" altLang="en-US" sz="900" b="1" dirty="0">
                <a:solidFill>
                  <a:srgbClr val="002060"/>
                </a:solidFill>
              </a:rPr>
            </a:br>
            <a:r>
              <a:rPr lang="en-US" altLang="en-US" sz="900" b="1" dirty="0">
                <a:solidFill>
                  <a:srgbClr val="002060"/>
                </a:solidFill>
              </a:rPr>
              <a:t>See </a:t>
            </a:r>
            <a:r>
              <a:rPr lang="en-US" altLang="en-US" sz="900" b="1" dirty="0">
                <a:solidFill>
                  <a:srgbClr val="002060"/>
                </a:solidFill>
                <a:hlinkClick r:id="rId2"/>
              </a:rPr>
              <a:t>www.db-book.com</a:t>
            </a:r>
            <a:r>
              <a:rPr lang="en-US" altLang="en-US" sz="900" b="1" dirty="0">
                <a:solidFill>
                  <a:srgbClr val="002060"/>
                </a:solidFill>
              </a:rPr>
              <a:t> for conditions on re-use </a:t>
            </a:r>
          </a:p>
        </p:txBody>
      </p:sp>
      <p:sp>
        <p:nvSpPr>
          <p:cNvPr id="487426" name="Rectangle 2"/>
          <p:cNvSpPr>
            <a:spLocks noGrp="1" noChangeArrowheads="1"/>
          </p:cNvSpPr>
          <p:nvPr>
            <p:ph type="ctrTitle"/>
          </p:nvPr>
        </p:nvSpPr>
        <p:spPr>
          <a:xfrm>
            <a:off x="685800" y="1714500"/>
            <a:ext cx="7772400" cy="857250"/>
          </a:xfrm>
        </p:spPr>
        <p:txBody>
          <a:bodyPr/>
          <a:lstStyle>
            <a:lvl1pPr>
              <a:defRPr>
                <a:solidFill>
                  <a:srgbClr val="002060"/>
                </a:solidFill>
              </a:defRPr>
            </a:lvl1pPr>
          </a:lstStyle>
          <a:p>
            <a:r>
              <a:rPr lang="en-US" dirty="0"/>
              <a:t>Click to edit Master title style</a:t>
            </a:r>
          </a:p>
        </p:txBody>
      </p:sp>
      <p:sp>
        <p:nvSpPr>
          <p:cNvPr id="7" name="Rectangle 4">
            <a:extLst>
              <a:ext uri="{FF2B5EF4-FFF2-40B4-BE49-F238E27FC236}">
                <a16:creationId xmlns:a16="http://schemas.microsoft.com/office/drawing/2014/main" id="{51BECEEC-3BC9-4D4E-99DA-2E5AA4578487}"/>
              </a:ext>
            </a:extLst>
          </p:cNvPr>
          <p:cNvSpPr>
            <a:spLocks noGrp="1" noChangeArrowheads="1"/>
          </p:cNvSpPr>
          <p:nvPr>
            <p:ph type="ftr" sz="quarter" idx="10"/>
          </p:nvPr>
        </p:nvSpPr>
        <p:spPr bwMode="auto">
          <a:xfrm>
            <a:off x="2862263" y="4335066"/>
            <a:ext cx="3448050" cy="3429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a:solidFill>
                  <a:srgbClr val="578963"/>
                </a:solidFill>
                <a:latin typeface="Times New Roman" charset="0"/>
                <a:ea typeface="+mn-ea"/>
                <a:cs typeface="+mn-cs"/>
              </a:defRPr>
            </a:lvl1pPr>
          </a:lstStyle>
          <a:p>
            <a:pPr>
              <a:defRPr/>
            </a:pPr>
            <a:endParaRPr lang="en-US" dirty="0"/>
          </a:p>
        </p:txBody>
      </p:sp>
      <p:sp>
        <p:nvSpPr>
          <p:cNvPr id="8" name="Rectangle 5">
            <a:extLst>
              <a:ext uri="{FF2B5EF4-FFF2-40B4-BE49-F238E27FC236}">
                <a16:creationId xmlns:a16="http://schemas.microsoft.com/office/drawing/2014/main" id="{E5B7FE48-B4A0-4404-A94E-2D4837BDADF1}"/>
              </a:ext>
            </a:extLst>
          </p:cNvPr>
          <p:cNvSpPr>
            <a:spLocks noGrp="1" noChangeArrowheads="1"/>
          </p:cNvSpPr>
          <p:nvPr>
            <p:ph type="sldNum" sz="quarter" idx="11"/>
          </p:nvPr>
        </p:nvSpPr>
        <p:spPr>
          <a:xfrm>
            <a:off x="6596063" y="4663679"/>
            <a:ext cx="1905000" cy="342900"/>
          </a:xfrm>
        </p:spPr>
        <p:txBody>
          <a:bodyPr/>
          <a:lstStyle>
            <a:lvl1pPr>
              <a:defRPr smtClean="0">
                <a:solidFill>
                  <a:srgbClr val="578963"/>
                </a:solidFill>
              </a:defRPr>
            </a:lvl1pPr>
          </a:lstStyle>
          <a:p>
            <a:pPr>
              <a:defRPr/>
            </a:pPr>
            <a:fld id="{441F42D0-7627-45E8-BCAB-6293FCFFA666}"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 y="9252"/>
            <a:ext cx="1331269"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16652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AB433D2-BE84-467A-82DB-DBFCF9F936A3}"/>
              </a:ext>
            </a:extLst>
          </p:cNvPr>
          <p:cNvSpPr txBox="1">
            <a:spLocks noChangeArrowheads="1"/>
          </p:cNvSpPr>
          <p:nvPr/>
        </p:nvSpPr>
        <p:spPr bwMode="auto">
          <a:xfrm>
            <a:off x="3105581" y="4294585"/>
            <a:ext cx="2832827" cy="623248"/>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200" b="1">
                <a:solidFill>
                  <a:srgbClr val="002060"/>
                </a:solidFill>
              </a:rPr>
              <a:t>Database System Concepts, 7</a:t>
            </a:r>
            <a:r>
              <a:rPr lang="en-US" altLang="en-US" sz="1200" b="1" baseline="30000">
                <a:solidFill>
                  <a:srgbClr val="002060"/>
                </a:solidFill>
              </a:rPr>
              <a:t>th</a:t>
            </a:r>
            <a:r>
              <a:rPr lang="en-US" altLang="en-US" sz="1200" b="1">
                <a:solidFill>
                  <a:srgbClr val="002060"/>
                </a:solidFill>
              </a:rPr>
              <a:t> Ed</a:t>
            </a:r>
            <a:r>
              <a:rPr lang="en-US" altLang="en-US" sz="1200">
                <a:solidFill>
                  <a:srgbClr val="002060"/>
                </a:solidFill>
              </a:rPr>
              <a:t>.</a:t>
            </a:r>
          </a:p>
          <a:p>
            <a:pPr algn="ctr">
              <a:spcBef>
                <a:spcPct val="50000"/>
              </a:spcBef>
              <a:defRPr/>
            </a:pPr>
            <a:r>
              <a:rPr lang="en-US" altLang="en-US" sz="900" b="1">
                <a:solidFill>
                  <a:srgbClr val="002060"/>
                </a:solidFill>
              </a:rPr>
              <a:t>©Silberschatz, Korth and Sudarshan</a:t>
            </a:r>
            <a:br>
              <a:rPr lang="en-US" altLang="en-US" sz="900" b="1">
                <a:solidFill>
                  <a:srgbClr val="002060"/>
                </a:solidFill>
              </a:rPr>
            </a:br>
            <a:r>
              <a:rPr lang="en-US" altLang="en-US" sz="900" b="1">
                <a:solidFill>
                  <a:srgbClr val="002060"/>
                </a:solidFill>
              </a:rPr>
              <a:t>See </a:t>
            </a:r>
            <a:r>
              <a:rPr lang="en-US" altLang="en-US" sz="900" b="1">
                <a:solidFill>
                  <a:srgbClr val="002060"/>
                </a:solidFill>
                <a:hlinkClick r:id="rId2"/>
              </a:rPr>
              <a:t>www.db-book.com</a:t>
            </a:r>
            <a:r>
              <a:rPr lang="en-US" altLang="en-US" sz="900" b="1">
                <a:solidFill>
                  <a:srgbClr val="002060"/>
                </a:solidFill>
              </a:rPr>
              <a:t> for conditions on re-use </a:t>
            </a:r>
          </a:p>
        </p:txBody>
      </p:sp>
      <p:sp>
        <p:nvSpPr>
          <p:cNvPr id="487426" name="Rectangle 2"/>
          <p:cNvSpPr>
            <a:spLocks noGrp="1" noChangeArrowheads="1"/>
          </p:cNvSpPr>
          <p:nvPr>
            <p:ph type="ctrTitle"/>
          </p:nvPr>
        </p:nvSpPr>
        <p:spPr>
          <a:xfrm>
            <a:off x="685800" y="1714500"/>
            <a:ext cx="7772400" cy="857250"/>
          </a:xfrm>
        </p:spPr>
        <p:txBody>
          <a:bodyPr/>
          <a:lstStyle>
            <a:lvl1pPr>
              <a:defRPr>
                <a:solidFill>
                  <a:srgbClr val="002060"/>
                </a:solidFill>
              </a:defRPr>
            </a:lvl1pPr>
          </a:lstStyle>
          <a:p>
            <a:r>
              <a:rPr lang="en-US"/>
              <a:t>Click to edit Master title style</a:t>
            </a:r>
          </a:p>
        </p:txBody>
      </p:sp>
      <p:sp>
        <p:nvSpPr>
          <p:cNvPr id="8" name="Rectangle 5">
            <a:extLst>
              <a:ext uri="{FF2B5EF4-FFF2-40B4-BE49-F238E27FC236}">
                <a16:creationId xmlns:a16="http://schemas.microsoft.com/office/drawing/2014/main" id="{E5B7FE48-B4A0-4404-A94E-2D4837BDADF1}"/>
              </a:ext>
            </a:extLst>
          </p:cNvPr>
          <p:cNvSpPr>
            <a:spLocks noGrp="1" noChangeArrowheads="1"/>
          </p:cNvSpPr>
          <p:nvPr>
            <p:ph type="sldNum" sz="quarter" idx="11"/>
          </p:nvPr>
        </p:nvSpPr>
        <p:spPr>
          <a:xfrm>
            <a:off x="6596063" y="4663679"/>
            <a:ext cx="1905000" cy="342900"/>
          </a:xfrm>
        </p:spPr>
        <p:txBody>
          <a:bodyPr/>
          <a:lstStyle>
            <a:lvl1pPr>
              <a:defRPr smtClean="0">
                <a:solidFill>
                  <a:srgbClr val="578963"/>
                </a:solidFill>
              </a:defRPr>
            </a:lvl1pPr>
          </a:lstStyle>
          <a:p>
            <a:pPr>
              <a:defRPr/>
            </a:pPr>
            <a:fld id="{118533F7-750B-4DBA-96FC-65DC7E364DFB}" type="slidenum">
              <a:rPr lang="en-US" altLang="en-US" smtClean="0"/>
              <a:pPr>
                <a:defRPr/>
              </a:pPr>
              <a:t>‹#›</a:t>
            </a:fld>
            <a:endParaRPr lang="en-US" altLang="en-US"/>
          </a:p>
        </p:txBody>
      </p:sp>
      <p:pic>
        <p:nvPicPr>
          <p:cNvPr id="9" name="Picture 8" descr="Cover-6Ed"/>
          <p:cNvPicPr>
            <a:picLocks noChangeAspect="1" noChangeArrowheads="1"/>
          </p:cNvPicPr>
          <p:nvPr/>
        </p:nvPicPr>
        <p:blipFill>
          <a:blip r:embed="rId3"/>
          <a:stretch>
            <a:fillRect/>
          </a:stretch>
        </p:blipFill>
        <p:spPr bwMode="auto">
          <a:xfrm>
            <a:off x="1" y="9252"/>
            <a:ext cx="1331269"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77026798-0827-482F-848C-054321BDFD4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98785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85800" y="826873"/>
            <a:ext cx="7772400" cy="4025979"/>
          </a:xfrm>
          <a:prstGeom prst="rect">
            <a:avLst/>
          </a:prstGeom>
        </p:spPr>
        <p:txBody>
          <a:bodyPr/>
          <a:lstStyle>
            <a:lvl1pPr marL="257175" indent="-257175">
              <a:buSzPct val="110000"/>
              <a:buFont typeface="Wingdings" panose="05000000000000000000" pitchFamily="2" charset="2"/>
              <a:buChar char="§"/>
              <a:defRPr sz="1275"/>
            </a:lvl1pPr>
            <a:lvl2pPr marL="557213" indent="-214313">
              <a:buSzPct val="110000"/>
              <a:buFont typeface="Arial" panose="020B0604020202020204" pitchFamily="34" charset="0"/>
              <a:buChar char="•"/>
              <a:defRPr sz="1275"/>
            </a:lvl2pPr>
            <a:lvl3pPr marL="814388" indent="-171450">
              <a:buSzPct val="100000"/>
              <a:buFont typeface="Wingdings" panose="05000000000000000000" pitchFamily="2" charset="2"/>
              <a:buChar char="§"/>
              <a:defRPr sz="1275"/>
            </a:lvl3pPr>
            <a:lvl4pPr marL="1071563" indent="-171450">
              <a:buFont typeface="Arial" panose="020B0604020202020204" pitchFamily="34" charset="0"/>
              <a:buChar char="•"/>
              <a:defRPr sz="1275"/>
            </a:lvl4pPr>
            <a:lvl5pPr marL="1328738" indent="-171450">
              <a:buSzPct val="100000"/>
              <a:buFont typeface="Wingdings" panose="05000000000000000000" pitchFamily="2" charset="2"/>
              <a:buChar char="§"/>
              <a:defRPr sz="1275"/>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E42D457B-4574-44A7-82F5-364A95AA2566}"/>
              </a:ext>
            </a:extLst>
          </p:cNvPr>
          <p:cNvSpPr>
            <a:spLocks noGrp="1" noChangeArrowheads="1"/>
          </p:cNvSpPr>
          <p:nvPr>
            <p:ph type="sldNum" sz="quarter" idx="10"/>
          </p:nvPr>
        </p:nvSpPr>
        <p:spPr>
          <a:ln/>
        </p:spPr>
        <p:txBody>
          <a:bodyPr/>
          <a:lstStyle>
            <a:lvl1pPr>
              <a:defRPr/>
            </a:lvl1pPr>
          </a:lstStyle>
          <a:p>
            <a:pPr>
              <a:defRPr/>
            </a:pPr>
            <a:fld id="{9DC0FF13-A7A4-47FE-9669-E2EFAD58ABEC}" type="slidenum">
              <a:rPr lang="en-US" altLang="en-US" smtClean="0"/>
              <a:pPr>
                <a:defRPr/>
              </a:pPr>
              <a:t>‹#›</a:t>
            </a:fld>
            <a:endParaRPr lang="en-US" altLang="en-US"/>
          </a:p>
        </p:txBody>
      </p:sp>
    </p:spTree>
    <p:extLst>
      <p:ext uri="{BB962C8B-B14F-4D97-AF65-F5344CB8AC3E}">
        <p14:creationId xmlns:p14="http://schemas.microsoft.com/office/powerpoint/2010/main" val="13419998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835604"/>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74863" y="3055247"/>
            <a:ext cx="7772400" cy="1125140"/>
          </a:xfrm>
          <a:prstGeom prst="rect">
            <a:avLst/>
          </a:prstGeom>
        </p:spPr>
        <p:txBody>
          <a:bodyPr anchor="b"/>
          <a:lstStyle>
            <a:lvl1pPr marL="257175" indent="-257175">
              <a:buFont typeface="Wingdings" panose="05000000000000000000" pitchFamily="2" charset="2"/>
              <a:buChar char="§"/>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Edit Master text styles</a:t>
            </a:r>
          </a:p>
        </p:txBody>
      </p:sp>
      <p:sp>
        <p:nvSpPr>
          <p:cNvPr id="4" name="Rectangle 3">
            <a:extLst>
              <a:ext uri="{FF2B5EF4-FFF2-40B4-BE49-F238E27FC236}">
                <a16:creationId xmlns:a16="http://schemas.microsoft.com/office/drawing/2014/main" id="{9833A2CD-6A4B-4240-88F1-B4D7FEB50A79}"/>
              </a:ext>
            </a:extLst>
          </p:cNvPr>
          <p:cNvSpPr>
            <a:spLocks noGrp="1" noChangeArrowheads="1"/>
          </p:cNvSpPr>
          <p:nvPr>
            <p:ph type="sldNum" sz="quarter" idx="10"/>
          </p:nvPr>
        </p:nvSpPr>
        <p:spPr>
          <a:ln/>
        </p:spPr>
        <p:txBody>
          <a:bodyPr/>
          <a:lstStyle>
            <a:lvl1pPr>
              <a:defRPr/>
            </a:lvl1pPr>
          </a:lstStyle>
          <a:p>
            <a:pPr>
              <a:defRPr/>
            </a:pPr>
            <a:fld id="{37F29D90-88FA-402A-BEA8-1EF51CAB6752}" type="slidenum">
              <a:rPr lang="en-US" altLang="en-US" smtClean="0"/>
              <a:pPr>
                <a:defRPr/>
              </a:pPr>
              <a:t>‹#›</a:t>
            </a:fld>
            <a:endParaRPr lang="en-US" altLang="en-US"/>
          </a:p>
        </p:txBody>
      </p:sp>
    </p:spTree>
    <p:extLst>
      <p:ext uri="{BB962C8B-B14F-4D97-AF65-F5344CB8AC3E}">
        <p14:creationId xmlns:p14="http://schemas.microsoft.com/office/powerpoint/2010/main" val="95455042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Rectangle 3">
            <a:extLst>
              <a:ext uri="{FF2B5EF4-FFF2-40B4-BE49-F238E27FC236}">
                <a16:creationId xmlns:a16="http://schemas.microsoft.com/office/drawing/2014/main" id="{BC4FAFEB-DA24-40E3-81A3-2C7117781D6B}"/>
              </a:ext>
            </a:extLst>
          </p:cNvPr>
          <p:cNvSpPr>
            <a:spLocks noGrp="1" noChangeArrowheads="1"/>
          </p:cNvSpPr>
          <p:nvPr>
            <p:ph type="sldNum" sz="quarter" idx="10"/>
          </p:nvPr>
        </p:nvSpPr>
        <p:spPr>
          <a:ln/>
        </p:spPr>
        <p:txBody>
          <a:bodyPr/>
          <a:lstStyle>
            <a:lvl1pPr>
              <a:defRPr/>
            </a:lvl1pPr>
          </a:lstStyle>
          <a:p>
            <a:pPr>
              <a:defRPr/>
            </a:pPr>
            <a:fld id="{E5F592F4-3A7D-46E7-98AB-5C544D380A1B}" type="slidenum">
              <a:rPr lang="en-US" altLang="en-US" smtClean="0"/>
              <a:pPr>
                <a:defRPr/>
              </a:pPr>
              <a:t>‹#›</a:t>
            </a:fld>
            <a:endParaRPr lang="en-US" altLang="en-US"/>
          </a:p>
        </p:txBody>
      </p:sp>
      <p:sp>
        <p:nvSpPr>
          <p:cNvPr id="6" name="Content Placeholder 2">
            <a:extLst>
              <a:ext uri="{FF2B5EF4-FFF2-40B4-BE49-F238E27FC236}">
                <a16:creationId xmlns:a16="http://schemas.microsoft.com/office/drawing/2014/main" id="{EE86E211-15D2-459B-B331-A82FFB150BE0}"/>
              </a:ext>
            </a:extLst>
          </p:cNvPr>
          <p:cNvSpPr>
            <a:spLocks noGrp="1"/>
          </p:cNvSpPr>
          <p:nvPr>
            <p:ph idx="1"/>
          </p:nvPr>
        </p:nvSpPr>
        <p:spPr>
          <a:xfrm>
            <a:off x="437424" y="826873"/>
            <a:ext cx="3985352" cy="4025979"/>
          </a:xfrm>
          <a:prstGeom prst="rect">
            <a:avLst/>
          </a:prstGeom>
        </p:spPr>
        <p:txBody>
          <a:bodyPr/>
          <a:lstStyle>
            <a:lvl1pPr marL="257175" indent="-257175">
              <a:buSzPct val="110000"/>
              <a:buFont typeface="Wingdings" panose="05000000000000000000" pitchFamily="2" charset="2"/>
              <a:buChar char="§"/>
              <a:defRPr sz="1275"/>
            </a:lvl1pPr>
            <a:lvl2pPr marL="557213" indent="-214313">
              <a:buSzPct val="110000"/>
              <a:buFont typeface="Arial" panose="020B0604020202020204" pitchFamily="34" charset="0"/>
              <a:buChar char="•"/>
              <a:defRPr sz="1275"/>
            </a:lvl2pPr>
            <a:lvl3pPr marL="814388" indent="-171450">
              <a:buSzPct val="100000"/>
              <a:buFont typeface="Wingdings" panose="05000000000000000000" pitchFamily="2" charset="2"/>
              <a:buChar char="§"/>
              <a:defRPr sz="1275"/>
            </a:lvl3pPr>
            <a:lvl4pPr marL="1071563" indent="-171450">
              <a:buFont typeface="Arial" panose="020B0604020202020204" pitchFamily="34" charset="0"/>
              <a:buChar char="•"/>
              <a:defRPr sz="1275"/>
            </a:lvl4pPr>
            <a:lvl5pPr marL="1328738" indent="-171450">
              <a:buSzPct val="100000"/>
              <a:buFont typeface="Wingdings" panose="05000000000000000000" pitchFamily="2" charset="2"/>
              <a:buChar char="§"/>
              <a:defRPr sz="1275"/>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74283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a:prstGeom prst="rect">
            <a:avLst/>
          </a:prstGeom>
        </p:spPr>
        <p:txBody>
          <a:bodyPr/>
          <a:lstStyle>
            <a:lvl1pPr>
              <a:defRPr sz="1275"/>
            </a:lvl1pPr>
            <a:lvl2pPr>
              <a:defRPr sz="1275"/>
            </a:lvl2pPr>
            <a:lvl3pPr>
              <a:defRPr sz="1275"/>
            </a:lvl3pPr>
            <a:lvl4pPr>
              <a:defRPr sz="1275"/>
            </a:lvl4pPr>
            <a:lvl5pPr>
              <a:defRPr sz="1275"/>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a:prstGeom prst="rect">
            <a:avLst/>
          </a:prstGeom>
        </p:spPr>
        <p:txBody>
          <a:bodyPr/>
          <a:lstStyle>
            <a:lvl1pPr>
              <a:defRPr sz="1275"/>
            </a:lvl1pPr>
            <a:lvl2pPr>
              <a:defRPr sz="1275"/>
            </a:lvl2pPr>
            <a:lvl3pPr>
              <a:defRPr sz="1275"/>
            </a:lvl3pPr>
            <a:lvl4pPr>
              <a:defRPr sz="1275"/>
            </a:lvl4pPr>
            <a:lvl5pPr>
              <a:defRPr sz="1275"/>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42096E68-496F-4499-93E9-D10C62B93D1A}"/>
              </a:ext>
            </a:extLst>
          </p:cNvPr>
          <p:cNvSpPr>
            <a:spLocks noGrp="1" noChangeArrowheads="1"/>
          </p:cNvSpPr>
          <p:nvPr>
            <p:ph type="sldNum" sz="quarter" idx="10"/>
          </p:nvPr>
        </p:nvSpPr>
        <p:spPr>
          <a:ln/>
        </p:spPr>
        <p:txBody>
          <a:bodyPr/>
          <a:lstStyle>
            <a:lvl1pPr>
              <a:defRPr/>
            </a:lvl1pPr>
          </a:lstStyle>
          <a:p>
            <a:pPr>
              <a:defRPr/>
            </a:pPr>
            <a:fld id="{574C0E4B-79D4-46C0-883C-5BC043062C35}" type="slidenum">
              <a:rPr lang="en-US" altLang="en-US" smtClean="0"/>
              <a:pPr>
                <a:defRPr/>
              </a:pPr>
              <a:t>‹#›</a:t>
            </a:fld>
            <a:endParaRPr lang="en-US" altLang="en-US"/>
          </a:p>
        </p:txBody>
      </p:sp>
    </p:spTree>
    <p:extLst>
      <p:ext uri="{BB962C8B-B14F-4D97-AF65-F5344CB8AC3E}">
        <p14:creationId xmlns:p14="http://schemas.microsoft.com/office/powerpoint/2010/main" val="13997436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F8A17BCC-393D-48FB-8CCD-31D1E0C6FA40}"/>
              </a:ext>
            </a:extLst>
          </p:cNvPr>
          <p:cNvSpPr>
            <a:spLocks noGrp="1" noChangeArrowheads="1"/>
          </p:cNvSpPr>
          <p:nvPr>
            <p:ph type="sldNum" sz="quarter" idx="10"/>
          </p:nvPr>
        </p:nvSpPr>
        <p:spPr>
          <a:ln/>
        </p:spPr>
        <p:txBody>
          <a:bodyPr/>
          <a:lstStyle>
            <a:lvl1pPr>
              <a:defRPr/>
            </a:lvl1pPr>
          </a:lstStyle>
          <a:p>
            <a:pPr>
              <a:defRPr/>
            </a:pPr>
            <a:fld id="{BDFDF77F-67A1-48F6-8358-97C70542CB22}" type="slidenum">
              <a:rPr lang="en-US" altLang="en-US" smtClean="0"/>
              <a:pPr>
                <a:defRPr/>
              </a:pPr>
              <a:t>‹#›</a:t>
            </a:fld>
            <a:endParaRPr lang="en-US" altLang="en-US"/>
          </a:p>
        </p:txBody>
      </p:sp>
    </p:spTree>
    <p:extLst>
      <p:ext uri="{BB962C8B-B14F-4D97-AF65-F5344CB8AC3E}">
        <p14:creationId xmlns:p14="http://schemas.microsoft.com/office/powerpoint/2010/main" val="370827810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54EDB4F-7D4C-4F34-9AD3-169F9858A5EE}"/>
              </a:ext>
            </a:extLst>
          </p:cNvPr>
          <p:cNvSpPr>
            <a:spLocks noGrp="1" noChangeArrowheads="1"/>
          </p:cNvSpPr>
          <p:nvPr>
            <p:ph type="sldNum" sz="quarter" idx="10"/>
          </p:nvPr>
        </p:nvSpPr>
        <p:spPr>
          <a:ln/>
        </p:spPr>
        <p:txBody>
          <a:bodyPr/>
          <a:lstStyle>
            <a:lvl1pPr>
              <a:defRPr/>
            </a:lvl1pPr>
          </a:lstStyle>
          <a:p>
            <a:pPr>
              <a:defRPr/>
            </a:pPr>
            <a:fld id="{AA16F0F5-1220-4B86-AECD-B7BEE6E1BE7F}" type="slidenum">
              <a:rPr lang="en-US" altLang="en-US" smtClean="0"/>
              <a:pPr>
                <a:defRPr/>
              </a:pPr>
              <a:t>‹#›</a:t>
            </a:fld>
            <a:endParaRPr lang="en-US" altLang="en-US"/>
          </a:p>
        </p:txBody>
      </p:sp>
    </p:spTree>
    <p:extLst>
      <p:ext uri="{BB962C8B-B14F-4D97-AF65-F5344CB8AC3E}">
        <p14:creationId xmlns:p14="http://schemas.microsoft.com/office/powerpoint/2010/main" val="7470624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1275"/>
            </a:lvl1pPr>
            <a:lvl2pPr>
              <a:defRPr sz="1275"/>
            </a:lvl2pPr>
            <a:lvl3pPr>
              <a:defRPr sz="1275"/>
            </a:lvl3pPr>
            <a:lvl4pPr>
              <a:defRPr sz="1275"/>
            </a:lvl4pPr>
            <a:lvl5pPr>
              <a:defRPr sz="1275"/>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Rectangle 3">
            <a:extLst>
              <a:ext uri="{FF2B5EF4-FFF2-40B4-BE49-F238E27FC236}">
                <a16:creationId xmlns:a16="http://schemas.microsoft.com/office/drawing/2014/main" id="{AA8DFBA5-2441-4C97-8340-430BD863557C}"/>
              </a:ext>
            </a:extLst>
          </p:cNvPr>
          <p:cNvSpPr>
            <a:spLocks noGrp="1" noChangeArrowheads="1"/>
          </p:cNvSpPr>
          <p:nvPr>
            <p:ph type="sldNum" sz="quarter" idx="10"/>
          </p:nvPr>
        </p:nvSpPr>
        <p:spPr>
          <a:ln/>
        </p:spPr>
        <p:txBody>
          <a:bodyPr/>
          <a:lstStyle>
            <a:lvl1pPr>
              <a:defRPr/>
            </a:lvl1pPr>
          </a:lstStyle>
          <a:p>
            <a:pPr>
              <a:defRPr/>
            </a:pPr>
            <a:fld id="{2725D68A-6EDF-45EE-BBA8-637BD793E613}" type="slidenum">
              <a:rPr lang="en-US" altLang="en-US" smtClean="0"/>
              <a:pPr>
                <a:defRPr/>
              </a:pPr>
              <a:t>‹#›</a:t>
            </a:fld>
            <a:endParaRPr lang="en-US" altLang="en-US"/>
          </a:p>
        </p:txBody>
      </p:sp>
    </p:spTree>
    <p:extLst>
      <p:ext uri="{BB962C8B-B14F-4D97-AF65-F5344CB8AC3E}">
        <p14:creationId xmlns:p14="http://schemas.microsoft.com/office/powerpoint/2010/main" val="21106889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Rectangle 3">
            <a:extLst>
              <a:ext uri="{FF2B5EF4-FFF2-40B4-BE49-F238E27FC236}">
                <a16:creationId xmlns:a16="http://schemas.microsoft.com/office/drawing/2014/main" id="{D8B4ACE8-FA36-4C9A-B2D0-93D5FB40D304}"/>
              </a:ext>
            </a:extLst>
          </p:cNvPr>
          <p:cNvSpPr>
            <a:spLocks noGrp="1" noChangeArrowheads="1"/>
          </p:cNvSpPr>
          <p:nvPr>
            <p:ph type="sldNum" sz="quarter" idx="10"/>
          </p:nvPr>
        </p:nvSpPr>
        <p:spPr>
          <a:ln/>
        </p:spPr>
        <p:txBody>
          <a:bodyPr/>
          <a:lstStyle>
            <a:lvl1pPr>
              <a:defRPr/>
            </a:lvl1pPr>
          </a:lstStyle>
          <a:p>
            <a:pPr>
              <a:defRPr/>
            </a:pPr>
            <a:fld id="{6D035670-FB96-4DB8-BA64-B31D7C042BD4}" type="slidenum">
              <a:rPr lang="en-US" altLang="en-US" smtClean="0"/>
              <a:pPr>
                <a:defRPr/>
              </a:pPr>
              <a:t>‹#›</a:t>
            </a:fld>
            <a:endParaRPr lang="en-US" altLang="en-US"/>
          </a:p>
        </p:txBody>
      </p:sp>
    </p:spTree>
    <p:extLst>
      <p:ext uri="{BB962C8B-B14F-4D97-AF65-F5344CB8AC3E}">
        <p14:creationId xmlns:p14="http://schemas.microsoft.com/office/powerpoint/2010/main" val="24236551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814388" y="820342"/>
            <a:ext cx="7661275" cy="3677840"/>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7677CD6D-A5E2-4543-81E0-D97745649CEB}"/>
              </a:ext>
            </a:extLst>
          </p:cNvPr>
          <p:cNvSpPr>
            <a:spLocks noGrp="1" noChangeArrowheads="1"/>
          </p:cNvSpPr>
          <p:nvPr>
            <p:ph type="sldNum" sz="quarter" idx="10"/>
          </p:nvPr>
        </p:nvSpPr>
        <p:spPr>
          <a:ln/>
        </p:spPr>
        <p:txBody>
          <a:bodyPr/>
          <a:lstStyle>
            <a:lvl1pPr>
              <a:defRPr/>
            </a:lvl1pPr>
          </a:lstStyle>
          <a:p>
            <a:pPr>
              <a:defRPr/>
            </a:pPr>
            <a:fld id="{6BE145AF-6EF6-4D3F-9F5A-D9A01965DFCC}" type="slidenum">
              <a:rPr lang="en-US" altLang="en-US" smtClean="0"/>
              <a:pPr>
                <a:defRPr/>
              </a:pPr>
              <a:t>‹#›</a:t>
            </a:fld>
            <a:endParaRPr lang="en-US" altLang="en-US"/>
          </a:p>
        </p:txBody>
      </p:sp>
    </p:spTree>
    <p:extLst>
      <p:ext uri="{BB962C8B-B14F-4D97-AF65-F5344CB8AC3E}">
        <p14:creationId xmlns:p14="http://schemas.microsoft.com/office/powerpoint/2010/main" val="15317606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88106"/>
            <a:ext cx="2019300" cy="44100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88106"/>
            <a:ext cx="5905500" cy="4410075"/>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66D4BD1A-4145-49C3-8D7D-1F956B760305}"/>
              </a:ext>
            </a:extLst>
          </p:cNvPr>
          <p:cNvSpPr>
            <a:spLocks noGrp="1" noChangeArrowheads="1"/>
          </p:cNvSpPr>
          <p:nvPr>
            <p:ph type="sldNum" sz="quarter" idx="10"/>
          </p:nvPr>
        </p:nvSpPr>
        <p:spPr>
          <a:ln/>
        </p:spPr>
        <p:txBody>
          <a:bodyPr/>
          <a:lstStyle>
            <a:lvl1pPr>
              <a:defRPr/>
            </a:lvl1pPr>
          </a:lstStyle>
          <a:p>
            <a:pPr>
              <a:defRPr/>
            </a:pPr>
            <a:fld id="{330473E3-C97D-4F1E-BBB4-46F84DAEF79D}" type="slidenum">
              <a:rPr lang="en-US" altLang="en-US" smtClean="0"/>
              <a:pPr>
                <a:defRPr/>
              </a:pPr>
              <a:t>‹#›</a:t>
            </a:fld>
            <a:endParaRPr lang="en-US" altLang="en-US"/>
          </a:p>
        </p:txBody>
      </p:sp>
    </p:spTree>
    <p:extLst>
      <p:ext uri="{BB962C8B-B14F-4D97-AF65-F5344CB8AC3E}">
        <p14:creationId xmlns:p14="http://schemas.microsoft.com/office/powerpoint/2010/main" val="32857763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8350" y="88106"/>
            <a:ext cx="8077200" cy="457200"/>
          </a:xfrm>
        </p:spPr>
        <p:txBody>
          <a:bodyPr/>
          <a:lstStyle/>
          <a:p>
            <a:r>
              <a:rPr lang="en-US"/>
              <a:t>Click to edit Master title style</a:t>
            </a:r>
          </a:p>
        </p:txBody>
      </p:sp>
      <p:sp>
        <p:nvSpPr>
          <p:cNvPr id="3" name="Text Placeholder 2"/>
          <p:cNvSpPr>
            <a:spLocks noGrp="1"/>
          </p:cNvSpPr>
          <p:nvPr>
            <p:ph type="body" sz="half" idx="1"/>
          </p:nvPr>
        </p:nvSpPr>
        <p:spPr>
          <a:xfrm>
            <a:off x="814389" y="820342"/>
            <a:ext cx="3754437" cy="36778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820342"/>
            <a:ext cx="3754438" cy="36778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D7C2D5D2-FFA8-4B97-9D6C-DF120847B519}"/>
              </a:ext>
            </a:extLst>
          </p:cNvPr>
          <p:cNvSpPr>
            <a:spLocks noGrp="1" noChangeArrowheads="1"/>
          </p:cNvSpPr>
          <p:nvPr>
            <p:ph type="sldNum" sz="quarter" idx="10"/>
          </p:nvPr>
        </p:nvSpPr>
        <p:spPr>
          <a:ln/>
        </p:spPr>
        <p:txBody>
          <a:bodyPr/>
          <a:lstStyle>
            <a:lvl1pPr>
              <a:defRPr/>
            </a:lvl1pPr>
          </a:lstStyle>
          <a:p>
            <a:pPr>
              <a:defRPr/>
            </a:pPr>
            <a:fld id="{C2ED80F2-B6B5-42D7-B641-5532DED86820}" type="slidenum">
              <a:rPr lang="en-US" altLang="en-US"/>
              <a:pPr>
                <a:defRPr/>
              </a:pPr>
              <a:t>‹#›</a:t>
            </a:fld>
            <a:endParaRPr lang="en-US" altLang="en-US"/>
          </a:p>
        </p:txBody>
      </p:sp>
    </p:spTree>
    <p:extLst>
      <p:ext uri="{BB962C8B-B14F-4D97-AF65-F5344CB8AC3E}">
        <p14:creationId xmlns:p14="http://schemas.microsoft.com/office/powerpoint/2010/main" val="343254936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E2D77BB-A1E3-4E40-9A08-249BCF8B8523}"/>
              </a:ext>
            </a:extLst>
          </p:cNvPr>
          <p:cNvSpPr txBox="1">
            <a:spLocks noChangeArrowheads="1"/>
          </p:cNvSpPr>
          <p:nvPr/>
        </p:nvSpPr>
        <p:spPr bwMode="auto">
          <a:xfrm>
            <a:off x="3105581" y="4294585"/>
            <a:ext cx="2832827" cy="623248"/>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200" b="1">
                <a:solidFill>
                  <a:srgbClr val="002060"/>
                </a:solidFill>
              </a:rPr>
              <a:t>Database System Concepts, 7</a:t>
            </a:r>
            <a:r>
              <a:rPr lang="en-US" altLang="en-US" sz="1200" b="1" baseline="30000">
                <a:solidFill>
                  <a:srgbClr val="002060"/>
                </a:solidFill>
              </a:rPr>
              <a:t>th</a:t>
            </a:r>
            <a:r>
              <a:rPr lang="en-US" altLang="en-US" sz="1200" b="1">
                <a:solidFill>
                  <a:srgbClr val="002060"/>
                </a:solidFill>
              </a:rPr>
              <a:t> Ed</a:t>
            </a:r>
            <a:r>
              <a:rPr lang="en-US" altLang="en-US" sz="1200">
                <a:solidFill>
                  <a:srgbClr val="002060"/>
                </a:solidFill>
              </a:rPr>
              <a:t>.</a:t>
            </a:r>
          </a:p>
          <a:p>
            <a:pPr algn="ctr">
              <a:spcBef>
                <a:spcPct val="50000"/>
              </a:spcBef>
              <a:defRPr/>
            </a:pPr>
            <a:r>
              <a:rPr lang="en-US" altLang="en-US" sz="900" b="1">
                <a:solidFill>
                  <a:srgbClr val="002060"/>
                </a:solidFill>
              </a:rPr>
              <a:t>©Silberschatz, </a:t>
            </a:r>
            <a:r>
              <a:rPr lang="en-US" altLang="en-US" sz="900" b="1" err="1">
                <a:solidFill>
                  <a:srgbClr val="002060"/>
                </a:solidFill>
              </a:rPr>
              <a:t>Korth</a:t>
            </a:r>
            <a:r>
              <a:rPr lang="en-US" altLang="en-US" sz="900" b="1">
                <a:solidFill>
                  <a:srgbClr val="002060"/>
                </a:solidFill>
              </a:rPr>
              <a:t> and Sudarshan</a:t>
            </a:r>
            <a:br>
              <a:rPr lang="en-US" altLang="en-US" sz="900" b="1">
                <a:solidFill>
                  <a:srgbClr val="002060"/>
                </a:solidFill>
              </a:rPr>
            </a:br>
            <a:r>
              <a:rPr lang="en-US" altLang="en-US" sz="900" b="1">
                <a:solidFill>
                  <a:srgbClr val="002060"/>
                </a:solidFill>
              </a:rPr>
              <a:t>See </a:t>
            </a:r>
            <a:r>
              <a:rPr lang="en-US" altLang="en-US" sz="900" b="1">
                <a:solidFill>
                  <a:srgbClr val="002060"/>
                </a:solidFill>
                <a:hlinkClick r:id="rId2"/>
              </a:rPr>
              <a:t>www.db-book.com</a:t>
            </a:r>
            <a:r>
              <a:rPr lang="en-US" altLang="en-US" sz="900" b="1">
                <a:solidFill>
                  <a:srgbClr val="002060"/>
                </a:solidFill>
              </a:rPr>
              <a:t> for conditions on re-use </a:t>
            </a:r>
          </a:p>
        </p:txBody>
      </p:sp>
      <p:sp>
        <p:nvSpPr>
          <p:cNvPr id="613378" name="Rectangle 2"/>
          <p:cNvSpPr>
            <a:spLocks noGrp="1" noChangeArrowheads="1"/>
          </p:cNvSpPr>
          <p:nvPr>
            <p:ph type="ctrTitle"/>
          </p:nvPr>
        </p:nvSpPr>
        <p:spPr>
          <a:xfrm>
            <a:off x="685800" y="1714500"/>
            <a:ext cx="7772400" cy="857250"/>
          </a:xfrm>
        </p:spPr>
        <p:txBody>
          <a:bodyPr/>
          <a:lstStyle>
            <a:lvl1pPr>
              <a:defRPr>
                <a:solidFill>
                  <a:srgbClr val="002060"/>
                </a:solidFill>
              </a:defRPr>
            </a:lvl1pPr>
          </a:lstStyle>
          <a:p>
            <a:r>
              <a:rPr lang="en-US"/>
              <a:t>Click to edit Master title style</a:t>
            </a:r>
          </a:p>
        </p:txBody>
      </p:sp>
      <p:sp>
        <p:nvSpPr>
          <p:cNvPr id="7" name="Rectangle 4">
            <a:extLst>
              <a:ext uri="{FF2B5EF4-FFF2-40B4-BE49-F238E27FC236}">
                <a16:creationId xmlns:a16="http://schemas.microsoft.com/office/drawing/2014/main" id="{4053C40E-D8FC-4564-9F45-CF1A70873460}"/>
              </a:ext>
            </a:extLst>
          </p:cNvPr>
          <p:cNvSpPr>
            <a:spLocks noGrp="1" noChangeArrowheads="1"/>
          </p:cNvSpPr>
          <p:nvPr>
            <p:ph type="ftr" sz="quarter" idx="10"/>
          </p:nvPr>
        </p:nvSpPr>
        <p:spPr bwMode="auto">
          <a:xfrm>
            <a:off x="2862263" y="4335066"/>
            <a:ext cx="3448050" cy="3429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a:solidFill>
                  <a:srgbClr val="578963"/>
                </a:solidFill>
                <a:latin typeface="Times New Roman" charset="0"/>
                <a:ea typeface="+mn-ea"/>
                <a:cs typeface="+mn-cs"/>
              </a:defRPr>
            </a:lvl1pPr>
          </a:lstStyle>
          <a:p>
            <a:pPr>
              <a:defRPr/>
            </a:pPr>
            <a:r>
              <a:rPr lang="en-US"/>
              <a:t>7</a:t>
            </a:r>
          </a:p>
        </p:txBody>
      </p:sp>
      <p:sp>
        <p:nvSpPr>
          <p:cNvPr id="8" name="Rectangle 5">
            <a:extLst>
              <a:ext uri="{FF2B5EF4-FFF2-40B4-BE49-F238E27FC236}">
                <a16:creationId xmlns:a16="http://schemas.microsoft.com/office/drawing/2014/main" id="{D2D242F4-2B18-4F93-AF83-C0B3D393143B}"/>
              </a:ext>
            </a:extLst>
          </p:cNvPr>
          <p:cNvSpPr>
            <a:spLocks noGrp="1" noChangeArrowheads="1"/>
          </p:cNvSpPr>
          <p:nvPr>
            <p:ph type="sldNum" sz="quarter" idx="11"/>
          </p:nvPr>
        </p:nvSpPr>
        <p:spPr>
          <a:xfrm>
            <a:off x="6596063" y="4663679"/>
            <a:ext cx="1905000" cy="342900"/>
          </a:xfrm>
        </p:spPr>
        <p:txBody>
          <a:bodyPr/>
          <a:lstStyle>
            <a:lvl1pPr>
              <a:defRPr smtClean="0">
                <a:solidFill>
                  <a:srgbClr val="578963"/>
                </a:solidFill>
              </a:defRPr>
            </a:lvl1pPr>
          </a:lstStyle>
          <a:p>
            <a:pPr>
              <a:defRPr/>
            </a:pPr>
            <a:fld id="{118533F7-750B-4DBA-96FC-65DC7E364DFB}"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69352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image" Target="../media/image1.emf"/><Relationship Id="rId5" Type="http://schemas.openxmlformats.org/officeDocument/2006/relationships/slideLayout" Target="../slideLayouts/slideLayout12.xml"/><Relationship Id="rId10" Type="http://schemas.openxmlformats.org/officeDocument/2006/relationships/theme" Target="../theme/theme2.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6" Type="http://schemas.openxmlformats.org/officeDocument/2006/relationships/image" Target="../media/image2.jpeg"/><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theme" Target="../theme/theme3.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image" Target="../media/image2.jpeg"/><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
        <p:nvSpPr>
          <p:cNvPr id="9" name="TextBox 11"/>
          <p:cNvSpPr txBox="1">
            <a:spLocks noChangeArrowheads="1"/>
          </p:cNvSpPr>
          <p:nvPr userDrawn="1"/>
        </p:nvSpPr>
        <p:spPr bwMode="auto">
          <a:xfrm>
            <a:off x="255588" y="4695825"/>
            <a:ext cx="678180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indent="0" algn="l" defTabSz="457200" rtl="0" eaLnBrk="1" fontAlgn="base" latinLnBrk="0" hangingPunct="1">
              <a:lnSpc>
                <a:spcPct val="100000"/>
              </a:lnSpc>
              <a:spcBef>
                <a:spcPct val="0"/>
              </a:spcBef>
              <a:spcAft>
                <a:spcPct val="0"/>
              </a:spcAft>
              <a:buClrTx/>
              <a:buSzTx/>
              <a:buFontTx/>
              <a:buNone/>
              <a:tabLst/>
              <a:defRPr/>
            </a:pPr>
            <a:fld id="{0EE15EB3-3077-C740-8089-CCA1B2033312}" type="slidenum">
              <a:rPr lang="en-US" altLang="en-US" sz="1050" b="1">
                <a:solidFill>
                  <a:schemeClr val="bg1"/>
                </a:solidFill>
              </a:rPr>
              <a:pPr marL="0" marR="0" indent="0" algn="l" defTabSz="457200" rtl="0" eaLnBrk="1" fontAlgn="base" latinLnBrk="0" hangingPunct="1">
                <a:lnSpc>
                  <a:spcPct val="100000"/>
                </a:lnSpc>
                <a:spcBef>
                  <a:spcPct val="0"/>
                </a:spcBef>
                <a:spcAft>
                  <a:spcPct val="0"/>
                </a:spcAft>
                <a:buClrTx/>
                <a:buSzTx/>
                <a:buFontTx/>
                <a:buNone/>
                <a:tabLst/>
                <a:defRPr/>
              </a:pPr>
              <a:t>‹#›</a:t>
            </a:fld>
            <a:r>
              <a:rPr lang="en-US" altLang="en-US" sz="1050" b="1" dirty="0">
                <a:solidFill>
                  <a:schemeClr val="bg1"/>
                </a:solidFill>
              </a:rPr>
              <a:t> </a:t>
            </a:r>
            <a:r>
              <a:rPr lang="en-US" altLang="en-US" sz="1050" dirty="0">
                <a:solidFill>
                  <a:schemeClr val="bg1"/>
                </a:solidFill>
              </a:rPr>
              <a:t>|</a:t>
            </a:r>
            <a:r>
              <a:rPr lang="en-US" altLang="en-US" sz="1050" b="1" dirty="0">
                <a:solidFill>
                  <a:schemeClr val="bg1"/>
                </a:solidFill>
              </a:rPr>
              <a:t> W4111-2025F-Makeup-Module-II</a:t>
            </a:r>
            <a:r>
              <a:rPr lang="en-US" altLang="en-US" sz="1050" i="1" dirty="0">
                <a:solidFill>
                  <a:schemeClr val="bg1"/>
                </a:solidFill>
              </a:rPr>
              <a:t>			</a:t>
            </a:r>
            <a:r>
              <a:rPr lang="de-DE" altLang="en-US" sz="900" i="1" dirty="0">
                <a:solidFill>
                  <a:schemeClr val="bg1"/>
                </a:solidFill>
              </a:rPr>
              <a:t>© Donald F. Ferguson, 2025</a:t>
            </a:r>
            <a:endParaRPr lang="en-US" altLang="en-US" sz="900" i="1" dirty="0">
              <a:solidFill>
                <a:schemeClr val="bg1"/>
              </a:solidFill>
            </a:endParaRPr>
          </a:p>
        </p:txBody>
      </p:sp>
      <p:pic>
        <p:nvPicPr>
          <p:cNvPr id="12" name="Picture 10"/>
          <p:cNvPicPr>
            <a:picLocks noChangeAspect="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a:spLocks noChangeArrowheads="1"/>
          </p:cNvSpPr>
          <p:nvPr userDrawn="1"/>
        </p:nvSpPr>
        <p:spPr bwMode="auto">
          <a:xfrm>
            <a:off x="0" y="0"/>
            <a:ext cx="9144000" cy="457200"/>
          </a:xfrm>
          <a:prstGeom prst="rect">
            <a:avLst/>
          </a:prstGeom>
          <a:solidFill>
            <a:srgbClr val="1A2C64"/>
          </a:solidFill>
          <a:ln>
            <a:noFill/>
          </a:ln>
          <a:effectLst>
            <a:outerShdw blurRad="40000" dist="23000" dir="5400000" rotWithShape="0">
              <a:srgbClr val="000000">
                <a:alpha val="34999"/>
              </a:srgbClr>
            </a:outerShdw>
          </a:effec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Tree>
  </p:cSld>
  <p:clrMap bg1="lt1" tx1="dk1" bg2="lt2" tx2="dk2" accent1="accent1" accent2="accent2" accent3="accent3" accent4="accent4" accent5="accent5" accent6="accent6" hlink="hlink" folHlink="folHlink"/>
  <p:sldLayoutIdLst>
    <p:sldLayoutId id="2147493469" r:id="rId1"/>
    <p:sldLayoutId id="2147493474" r:id="rId2"/>
    <p:sldLayoutId id="2147493586" r:id="rId3"/>
    <p:sldLayoutId id="2147493478" r:id="rId4"/>
    <p:sldLayoutId id="2147493475" r:id="rId5"/>
    <p:sldLayoutId id="2147493476" r:id="rId6"/>
    <p:sldLayoutId id="2147493477" r:id="rId7"/>
  </p:sldLayoutIdLst>
  <p:txStyles>
    <p:title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p:titleStyle>
    <p:body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ＭＳ Ｐゴシック" charset="-128"/>
          <a:cs typeface="+mn-cs"/>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
        <p:nvSpPr>
          <p:cNvPr id="9" name="TextBox 11"/>
          <p:cNvSpPr txBox="1">
            <a:spLocks noChangeArrowheads="1"/>
          </p:cNvSpPr>
          <p:nvPr userDrawn="1"/>
        </p:nvSpPr>
        <p:spPr bwMode="auto">
          <a:xfrm>
            <a:off x="255588" y="4695825"/>
            <a:ext cx="678180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indent="0" algn="l" defTabSz="457200" rtl="0" eaLnBrk="1" fontAlgn="base" latinLnBrk="0" hangingPunct="1">
              <a:lnSpc>
                <a:spcPct val="100000"/>
              </a:lnSpc>
              <a:spcBef>
                <a:spcPct val="0"/>
              </a:spcBef>
              <a:spcAft>
                <a:spcPct val="0"/>
              </a:spcAft>
              <a:buClrTx/>
              <a:buSzTx/>
              <a:buFontTx/>
              <a:buNone/>
              <a:tabLst/>
              <a:defRPr/>
            </a:pPr>
            <a:fld id="{0EE15EB3-3077-C740-8089-CCA1B2033312}" type="slidenum">
              <a:rPr lang="en-US" altLang="en-US" sz="1050" b="1">
                <a:solidFill>
                  <a:schemeClr val="bg1"/>
                </a:solidFill>
              </a:rPr>
              <a:pPr marL="0" marR="0" indent="0" algn="l" defTabSz="457200" rtl="0" eaLnBrk="1" fontAlgn="base" latinLnBrk="0" hangingPunct="1">
                <a:lnSpc>
                  <a:spcPct val="100000"/>
                </a:lnSpc>
                <a:spcBef>
                  <a:spcPct val="0"/>
                </a:spcBef>
                <a:spcAft>
                  <a:spcPct val="0"/>
                </a:spcAft>
                <a:buClrTx/>
                <a:buSzTx/>
                <a:buFontTx/>
                <a:buNone/>
                <a:tabLst/>
                <a:defRPr/>
              </a:pPr>
              <a:t>‹#›</a:t>
            </a:fld>
            <a:r>
              <a:rPr lang="en-US" altLang="en-US" sz="1050" b="1" dirty="0">
                <a:solidFill>
                  <a:schemeClr val="bg1"/>
                </a:solidFill>
              </a:rPr>
              <a:t> </a:t>
            </a:r>
            <a:r>
              <a:rPr lang="en-US" altLang="en-US" sz="1050" dirty="0">
                <a:solidFill>
                  <a:schemeClr val="bg1"/>
                </a:solidFill>
              </a:rPr>
              <a:t>|</a:t>
            </a:r>
            <a:r>
              <a:rPr lang="en-US" altLang="en-US" sz="1050" b="1" dirty="0">
                <a:solidFill>
                  <a:schemeClr val="bg1"/>
                </a:solidFill>
              </a:rPr>
              <a:t> W4111-02024F-9-Module-II(3)-</a:t>
            </a:r>
            <a:r>
              <a:rPr lang="en-US" altLang="en-US" sz="1050" b="1" dirty="0" err="1">
                <a:solidFill>
                  <a:schemeClr val="bg1"/>
                </a:solidFill>
              </a:rPr>
              <a:t>NoSql</a:t>
            </a:r>
            <a:r>
              <a:rPr lang="en-US" altLang="en-US" sz="1050" b="1" dirty="0">
                <a:solidFill>
                  <a:schemeClr val="bg1"/>
                </a:solidFill>
              </a:rPr>
              <a:t>(3)</a:t>
            </a:r>
            <a:r>
              <a:rPr lang="en-US" altLang="en-US" sz="1050" i="1" dirty="0">
                <a:solidFill>
                  <a:schemeClr val="bg1"/>
                </a:solidFill>
              </a:rPr>
              <a:t>			</a:t>
            </a:r>
            <a:r>
              <a:rPr lang="de-DE" altLang="en-US" sz="900" i="1" dirty="0">
                <a:solidFill>
                  <a:schemeClr val="bg1"/>
                </a:solidFill>
              </a:rPr>
              <a:t>© Donald F. Ferguson, 2024</a:t>
            </a:r>
            <a:endParaRPr lang="en-US" altLang="en-US" sz="900" i="1" dirty="0">
              <a:solidFill>
                <a:schemeClr val="bg1"/>
              </a:solidFill>
            </a:endParaRPr>
          </a:p>
        </p:txBody>
      </p:sp>
      <p:pic>
        <p:nvPicPr>
          <p:cNvPr id="12" name="Picture 10"/>
          <p:cNvPicPr>
            <a:picLocks noChangeAspect="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a:spLocks noChangeArrowheads="1"/>
          </p:cNvSpPr>
          <p:nvPr userDrawn="1"/>
        </p:nvSpPr>
        <p:spPr bwMode="auto">
          <a:xfrm>
            <a:off x="0" y="0"/>
            <a:ext cx="9144000" cy="457200"/>
          </a:xfrm>
          <a:prstGeom prst="rect">
            <a:avLst/>
          </a:prstGeom>
          <a:solidFill>
            <a:srgbClr val="1A2C64"/>
          </a:solidFill>
          <a:ln>
            <a:noFill/>
          </a:ln>
          <a:effectLst>
            <a:outerShdw blurRad="40000" dist="23000" dir="5400000" rotWithShape="0">
              <a:srgbClr val="000000">
                <a:alpha val="34999"/>
              </a:srgbClr>
            </a:outerShdw>
          </a:effec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Tree>
    <p:extLst>
      <p:ext uri="{BB962C8B-B14F-4D97-AF65-F5344CB8AC3E}">
        <p14:creationId xmlns:p14="http://schemas.microsoft.com/office/powerpoint/2010/main" val="706166742"/>
      </p:ext>
    </p:extLst>
  </p:cSld>
  <p:clrMap bg1="lt1" tx1="dk1" bg2="lt2" tx2="dk2" accent1="accent1" accent2="accent2" accent3="accent3" accent4="accent4" accent5="accent5" accent6="accent6" hlink="hlink" folHlink="folHlink"/>
  <p:sldLayoutIdLst>
    <p:sldLayoutId id="2147493588" r:id="rId1"/>
    <p:sldLayoutId id="2147493589" r:id="rId2"/>
    <p:sldLayoutId id="2147493590" r:id="rId3"/>
    <p:sldLayoutId id="2147493591" r:id="rId4"/>
    <p:sldLayoutId id="2147493592" r:id="rId5"/>
    <p:sldLayoutId id="2147493593" r:id="rId6"/>
    <p:sldLayoutId id="2147493594" r:id="rId7"/>
    <p:sldLayoutId id="2147493595" r:id="rId8"/>
    <p:sldLayoutId id="2147493596" r:id="rId9"/>
  </p:sldLayoutIdLst>
  <p:txStyles>
    <p:title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p:titleStyle>
    <p:body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ＭＳ Ｐゴシック" charset="-128"/>
          <a:cs typeface="+mn-cs"/>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0B05D94-0FBF-40E0-A0E2-9EC3FEAB3CBA}"/>
              </a:ext>
            </a:extLst>
          </p:cNvPr>
          <p:cNvSpPr>
            <a:spLocks noGrp="1" noChangeArrowheads="1"/>
          </p:cNvSpPr>
          <p:nvPr>
            <p:ph type="body" idx="1"/>
          </p:nvPr>
        </p:nvSpPr>
        <p:spPr bwMode="auto">
          <a:xfrm>
            <a:off x="814388" y="820342"/>
            <a:ext cx="7661275" cy="367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86403" name="Rectangle 3">
            <a:extLst>
              <a:ext uri="{FF2B5EF4-FFF2-40B4-BE49-F238E27FC236}">
                <a16:creationId xmlns:a16="http://schemas.microsoft.com/office/drawing/2014/main" id="{A6119F77-21C9-4FBD-95D1-4884EA2BEF6F}"/>
              </a:ext>
            </a:extLst>
          </p:cNvPr>
          <p:cNvSpPr>
            <a:spLocks noGrp="1" noChangeArrowheads="1"/>
          </p:cNvSpPr>
          <p:nvPr>
            <p:ph type="sldNum" sz="quarter" idx="4"/>
          </p:nvPr>
        </p:nvSpPr>
        <p:spPr bwMode="auto">
          <a:xfrm>
            <a:off x="6553200" y="4800600"/>
            <a:ext cx="19050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050" smtClean="0">
                <a:solidFill>
                  <a:schemeClr val="bg2"/>
                </a:solidFill>
                <a:latin typeface="Times New Roman" panose="02020603050405020304" pitchFamily="18" charset="0"/>
              </a:defRPr>
            </a:lvl1pPr>
          </a:lstStyle>
          <a:p>
            <a:pPr>
              <a:defRPr/>
            </a:pPr>
            <a:fld id="{D13E6E76-F12E-4D1B-9B56-009C721BF777}" type="slidenum">
              <a:rPr lang="en-US" altLang="en-US" smtClean="0"/>
              <a:pPr>
                <a:defRPr/>
              </a:pPr>
              <a:t>‹#›</a:t>
            </a:fld>
            <a:endParaRPr lang="en-US" altLang="en-US"/>
          </a:p>
        </p:txBody>
      </p:sp>
      <p:sp>
        <p:nvSpPr>
          <p:cNvPr id="1028" name="Text Box 4">
            <a:extLst>
              <a:ext uri="{FF2B5EF4-FFF2-40B4-BE49-F238E27FC236}">
                <a16:creationId xmlns:a16="http://schemas.microsoft.com/office/drawing/2014/main" id="{DB0C920A-6775-4600-AD1D-310553D67F86}"/>
              </a:ext>
            </a:extLst>
          </p:cNvPr>
          <p:cNvSpPr txBox="1">
            <a:spLocks noChangeArrowheads="1"/>
          </p:cNvSpPr>
          <p:nvPr/>
        </p:nvSpPr>
        <p:spPr bwMode="auto">
          <a:xfrm>
            <a:off x="7025878" y="4960144"/>
            <a:ext cx="1854995" cy="207749"/>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750" b="1" dirty="0">
                <a:solidFill>
                  <a:srgbClr val="002060"/>
                </a:solidFill>
              </a:rPr>
              <a:t>©Silberschatz, Korth and Sudarshan</a:t>
            </a:r>
          </a:p>
        </p:txBody>
      </p:sp>
      <p:sp>
        <p:nvSpPr>
          <p:cNvPr id="486405" name="Text Box 5">
            <a:extLst>
              <a:ext uri="{FF2B5EF4-FFF2-40B4-BE49-F238E27FC236}">
                <a16:creationId xmlns:a16="http://schemas.microsoft.com/office/drawing/2014/main" id="{7FED4366-B3D8-4635-90AF-59F6E59B903B}"/>
              </a:ext>
            </a:extLst>
          </p:cNvPr>
          <p:cNvSpPr txBox="1">
            <a:spLocks noChangeArrowheads="1"/>
          </p:cNvSpPr>
          <p:nvPr/>
        </p:nvSpPr>
        <p:spPr bwMode="auto">
          <a:xfrm>
            <a:off x="4486396" y="4960144"/>
            <a:ext cx="434734" cy="207749"/>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750" b="1" dirty="0">
                <a:solidFill>
                  <a:srgbClr val="002060"/>
                </a:solidFill>
              </a:rPr>
              <a:t>15.</a:t>
            </a:r>
            <a:fld id="{370CC2A8-7410-4F9E-B2CB-FCF9B3031B7B}" type="slidenum">
              <a:rPr lang="en-US" altLang="en-US" sz="750" b="1" smtClean="0">
                <a:solidFill>
                  <a:srgbClr val="002060"/>
                </a:solidFill>
              </a:rPr>
              <a:pPr algn="ctr">
                <a:spcBef>
                  <a:spcPct val="50000"/>
                </a:spcBef>
                <a:defRPr/>
              </a:pPr>
              <a:t>‹#›</a:t>
            </a:fld>
            <a:endParaRPr lang="en-US" altLang="en-US" sz="750" b="1" dirty="0">
              <a:solidFill>
                <a:srgbClr val="002060"/>
              </a:solidFill>
            </a:endParaRPr>
          </a:p>
        </p:txBody>
      </p:sp>
      <p:sp>
        <p:nvSpPr>
          <p:cNvPr id="486406" name="Rectangle 6">
            <a:extLst>
              <a:ext uri="{FF2B5EF4-FFF2-40B4-BE49-F238E27FC236}">
                <a16:creationId xmlns:a16="http://schemas.microsoft.com/office/drawing/2014/main" id="{0CE0643F-4358-4AEC-B259-E86C95F0ED4B}"/>
              </a:ext>
            </a:extLst>
          </p:cNvPr>
          <p:cNvSpPr>
            <a:spLocks noGrp="1" noChangeArrowheads="1"/>
          </p:cNvSpPr>
          <p:nvPr>
            <p:ph type="title"/>
          </p:nvPr>
        </p:nvSpPr>
        <p:spPr bwMode="auto">
          <a:xfrm>
            <a:off x="768350" y="88106"/>
            <a:ext cx="80772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endParaRPr lang="en-US" dirty="0"/>
          </a:p>
        </p:txBody>
      </p:sp>
      <p:sp>
        <p:nvSpPr>
          <p:cNvPr id="1031" name="Text Box 7">
            <a:extLst>
              <a:ext uri="{FF2B5EF4-FFF2-40B4-BE49-F238E27FC236}">
                <a16:creationId xmlns:a16="http://schemas.microsoft.com/office/drawing/2014/main" id="{00361987-037F-4498-968A-B3CB9D3A9E08}"/>
              </a:ext>
            </a:extLst>
          </p:cNvPr>
          <p:cNvSpPr txBox="1">
            <a:spLocks noChangeArrowheads="1"/>
          </p:cNvSpPr>
          <p:nvPr/>
        </p:nvSpPr>
        <p:spPr bwMode="auto">
          <a:xfrm>
            <a:off x="0" y="4960144"/>
            <a:ext cx="1996059" cy="207749"/>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MS PGothic" charset="0"/>
                <a:cs typeface="MS PGothic" charset="0"/>
              </a:defRPr>
            </a:lvl1pPr>
            <a:lvl2pPr marL="742950" indent="-285750">
              <a:defRPr sz="1600">
                <a:solidFill>
                  <a:schemeClr val="tx1"/>
                </a:solidFill>
                <a:latin typeface="Helvetica" charset="0"/>
                <a:ea typeface="MS PGothic" charset="0"/>
                <a:cs typeface="MS PGothic" charset="0"/>
              </a:defRPr>
            </a:lvl2pPr>
            <a:lvl3pPr marL="1143000" indent="-228600">
              <a:defRPr sz="1600">
                <a:solidFill>
                  <a:schemeClr val="tx1"/>
                </a:solidFill>
                <a:latin typeface="Helvetica" charset="0"/>
                <a:ea typeface="MS PGothic" charset="0"/>
                <a:cs typeface="MS PGothic" charset="0"/>
              </a:defRPr>
            </a:lvl3pPr>
            <a:lvl4pPr marL="1600200" indent="-228600">
              <a:defRPr sz="1600">
                <a:solidFill>
                  <a:schemeClr val="tx1"/>
                </a:solidFill>
                <a:latin typeface="Helvetica" charset="0"/>
                <a:ea typeface="MS PGothic" charset="0"/>
                <a:cs typeface="MS PGothic" charset="0"/>
              </a:defRPr>
            </a:lvl4pPr>
            <a:lvl5pPr marL="2057400" indent="-228600">
              <a:defRPr sz="1600">
                <a:solidFill>
                  <a:schemeClr val="tx1"/>
                </a:solidFill>
                <a:latin typeface="Helvetica" charset="0"/>
                <a:ea typeface="MS PGothic" charset="0"/>
                <a:cs typeface="MS PGothic" charset="0"/>
              </a:defRPr>
            </a:lvl5pPr>
            <a:lvl6pPr marL="2514600" indent="-228600" eaLnBrk="0" fontAlgn="base" hangingPunct="0">
              <a:spcBef>
                <a:spcPct val="0"/>
              </a:spcBef>
              <a:spcAft>
                <a:spcPct val="0"/>
              </a:spcAft>
              <a:defRPr sz="1600">
                <a:solidFill>
                  <a:schemeClr val="tx1"/>
                </a:solidFill>
                <a:latin typeface="Helvetica" charset="0"/>
                <a:ea typeface="MS PGothic" charset="0"/>
                <a:cs typeface="MS PGothic" charset="0"/>
              </a:defRPr>
            </a:lvl6pPr>
            <a:lvl7pPr marL="2971800" indent="-228600" eaLnBrk="0" fontAlgn="base" hangingPunct="0">
              <a:spcBef>
                <a:spcPct val="0"/>
              </a:spcBef>
              <a:spcAft>
                <a:spcPct val="0"/>
              </a:spcAft>
              <a:defRPr sz="1600">
                <a:solidFill>
                  <a:schemeClr val="tx1"/>
                </a:solidFill>
                <a:latin typeface="Helvetica" charset="0"/>
                <a:ea typeface="MS PGothic" charset="0"/>
                <a:cs typeface="MS PGothic" charset="0"/>
              </a:defRPr>
            </a:lvl7pPr>
            <a:lvl8pPr marL="3429000" indent="-228600" eaLnBrk="0" fontAlgn="base" hangingPunct="0">
              <a:spcBef>
                <a:spcPct val="0"/>
              </a:spcBef>
              <a:spcAft>
                <a:spcPct val="0"/>
              </a:spcAft>
              <a:defRPr sz="1600">
                <a:solidFill>
                  <a:schemeClr val="tx1"/>
                </a:solidFill>
                <a:latin typeface="Helvetica" charset="0"/>
                <a:ea typeface="MS PGothic" charset="0"/>
                <a:cs typeface="MS PGothic" charset="0"/>
              </a:defRPr>
            </a:lvl8pPr>
            <a:lvl9pPr marL="3886200" indent="-228600" eaLnBrk="0" fontAlgn="base" hangingPunct="0">
              <a:spcBef>
                <a:spcPct val="0"/>
              </a:spcBef>
              <a:spcAft>
                <a:spcPct val="0"/>
              </a:spcAft>
              <a:defRPr sz="1600">
                <a:solidFill>
                  <a:schemeClr val="tx1"/>
                </a:solidFill>
                <a:latin typeface="Helvetica" charset="0"/>
                <a:ea typeface="MS PGothic" charset="0"/>
                <a:cs typeface="MS PGothic" charset="0"/>
              </a:defRPr>
            </a:lvl9pPr>
          </a:lstStyle>
          <a:p>
            <a:pPr>
              <a:spcBef>
                <a:spcPct val="50000"/>
              </a:spcBef>
              <a:defRPr/>
            </a:pPr>
            <a:r>
              <a:rPr lang="en-US" sz="750" b="1" dirty="0">
                <a:solidFill>
                  <a:srgbClr val="002060"/>
                </a:solidFill>
              </a:rPr>
              <a:t>Database System Concepts - 7</a:t>
            </a:r>
            <a:r>
              <a:rPr lang="en-US" sz="750" b="1" baseline="30000" dirty="0">
                <a:solidFill>
                  <a:srgbClr val="002060"/>
                </a:solidFill>
              </a:rPr>
              <a:t>th</a:t>
            </a:r>
            <a:r>
              <a:rPr lang="en-US" sz="750" b="1" dirty="0">
                <a:solidFill>
                  <a:srgbClr val="002060"/>
                </a:solidFill>
              </a:rPr>
              <a:t> Edition</a:t>
            </a:r>
          </a:p>
        </p:txBody>
      </p:sp>
      <p:sp>
        <p:nvSpPr>
          <p:cNvPr id="1032" name="Freeform 8">
            <a:extLst>
              <a:ext uri="{FF2B5EF4-FFF2-40B4-BE49-F238E27FC236}">
                <a16:creationId xmlns:a16="http://schemas.microsoft.com/office/drawing/2014/main" id="{0669EEB5-E1E1-4615-B40A-87AE23727066}"/>
              </a:ext>
            </a:extLst>
          </p:cNvPr>
          <p:cNvSpPr>
            <a:spLocks/>
          </p:cNvSpPr>
          <p:nvPr/>
        </p:nvSpPr>
        <p:spPr bwMode="auto">
          <a:xfrm>
            <a:off x="8916988" y="4083844"/>
            <a:ext cx="227012" cy="35719"/>
          </a:xfrm>
          <a:custGeom>
            <a:avLst/>
            <a:gdLst>
              <a:gd name="T0" fmla="*/ 0 w 285"/>
              <a:gd name="T1" fmla="*/ 35963902 h 61"/>
              <a:gd name="T2" fmla="*/ 1268878 w 285"/>
              <a:gd name="T3" fmla="*/ 29258145 h 61"/>
              <a:gd name="T4" fmla="*/ 5710347 w 285"/>
              <a:gd name="T5" fmla="*/ 20724682 h 61"/>
              <a:gd name="T6" fmla="*/ 10785858 w 285"/>
              <a:gd name="T7" fmla="*/ 15238439 h 61"/>
              <a:gd name="T8" fmla="*/ 19033961 w 285"/>
              <a:gd name="T9" fmla="*/ 10362732 h 61"/>
              <a:gd name="T10" fmla="*/ 28550941 w 285"/>
              <a:gd name="T11" fmla="*/ 6095219 h 61"/>
              <a:gd name="T12" fmla="*/ 36164206 w 285"/>
              <a:gd name="T13" fmla="*/ 3656975 h 61"/>
              <a:gd name="T14" fmla="*/ 44412309 w 285"/>
              <a:gd name="T15" fmla="*/ 1218732 h 61"/>
              <a:gd name="T16" fmla="*/ 53929289 w 285"/>
              <a:gd name="T17" fmla="*/ 0 h 61"/>
              <a:gd name="T18" fmla="*/ 63446270 w 285"/>
              <a:gd name="T19" fmla="*/ 0 h 61"/>
              <a:gd name="T20" fmla="*/ 74866965 w 285"/>
              <a:gd name="T21" fmla="*/ 0 h 61"/>
              <a:gd name="T22" fmla="*/ 86921700 w 285"/>
              <a:gd name="T23" fmla="*/ 0 h 61"/>
              <a:gd name="T24" fmla="*/ 97707558 w 285"/>
              <a:gd name="T25" fmla="*/ 1218732 h 61"/>
              <a:gd name="T26" fmla="*/ 109762293 w 285"/>
              <a:gd name="T27" fmla="*/ 3656975 h 61"/>
              <a:gd name="T28" fmla="*/ 121817029 w 285"/>
              <a:gd name="T29" fmla="*/ 4876488 h 61"/>
              <a:gd name="T30" fmla="*/ 132602887 w 285"/>
              <a:gd name="T31" fmla="*/ 7314732 h 61"/>
              <a:gd name="T32" fmla="*/ 142119867 w 285"/>
              <a:gd name="T33" fmla="*/ 9143219 h 61"/>
              <a:gd name="T34" fmla="*/ 151636847 w 285"/>
              <a:gd name="T35" fmla="*/ 11581463 h 61"/>
              <a:gd name="T36" fmla="*/ 161153827 w 285"/>
              <a:gd name="T37" fmla="*/ 14019707 h 61"/>
              <a:gd name="T38" fmla="*/ 168767890 w 285"/>
              <a:gd name="T39" fmla="*/ 15238439 h 61"/>
              <a:gd name="T40" fmla="*/ 173209359 w 285"/>
              <a:gd name="T41" fmla="*/ 16457951 h 61"/>
              <a:gd name="T42" fmla="*/ 179553747 w 285"/>
              <a:gd name="T43" fmla="*/ 18896195 h 61"/>
              <a:gd name="T44" fmla="*/ 177015992 w 285"/>
              <a:gd name="T45" fmla="*/ 26819902 h 61"/>
              <a:gd name="T46" fmla="*/ 173209359 w 285"/>
              <a:gd name="T47" fmla="*/ 25601170 h 61"/>
              <a:gd name="T48" fmla="*/ 164961257 w 285"/>
              <a:gd name="T49" fmla="*/ 24382439 h 61"/>
              <a:gd name="T50" fmla="*/ 152906521 w 285"/>
              <a:gd name="T51" fmla="*/ 21944195 h 61"/>
              <a:gd name="T52" fmla="*/ 145927296 w 285"/>
              <a:gd name="T53" fmla="*/ 20724682 h 61"/>
              <a:gd name="T54" fmla="*/ 138313234 w 285"/>
              <a:gd name="T55" fmla="*/ 19505951 h 61"/>
              <a:gd name="T56" fmla="*/ 131334009 w 285"/>
              <a:gd name="T57" fmla="*/ 18896195 h 61"/>
              <a:gd name="T58" fmla="*/ 124355581 w 285"/>
              <a:gd name="T59" fmla="*/ 17676682 h 61"/>
              <a:gd name="T60" fmla="*/ 115472641 w 285"/>
              <a:gd name="T61" fmla="*/ 16457951 h 61"/>
              <a:gd name="T62" fmla="*/ 109762293 w 285"/>
              <a:gd name="T63" fmla="*/ 15238439 h 61"/>
              <a:gd name="T64" fmla="*/ 103417905 w 285"/>
              <a:gd name="T65" fmla="*/ 14019707 h 61"/>
              <a:gd name="T66" fmla="*/ 97707558 w 285"/>
              <a:gd name="T67" fmla="*/ 12800195 h 61"/>
              <a:gd name="T68" fmla="*/ 90094292 w 285"/>
              <a:gd name="T69" fmla="*/ 11581463 h 61"/>
              <a:gd name="T70" fmla="*/ 69791454 w 285"/>
              <a:gd name="T71" fmla="*/ 9143219 h 61"/>
              <a:gd name="T72" fmla="*/ 52660412 w 285"/>
              <a:gd name="T73" fmla="*/ 12800195 h 61"/>
              <a:gd name="T74" fmla="*/ 37433084 w 285"/>
              <a:gd name="T75" fmla="*/ 17676682 h 61"/>
              <a:gd name="T76" fmla="*/ 33626451 w 285"/>
              <a:gd name="T77" fmla="*/ 18896195 h 61"/>
              <a:gd name="T78" fmla="*/ 27282063 w 285"/>
              <a:gd name="T79" fmla="*/ 20724682 h 61"/>
              <a:gd name="T80" fmla="*/ 20302838 w 285"/>
              <a:gd name="T81" fmla="*/ 23162926 h 61"/>
              <a:gd name="T82" fmla="*/ 14592491 w 285"/>
              <a:gd name="T83" fmla="*/ 26819902 h 61"/>
              <a:gd name="T84" fmla="*/ 4441470 w 285"/>
              <a:gd name="T85" fmla="*/ 33525658 h 61"/>
              <a:gd name="T86" fmla="*/ 1268878 w 285"/>
              <a:gd name="T87" fmla="*/ 37182633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1" name="Picture 10" descr="Cover-6Ed">
            <a:extLst>
              <a:ext uri="{FF2B5EF4-FFF2-40B4-BE49-F238E27FC236}">
                <a16:creationId xmlns:a16="http://schemas.microsoft.com/office/drawing/2014/main" id="{8415B884-A6BF-4E61-8F45-53870045B34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113" y="1"/>
            <a:ext cx="639762" cy="611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C51EB6E8-DB40-47B3-A1ED-7368CB8F40A8}"/>
              </a:ext>
            </a:extLst>
          </p:cNvPr>
          <p:cNvPicPr>
            <a:picLocks noChangeAspect="1" noChangeArrowheads="1"/>
          </p:cNvPicPr>
          <p:nvPr userDrawn="1"/>
        </p:nvPicPr>
        <p:blipFill>
          <a:blip r:embed="rId16"/>
          <a:stretch>
            <a:fillRect/>
          </a:stretch>
        </p:blipFill>
        <p:spPr bwMode="auto">
          <a:xfrm>
            <a:off x="2304" y="1"/>
            <a:ext cx="812084" cy="777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8077892"/>
      </p:ext>
    </p:extLst>
  </p:cSld>
  <p:clrMap bg1="lt1" tx1="dk1" bg2="lt2" tx2="dk2" accent1="accent1" accent2="accent2" accent3="accent3" accent4="accent4" accent5="accent5" accent6="accent6" hlink="hlink" folHlink="folHlink"/>
  <p:sldLayoutIdLst>
    <p:sldLayoutId id="2147493598" r:id="rId1"/>
    <p:sldLayoutId id="2147493599" r:id="rId2"/>
    <p:sldLayoutId id="2147493600" r:id="rId3"/>
    <p:sldLayoutId id="2147493601" r:id="rId4"/>
    <p:sldLayoutId id="2147493602" r:id="rId5"/>
    <p:sldLayoutId id="2147493603" r:id="rId6"/>
    <p:sldLayoutId id="2147493604" r:id="rId7"/>
    <p:sldLayoutId id="2147493605" r:id="rId8"/>
    <p:sldLayoutId id="2147493606" r:id="rId9"/>
    <p:sldLayoutId id="2147493607" r:id="rId10"/>
    <p:sldLayoutId id="2147493608" r:id="rId11"/>
    <p:sldLayoutId id="2147493609" r:id="rId12"/>
    <p:sldLayoutId id="2147493610" r:id="rId13"/>
    <p:sldLayoutId id="2147493611" r:id="rId14"/>
  </p:sldLayoutIdLst>
  <p:txStyles>
    <p:titleStyle>
      <a:lvl1pPr algn="ctr" rtl="0" eaLnBrk="1" fontAlgn="base" hangingPunct="1">
        <a:spcBef>
          <a:spcPct val="0"/>
        </a:spcBef>
        <a:spcAft>
          <a:spcPct val="0"/>
        </a:spcAft>
        <a:defRPr kumimoji="1" sz="2100" b="1">
          <a:solidFill>
            <a:srgbClr val="002060"/>
          </a:solidFill>
          <a:effectLst>
            <a:outerShdw blurRad="38100" dist="38100" dir="2700000" algn="tl">
              <a:srgbClr val="DDDDDD"/>
            </a:outerShdw>
          </a:effectLst>
          <a:latin typeface="+mj-lt"/>
          <a:ea typeface="MS PGothic" charset="0"/>
          <a:cs typeface="MS PGothic" charset="0"/>
        </a:defRPr>
      </a:lvl1pPr>
      <a:lvl2pPr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charset="0"/>
          <a:cs typeface="MS PGothic" charset="0"/>
        </a:defRPr>
      </a:lvl2pPr>
      <a:lvl3pPr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charset="0"/>
          <a:cs typeface="MS PGothic" charset="0"/>
        </a:defRPr>
      </a:lvl3pPr>
      <a:lvl4pPr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charset="0"/>
          <a:cs typeface="MS PGothic" charset="0"/>
        </a:defRPr>
      </a:lvl4pPr>
      <a:lvl5pPr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charset="0"/>
          <a:cs typeface="MS PGothic" charset="0"/>
        </a:defRPr>
      </a:lvl5pPr>
      <a:lvl6pPr marL="342900"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defRPr>
      </a:lvl6pPr>
      <a:lvl7pPr marL="685800"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defRPr>
      </a:lvl7pPr>
      <a:lvl8pPr marL="1028700"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defRPr>
      </a:lvl8pPr>
      <a:lvl9pPr marL="1371600"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defRPr>
      </a:lvl9pPr>
    </p:titleStyle>
    <p:bodyStyle>
      <a:lvl1pPr marL="257175" indent="-257175" algn="l" rtl="0" eaLnBrk="1" fontAlgn="base" hangingPunct="1">
        <a:spcBef>
          <a:spcPct val="35000"/>
        </a:spcBef>
        <a:spcAft>
          <a:spcPct val="0"/>
        </a:spcAft>
        <a:buClr>
          <a:srgbClr val="002060"/>
        </a:buClr>
        <a:buSzPct val="100000"/>
        <a:buFont typeface="Monotype Sorts" pitchFamily="-65" charset="2"/>
        <a:buChar char="n"/>
        <a:defRPr kumimoji="1" sz="1275">
          <a:solidFill>
            <a:schemeClr val="tx1"/>
          </a:solidFill>
          <a:latin typeface="+mn-lt"/>
          <a:ea typeface="MS PGothic" charset="0"/>
          <a:cs typeface="MS PGothic" charset="0"/>
        </a:defRPr>
      </a:lvl1pPr>
      <a:lvl2pPr marL="557213" indent="-214313" algn="l" rtl="0" eaLnBrk="1" fontAlgn="base" hangingPunct="1">
        <a:spcBef>
          <a:spcPct val="35000"/>
        </a:spcBef>
        <a:spcAft>
          <a:spcPct val="0"/>
        </a:spcAft>
        <a:buClr>
          <a:srgbClr val="FF9933"/>
        </a:buClr>
        <a:buSzPct val="90000"/>
        <a:buFont typeface="Monotype Sorts" pitchFamily="-65" charset="2"/>
        <a:buChar char="l"/>
        <a:defRPr kumimoji="1" sz="1275">
          <a:solidFill>
            <a:schemeClr val="tx1"/>
          </a:solidFill>
          <a:latin typeface="+mn-lt"/>
          <a:ea typeface="MS PGothic" charset="0"/>
          <a:cs typeface="MS PGothic" charset="0"/>
        </a:defRPr>
      </a:lvl2pPr>
      <a:lvl3pPr marL="814388" indent="-171450" algn="l" rtl="0" eaLnBrk="1" fontAlgn="base" hangingPunct="1">
        <a:spcBef>
          <a:spcPct val="35000"/>
        </a:spcBef>
        <a:spcAft>
          <a:spcPct val="0"/>
        </a:spcAft>
        <a:buClr>
          <a:srgbClr val="33CC33"/>
        </a:buClr>
        <a:buSzPct val="85000"/>
        <a:buFont typeface="Webdings" panose="05030102010509060703" pitchFamily="18" charset="2"/>
        <a:buChar char="4"/>
        <a:defRPr kumimoji="1" sz="1275">
          <a:solidFill>
            <a:schemeClr val="tx1"/>
          </a:solidFill>
          <a:latin typeface="+mn-lt"/>
          <a:ea typeface="MS PGothic" charset="0"/>
          <a:cs typeface="MS PGothic" charset="0"/>
        </a:defRPr>
      </a:lvl3pPr>
      <a:lvl4pPr marL="1071563" indent="-171450" algn="l" rtl="0" eaLnBrk="1" fontAlgn="base" hangingPunct="1">
        <a:spcBef>
          <a:spcPct val="35000"/>
        </a:spcBef>
        <a:spcAft>
          <a:spcPct val="0"/>
        </a:spcAft>
        <a:buClr>
          <a:schemeClr val="hlink"/>
        </a:buClr>
        <a:buFont typeface="Times New Roman" panose="02020603050405020304" pitchFamily="18" charset="0"/>
        <a:buChar char="–"/>
        <a:defRPr kumimoji="1" sz="1275">
          <a:solidFill>
            <a:schemeClr val="tx1"/>
          </a:solidFill>
          <a:latin typeface="+mn-lt"/>
          <a:ea typeface="MS PGothic" charset="0"/>
          <a:cs typeface="MS PGothic" charset="0"/>
        </a:defRPr>
      </a:lvl4pPr>
      <a:lvl5pPr marL="1328738" indent="-171450" algn="l" rtl="0" eaLnBrk="1" fontAlgn="base" hangingPunct="1">
        <a:spcBef>
          <a:spcPct val="35000"/>
        </a:spcBef>
        <a:spcAft>
          <a:spcPct val="0"/>
        </a:spcAft>
        <a:buClr>
          <a:schemeClr val="tx2"/>
        </a:buClr>
        <a:buSzPct val="75000"/>
        <a:buChar char="»"/>
        <a:defRPr kumimoji="1" sz="1275">
          <a:solidFill>
            <a:schemeClr val="tx1"/>
          </a:solidFill>
          <a:latin typeface="+mn-lt"/>
          <a:ea typeface="MS PGothic" charset="0"/>
          <a:cs typeface="MS PGothic" charset="0"/>
        </a:defRPr>
      </a:lvl5pPr>
      <a:lvl6pPr marL="1671638" indent="-17145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014538" indent="-17145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2357438" indent="-17145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2700338" indent="-17145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0B05D94-0FBF-40E0-A0E2-9EC3FEAB3CBA}"/>
              </a:ext>
            </a:extLst>
          </p:cNvPr>
          <p:cNvSpPr>
            <a:spLocks noGrp="1" noChangeArrowheads="1"/>
          </p:cNvSpPr>
          <p:nvPr>
            <p:ph type="body" idx="1"/>
          </p:nvPr>
        </p:nvSpPr>
        <p:spPr bwMode="auto">
          <a:xfrm>
            <a:off x="650876" y="820342"/>
            <a:ext cx="7824788" cy="367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86403" name="Rectangle 3">
            <a:extLst>
              <a:ext uri="{FF2B5EF4-FFF2-40B4-BE49-F238E27FC236}">
                <a16:creationId xmlns:a16="http://schemas.microsoft.com/office/drawing/2014/main" id="{A6119F77-21C9-4FBD-95D1-4884EA2BEF6F}"/>
              </a:ext>
            </a:extLst>
          </p:cNvPr>
          <p:cNvSpPr>
            <a:spLocks noGrp="1" noChangeArrowheads="1"/>
          </p:cNvSpPr>
          <p:nvPr>
            <p:ph type="sldNum" sz="quarter" idx="4"/>
          </p:nvPr>
        </p:nvSpPr>
        <p:spPr bwMode="auto">
          <a:xfrm>
            <a:off x="6553200" y="4800600"/>
            <a:ext cx="19050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050" smtClean="0">
                <a:solidFill>
                  <a:schemeClr val="bg2"/>
                </a:solidFill>
                <a:latin typeface="Times New Roman" panose="02020603050405020304" pitchFamily="18" charset="0"/>
              </a:defRPr>
            </a:lvl1pPr>
          </a:lstStyle>
          <a:p>
            <a:pPr>
              <a:defRPr/>
            </a:pPr>
            <a:fld id="{43251494-9320-46DB-9561-B10814EE66F9}" type="slidenum">
              <a:rPr lang="en-US" altLang="en-US" smtClean="0"/>
              <a:pPr>
                <a:defRPr/>
              </a:pPr>
              <a:t>‹#›</a:t>
            </a:fld>
            <a:endParaRPr lang="en-US" altLang="en-US"/>
          </a:p>
        </p:txBody>
      </p:sp>
      <p:sp>
        <p:nvSpPr>
          <p:cNvPr id="1028" name="Text Box 4">
            <a:extLst>
              <a:ext uri="{FF2B5EF4-FFF2-40B4-BE49-F238E27FC236}">
                <a16:creationId xmlns:a16="http://schemas.microsoft.com/office/drawing/2014/main" id="{DB0C920A-6775-4600-AD1D-310553D67F86}"/>
              </a:ext>
            </a:extLst>
          </p:cNvPr>
          <p:cNvSpPr txBox="1">
            <a:spLocks noChangeArrowheads="1"/>
          </p:cNvSpPr>
          <p:nvPr/>
        </p:nvSpPr>
        <p:spPr bwMode="auto">
          <a:xfrm>
            <a:off x="7025878" y="4960144"/>
            <a:ext cx="1854995" cy="207749"/>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750" b="1">
                <a:solidFill>
                  <a:srgbClr val="002060"/>
                </a:solidFill>
              </a:rPr>
              <a:t>©Silberschatz, Korth and Sudarshan</a:t>
            </a:r>
          </a:p>
        </p:txBody>
      </p:sp>
      <p:sp>
        <p:nvSpPr>
          <p:cNvPr id="486405" name="Text Box 5">
            <a:extLst>
              <a:ext uri="{FF2B5EF4-FFF2-40B4-BE49-F238E27FC236}">
                <a16:creationId xmlns:a16="http://schemas.microsoft.com/office/drawing/2014/main" id="{7FED4366-B3D8-4635-90AF-59F6E59B903B}"/>
              </a:ext>
            </a:extLst>
          </p:cNvPr>
          <p:cNvSpPr txBox="1">
            <a:spLocks noChangeArrowheads="1"/>
          </p:cNvSpPr>
          <p:nvPr/>
        </p:nvSpPr>
        <p:spPr bwMode="auto">
          <a:xfrm>
            <a:off x="4486396" y="4960144"/>
            <a:ext cx="434734" cy="207749"/>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750" b="1">
                <a:solidFill>
                  <a:srgbClr val="002060"/>
                </a:solidFill>
              </a:rPr>
              <a:t>16.</a:t>
            </a:r>
            <a:fld id="{370CC2A8-7410-4F9E-B2CB-FCF9B3031B7B}" type="slidenum">
              <a:rPr lang="en-US" altLang="en-US" sz="750" b="1" smtClean="0">
                <a:solidFill>
                  <a:srgbClr val="002060"/>
                </a:solidFill>
              </a:rPr>
              <a:pPr algn="ctr">
                <a:spcBef>
                  <a:spcPct val="50000"/>
                </a:spcBef>
                <a:defRPr/>
              </a:pPr>
              <a:t>‹#›</a:t>
            </a:fld>
            <a:endParaRPr lang="en-US" altLang="en-US" sz="750" b="1">
              <a:solidFill>
                <a:srgbClr val="002060"/>
              </a:solidFill>
            </a:endParaRPr>
          </a:p>
        </p:txBody>
      </p:sp>
      <p:sp>
        <p:nvSpPr>
          <p:cNvPr id="486406" name="Rectangle 6">
            <a:extLst>
              <a:ext uri="{FF2B5EF4-FFF2-40B4-BE49-F238E27FC236}">
                <a16:creationId xmlns:a16="http://schemas.microsoft.com/office/drawing/2014/main" id="{0CE0643F-4358-4AEC-B259-E86C95F0ED4B}"/>
              </a:ext>
            </a:extLst>
          </p:cNvPr>
          <p:cNvSpPr>
            <a:spLocks noGrp="1" noChangeArrowheads="1"/>
          </p:cNvSpPr>
          <p:nvPr>
            <p:ph type="title"/>
          </p:nvPr>
        </p:nvSpPr>
        <p:spPr bwMode="auto">
          <a:xfrm>
            <a:off x="768350" y="88106"/>
            <a:ext cx="80772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31" name="Text Box 7">
            <a:extLst>
              <a:ext uri="{FF2B5EF4-FFF2-40B4-BE49-F238E27FC236}">
                <a16:creationId xmlns:a16="http://schemas.microsoft.com/office/drawing/2014/main" id="{00361987-037F-4498-968A-B3CB9D3A9E08}"/>
              </a:ext>
            </a:extLst>
          </p:cNvPr>
          <p:cNvSpPr txBox="1">
            <a:spLocks noChangeArrowheads="1"/>
          </p:cNvSpPr>
          <p:nvPr/>
        </p:nvSpPr>
        <p:spPr bwMode="auto">
          <a:xfrm>
            <a:off x="0" y="4960144"/>
            <a:ext cx="1996059" cy="207749"/>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MS PGothic" charset="0"/>
                <a:cs typeface="MS PGothic" charset="0"/>
              </a:defRPr>
            </a:lvl1pPr>
            <a:lvl2pPr marL="742950" indent="-285750">
              <a:defRPr sz="1600">
                <a:solidFill>
                  <a:schemeClr val="tx1"/>
                </a:solidFill>
                <a:latin typeface="Helvetica" charset="0"/>
                <a:ea typeface="MS PGothic" charset="0"/>
                <a:cs typeface="MS PGothic" charset="0"/>
              </a:defRPr>
            </a:lvl2pPr>
            <a:lvl3pPr marL="1143000" indent="-228600">
              <a:defRPr sz="1600">
                <a:solidFill>
                  <a:schemeClr val="tx1"/>
                </a:solidFill>
                <a:latin typeface="Helvetica" charset="0"/>
                <a:ea typeface="MS PGothic" charset="0"/>
                <a:cs typeface="MS PGothic" charset="0"/>
              </a:defRPr>
            </a:lvl3pPr>
            <a:lvl4pPr marL="1600200" indent="-228600">
              <a:defRPr sz="1600">
                <a:solidFill>
                  <a:schemeClr val="tx1"/>
                </a:solidFill>
                <a:latin typeface="Helvetica" charset="0"/>
                <a:ea typeface="MS PGothic" charset="0"/>
                <a:cs typeface="MS PGothic" charset="0"/>
              </a:defRPr>
            </a:lvl4pPr>
            <a:lvl5pPr marL="2057400" indent="-228600">
              <a:defRPr sz="1600">
                <a:solidFill>
                  <a:schemeClr val="tx1"/>
                </a:solidFill>
                <a:latin typeface="Helvetica" charset="0"/>
                <a:ea typeface="MS PGothic" charset="0"/>
                <a:cs typeface="MS PGothic" charset="0"/>
              </a:defRPr>
            </a:lvl5pPr>
            <a:lvl6pPr marL="2514600" indent="-228600" eaLnBrk="0" fontAlgn="base" hangingPunct="0">
              <a:spcBef>
                <a:spcPct val="0"/>
              </a:spcBef>
              <a:spcAft>
                <a:spcPct val="0"/>
              </a:spcAft>
              <a:defRPr sz="1600">
                <a:solidFill>
                  <a:schemeClr val="tx1"/>
                </a:solidFill>
                <a:latin typeface="Helvetica" charset="0"/>
                <a:ea typeface="MS PGothic" charset="0"/>
                <a:cs typeface="MS PGothic" charset="0"/>
              </a:defRPr>
            </a:lvl6pPr>
            <a:lvl7pPr marL="2971800" indent="-228600" eaLnBrk="0" fontAlgn="base" hangingPunct="0">
              <a:spcBef>
                <a:spcPct val="0"/>
              </a:spcBef>
              <a:spcAft>
                <a:spcPct val="0"/>
              </a:spcAft>
              <a:defRPr sz="1600">
                <a:solidFill>
                  <a:schemeClr val="tx1"/>
                </a:solidFill>
                <a:latin typeface="Helvetica" charset="0"/>
                <a:ea typeface="MS PGothic" charset="0"/>
                <a:cs typeface="MS PGothic" charset="0"/>
              </a:defRPr>
            </a:lvl7pPr>
            <a:lvl8pPr marL="3429000" indent="-228600" eaLnBrk="0" fontAlgn="base" hangingPunct="0">
              <a:spcBef>
                <a:spcPct val="0"/>
              </a:spcBef>
              <a:spcAft>
                <a:spcPct val="0"/>
              </a:spcAft>
              <a:defRPr sz="1600">
                <a:solidFill>
                  <a:schemeClr val="tx1"/>
                </a:solidFill>
                <a:latin typeface="Helvetica" charset="0"/>
                <a:ea typeface="MS PGothic" charset="0"/>
                <a:cs typeface="MS PGothic" charset="0"/>
              </a:defRPr>
            </a:lvl8pPr>
            <a:lvl9pPr marL="3886200" indent="-228600" eaLnBrk="0" fontAlgn="base" hangingPunct="0">
              <a:spcBef>
                <a:spcPct val="0"/>
              </a:spcBef>
              <a:spcAft>
                <a:spcPct val="0"/>
              </a:spcAft>
              <a:defRPr sz="1600">
                <a:solidFill>
                  <a:schemeClr val="tx1"/>
                </a:solidFill>
                <a:latin typeface="Helvetica" charset="0"/>
                <a:ea typeface="MS PGothic" charset="0"/>
                <a:cs typeface="MS PGothic" charset="0"/>
              </a:defRPr>
            </a:lvl9pPr>
          </a:lstStyle>
          <a:p>
            <a:pPr>
              <a:spcBef>
                <a:spcPct val="50000"/>
              </a:spcBef>
              <a:defRPr/>
            </a:pPr>
            <a:r>
              <a:rPr lang="en-US" sz="750" b="1">
                <a:solidFill>
                  <a:srgbClr val="002060"/>
                </a:solidFill>
              </a:rPr>
              <a:t>Database System Concepts - 7</a:t>
            </a:r>
            <a:r>
              <a:rPr lang="en-US" sz="750" b="1" baseline="30000">
                <a:solidFill>
                  <a:srgbClr val="002060"/>
                </a:solidFill>
              </a:rPr>
              <a:t>th</a:t>
            </a:r>
            <a:r>
              <a:rPr lang="en-US" sz="750" b="1">
                <a:solidFill>
                  <a:srgbClr val="002060"/>
                </a:solidFill>
              </a:rPr>
              <a:t> Edition</a:t>
            </a:r>
          </a:p>
        </p:txBody>
      </p:sp>
      <p:sp>
        <p:nvSpPr>
          <p:cNvPr id="1032" name="Freeform 8">
            <a:extLst>
              <a:ext uri="{FF2B5EF4-FFF2-40B4-BE49-F238E27FC236}">
                <a16:creationId xmlns:a16="http://schemas.microsoft.com/office/drawing/2014/main" id="{0669EEB5-E1E1-4615-B40A-87AE23727066}"/>
              </a:ext>
            </a:extLst>
          </p:cNvPr>
          <p:cNvSpPr>
            <a:spLocks/>
          </p:cNvSpPr>
          <p:nvPr/>
        </p:nvSpPr>
        <p:spPr bwMode="auto">
          <a:xfrm>
            <a:off x="8916988" y="4083844"/>
            <a:ext cx="227012" cy="35719"/>
          </a:xfrm>
          <a:custGeom>
            <a:avLst/>
            <a:gdLst>
              <a:gd name="T0" fmla="*/ 0 w 285"/>
              <a:gd name="T1" fmla="*/ 35963902 h 61"/>
              <a:gd name="T2" fmla="*/ 1268878 w 285"/>
              <a:gd name="T3" fmla="*/ 29258145 h 61"/>
              <a:gd name="T4" fmla="*/ 5710347 w 285"/>
              <a:gd name="T5" fmla="*/ 20724682 h 61"/>
              <a:gd name="T6" fmla="*/ 10785858 w 285"/>
              <a:gd name="T7" fmla="*/ 15238439 h 61"/>
              <a:gd name="T8" fmla="*/ 19033961 w 285"/>
              <a:gd name="T9" fmla="*/ 10362732 h 61"/>
              <a:gd name="T10" fmla="*/ 28550941 w 285"/>
              <a:gd name="T11" fmla="*/ 6095219 h 61"/>
              <a:gd name="T12" fmla="*/ 36164206 w 285"/>
              <a:gd name="T13" fmla="*/ 3656975 h 61"/>
              <a:gd name="T14" fmla="*/ 44412309 w 285"/>
              <a:gd name="T15" fmla="*/ 1218732 h 61"/>
              <a:gd name="T16" fmla="*/ 53929289 w 285"/>
              <a:gd name="T17" fmla="*/ 0 h 61"/>
              <a:gd name="T18" fmla="*/ 63446270 w 285"/>
              <a:gd name="T19" fmla="*/ 0 h 61"/>
              <a:gd name="T20" fmla="*/ 74866965 w 285"/>
              <a:gd name="T21" fmla="*/ 0 h 61"/>
              <a:gd name="T22" fmla="*/ 86921700 w 285"/>
              <a:gd name="T23" fmla="*/ 0 h 61"/>
              <a:gd name="T24" fmla="*/ 97707558 w 285"/>
              <a:gd name="T25" fmla="*/ 1218732 h 61"/>
              <a:gd name="T26" fmla="*/ 109762293 w 285"/>
              <a:gd name="T27" fmla="*/ 3656975 h 61"/>
              <a:gd name="T28" fmla="*/ 121817029 w 285"/>
              <a:gd name="T29" fmla="*/ 4876488 h 61"/>
              <a:gd name="T30" fmla="*/ 132602887 w 285"/>
              <a:gd name="T31" fmla="*/ 7314732 h 61"/>
              <a:gd name="T32" fmla="*/ 142119867 w 285"/>
              <a:gd name="T33" fmla="*/ 9143219 h 61"/>
              <a:gd name="T34" fmla="*/ 151636847 w 285"/>
              <a:gd name="T35" fmla="*/ 11581463 h 61"/>
              <a:gd name="T36" fmla="*/ 161153827 w 285"/>
              <a:gd name="T37" fmla="*/ 14019707 h 61"/>
              <a:gd name="T38" fmla="*/ 168767890 w 285"/>
              <a:gd name="T39" fmla="*/ 15238439 h 61"/>
              <a:gd name="T40" fmla="*/ 173209359 w 285"/>
              <a:gd name="T41" fmla="*/ 16457951 h 61"/>
              <a:gd name="T42" fmla="*/ 179553747 w 285"/>
              <a:gd name="T43" fmla="*/ 18896195 h 61"/>
              <a:gd name="T44" fmla="*/ 177015992 w 285"/>
              <a:gd name="T45" fmla="*/ 26819902 h 61"/>
              <a:gd name="T46" fmla="*/ 173209359 w 285"/>
              <a:gd name="T47" fmla="*/ 25601170 h 61"/>
              <a:gd name="T48" fmla="*/ 164961257 w 285"/>
              <a:gd name="T49" fmla="*/ 24382439 h 61"/>
              <a:gd name="T50" fmla="*/ 152906521 w 285"/>
              <a:gd name="T51" fmla="*/ 21944195 h 61"/>
              <a:gd name="T52" fmla="*/ 145927296 w 285"/>
              <a:gd name="T53" fmla="*/ 20724682 h 61"/>
              <a:gd name="T54" fmla="*/ 138313234 w 285"/>
              <a:gd name="T55" fmla="*/ 19505951 h 61"/>
              <a:gd name="T56" fmla="*/ 131334009 w 285"/>
              <a:gd name="T57" fmla="*/ 18896195 h 61"/>
              <a:gd name="T58" fmla="*/ 124355581 w 285"/>
              <a:gd name="T59" fmla="*/ 17676682 h 61"/>
              <a:gd name="T60" fmla="*/ 115472641 w 285"/>
              <a:gd name="T61" fmla="*/ 16457951 h 61"/>
              <a:gd name="T62" fmla="*/ 109762293 w 285"/>
              <a:gd name="T63" fmla="*/ 15238439 h 61"/>
              <a:gd name="T64" fmla="*/ 103417905 w 285"/>
              <a:gd name="T65" fmla="*/ 14019707 h 61"/>
              <a:gd name="T66" fmla="*/ 97707558 w 285"/>
              <a:gd name="T67" fmla="*/ 12800195 h 61"/>
              <a:gd name="T68" fmla="*/ 90094292 w 285"/>
              <a:gd name="T69" fmla="*/ 11581463 h 61"/>
              <a:gd name="T70" fmla="*/ 69791454 w 285"/>
              <a:gd name="T71" fmla="*/ 9143219 h 61"/>
              <a:gd name="T72" fmla="*/ 52660412 w 285"/>
              <a:gd name="T73" fmla="*/ 12800195 h 61"/>
              <a:gd name="T74" fmla="*/ 37433084 w 285"/>
              <a:gd name="T75" fmla="*/ 17676682 h 61"/>
              <a:gd name="T76" fmla="*/ 33626451 w 285"/>
              <a:gd name="T77" fmla="*/ 18896195 h 61"/>
              <a:gd name="T78" fmla="*/ 27282063 w 285"/>
              <a:gd name="T79" fmla="*/ 20724682 h 61"/>
              <a:gd name="T80" fmla="*/ 20302838 w 285"/>
              <a:gd name="T81" fmla="*/ 23162926 h 61"/>
              <a:gd name="T82" fmla="*/ 14592491 w 285"/>
              <a:gd name="T83" fmla="*/ 26819902 h 61"/>
              <a:gd name="T84" fmla="*/ 4441470 w 285"/>
              <a:gd name="T85" fmla="*/ 33525658 h 61"/>
              <a:gd name="T86" fmla="*/ 1268878 w 285"/>
              <a:gd name="T87" fmla="*/ 37182633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1" name="Picture 10" descr="Cover-6Ed">
            <a:extLst>
              <a:ext uri="{FF2B5EF4-FFF2-40B4-BE49-F238E27FC236}">
                <a16:creationId xmlns:a16="http://schemas.microsoft.com/office/drawing/2014/main" id="{8415B884-A6BF-4E61-8F45-53870045B346}"/>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1113" y="1"/>
            <a:ext cx="639762" cy="611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7052748"/>
      </p:ext>
    </p:extLst>
  </p:cSld>
  <p:clrMap bg1="lt1" tx1="dk1" bg2="lt2" tx2="dk2" accent1="accent1" accent2="accent2" accent3="accent3" accent4="accent4" accent5="accent5" accent6="accent6" hlink="hlink" folHlink="folHlink"/>
  <p:sldLayoutIdLst>
    <p:sldLayoutId id="2147493622" r:id="rId1"/>
    <p:sldLayoutId id="2147493623" r:id="rId2"/>
    <p:sldLayoutId id="2147493624" r:id="rId3"/>
    <p:sldLayoutId id="2147493625" r:id="rId4"/>
    <p:sldLayoutId id="2147493626" r:id="rId5"/>
    <p:sldLayoutId id="2147493627" r:id="rId6"/>
    <p:sldLayoutId id="2147493628" r:id="rId7"/>
    <p:sldLayoutId id="2147493629" r:id="rId8"/>
    <p:sldLayoutId id="2147493630" r:id="rId9"/>
    <p:sldLayoutId id="2147493631" r:id="rId10"/>
    <p:sldLayoutId id="2147493632" r:id="rId11"/>
    <p:sldLayoutId id="2147493633" r:id="rId12"/>
    <p:sldLayoutId id="2147493634" r:id="rId13"/>
  </p:sldLayoutIdLst>
  <p:txStyles>
    <p:titleStyle>
      <a:lvl1pPr algn="ctr" rtl="0" eaLnBrk="1" fontAlgn="base" hangingPunct="1">
        <a:spcBef>
          <a:spcPct val="0"/>
        </a:spcBef>
        <a:spcAft>
          <a:spcPct val="0"/>
        </a:spcAft>
        <a:defRPr kumimoji="1" sz="2100" b="1">
          <a:solidFill>
            <a:srgbClr val="002060"/>
          </a:solidFill>
          <a:effectLst>
            <a:outerShdw blurRad="38100" dist="38100" dir="2700000" algn="tl">
              <a:srgbClr val="DDDDDD"/>
            </a:outerShdw>
          </a:effectLst>
          <a:latin typeface="+mj-lt"/>
          <a:ea typeface="MS PGothic" charset="0"/>
          <a:cs typeface="MS PGothic" charset="0"/>
        </a:defRPr>
      </a:lvl1pPr>
      <a:lvl2pPr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charset="0"/>
          <a:cs typeface="MS PGothic" charset="0"/>
        </a:defRPr>
      </a:lvl2pPr>
      <a:lvl3pPr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charset="0"/>
          <a:cs typeface="MS PGothic" charset="0"/>
        </a:defRPr>
      </a:lvl3pPr>
      <a:lvl4pPr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charset="0"/>
          <a:cs typeface="MS PGothic" charset="0"/>
        </a:defRPr>
      </a:lvl4pPr>
      <a:lvl5pPr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charset="0"/>
          <a:cs typeface="MS PGothic" charset="0"/>
        </a:defRPr>
      </a:lvl5pPr>
      <a:lvl6pPr marL="342900"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defRPr>
      </a:lvl6pPr>
      <a:lvl7pPr marL="685800"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defRPr>
      </a:lvl7pPr>
      <a:lvl8pPr marL="1028700"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defRPr>
      </a:lvl8pPr>
      <a:lvl9pPr marL="1371600"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defRPr>
      </a:lvl9pPr>
    </p:titleStyle>
    <p:bodyStyle>
      <a:lvl1pPr marL="257175" indent="-257175" algn="l" rtl="0" eaLnBrk="1" fontAlgn="base" hangingPunct="1">
        <a:spcBef>
          <a:spcPct val="35000"/>
        </a:spcBef>
        <a:spcAft>
          <a:spcPct val="0"/>
        </a:spcAft>
        <a:buClr>
          <a:srgbClr val="002060"/>
        </a:buClr>
        <a:buSzPct val="100000"/>
        <a:buFont typeface="Monotype Sorts" pitchFamily="-65" charset="2"/>
        <a:buChar char="n"/>
        <a:defRPr kumimoji="1" sz="1275">
          <a:solidFill>
            <a:schemeClr val="tx1"/>
          </a:solidFill>
          <a:latin typeface="+mn-lt"/>
          <a:ea typeface="MS PGothic" charset="0"/>
          <a:cs typeface="MS PGothic" charset="0"/>
        </a:defRPr>
      </a:lvl1pPr>
      <a:lvl2pPr marL="557213" indent="-214313" algn="l" rtl="0" eaLnBrk="1" fontAlgn="base" hangingPunct="1">
        <a:spcBef>
          <a:spcPct val="35000"/>
        </a:spcBef>
        <a:spcAft>
          <a:spcPct val="0"/>
        </a:spcAft>
        <a:buClr>
          <a:srgbClr val="FF9933"/>
        </a:buClr>
        <a:buSzPct val="90000"/>
        <a:buFont typeface="Monotype Sorts" pitchFamily="-65" charset="2"/>
        <a:buChar char="l"/>
        <a:defRPr kumimoji="1" sz="1275">
          <a:solidFill>
            <a:schemeClr val="tx1"/>
          </a:solidFill>
          <a:latin typeface="+mn-lt"/>
          <a:ea typeface="MS PGothic" charset="0"/>
          <a:cs typeface="MS PGothic" charset="0"/>
        </a:defRPr>
      </a:lvl2pPr>
      <a:lvl3pPr marL="814388" indent="-171450" algn="l" rtl="0" eaLnBrk="1" fontAlgn="base" hangingPunct="1">
        <a:spcBef>
          <a:spcPct val="35000"/>
        </a:spcBef>
        <a:spcAft>
          <a:spcPct val="0"/>
        </a:spcAft>
        <a:buClr>
          <a:srgbClr val="33CC33"/>
        </a:buClr>
        <a:buSzPct val="85000"/>
        <a:buFont typeface="Webdings" panose="05030102010509060703" pitchFamily="18" charset="2"/>
        <a:buChar char="4"/>
        <a:defRPr kumimoji="1" sz="1275">
          <a:solidFill>
            <a:schemeClr val="tx1"/>
          </a:solidFill>
          <a:latin typeface="+mn-lt"/>
          <a:ea typeface="MS PGothic" charset="0"/>
          <a:cs typeface="MS PGothic" charset="0"/>
        </a:defRPr>
      </a:lvl3pPr>
      <a:lvl4pPr marL="1071563" indent="-171450" algn="l" rtl="0" eaLnBrk="1" fontAlgn="base" hangingPunct="1">
        <a:spcBef>
          <a:spcPct val="35000"/>
        </a:spcBef>
        <a:spcAft>
          <a:spcPct val="0"/>
        </a:spcAft>
        <a:buClr>
          <a:schemeClr val="hlink"/>
        </a:buClr>
        <a:buFont typeface="Times New Roman" panose="02020603050405020304" pitchFamily="18" charset="0"/>
        <a:buChar char="–"/>
        <a:defRPr kumimoji="1" sz="1275">
          <a:solidFill>
            <a:schemeClr val="tx1"/>
          </a:solidFill>
          <a:latin typeface="+mn-lt"/>
          <a:ea typeface="MS PGothic" charset="0"/>
          <a:cs typeface="MS PGothic" charset="0"/>
        </a:defRPr>
      </a:lvl4pPr>
      <a:lvl5pPr marL="1328738" indent="-171450" algn="l" rtl="0" eaLnBrk="1" fontAlgn="base" hangingPunct="1">
        <a:spcBef>
          <a:spcPct val="35000"/>
        </a:spcBef>
        <a:spcAft>
          <a:spcPct val="0"/>
        </a:spcAft>
        <a:buClr>
          <a:schemeClr val="tx2"/>
        </a:buClr>
        <a:buSzPct val="75000"/>
        <a:buChar char="»"/>
        <a:defRPr kumimoji="1" sz="1275">
          <a:solidFill>
            <a:schemeClr val="tx1"/>
          </a:solidFill>
          <a:latin typeface="+mn-lt"/>
          <a:ea typeface="MS PGothic" charset="0"/>
          <a:cs typeface="MS PGothic" charset="0"/>
        </a:defRPr>
      </a:lvl5pPr>
      <a:lvl6pPr marL="1671638" indent="-17145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014538" indent="-17145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2357438" indent="-17145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2700338" indent="-17145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1.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2.xml"/><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2.xml"/><Relationship Id="rId4" Type="http://schemas.openxmlformats.org/officeDocument/2006/relationships/image" Target="../media/image13.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2.xml"/><Relationship Id="rId4" Type="http://schemas.openxmlformats.org/officeDocument/2006/relationships/image" Target="../media/image18.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32.xml"/><Relationship Id="rId4" Type="http://schemas.openxmlformats.org/officeDocument/2006/relationships/image" Target="../media/image23.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2.xml"/></Relationships>
</file>

<file path=ppt/slides/_rels/slide3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7.xml"/><Relationship Id="rId1" Type="http://schemas.openxmlformats.org/officeDocument/2006/relationships/slideLayout" Target="../slideLayouts/slideLayout3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1.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9.xml"/><Relationship Id="rId1" Type="http://schemas.openxmlformats.org/officeDocument/2006/relationships/slideLayout" Target="../slideLayouts/slideLayout32.xml"/><Relationship Id="rId4" Type="http://schemas.openxmlformats.org/officeDocument/2006/relationships/image" Target="../media/image25.emf"/></Relationships>
</file>

<file path=ppt/slides/_rels/slide38.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30.xml"/><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1.xml"/><Relationship Id="rId1" Type="http://schemas.openxmlformats.org/officeDocument/2006/relationships/slideLayout" Target="../slideLayouts/slideLayout32.xml"/><Relationship Id="rId4" Type="http://schemas.openxmlformats.org/officeDocument/2006/relationships/image" Target="../media/image27.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2.xml"/><Relationship Id="rId1" Type="http://schemas.openxmlformats.org/officeDocument/2006/relationships/slideLayout" Target="../slideLayouts/slideLayout32.xml"/><Relationship Id="rId6" Type="http://schemas.openxmlformats.org/officeDocument/2006/relationships/image" Target="../media/image29.emf"/><Relationship Id="rId5" Type="http://schemas.openxmlformats.org/officeDocument/2006/relationships/oleObject" Target="../embeddings/oleObject4.bin"/><Relationship Id="rId4" Type="http://schemas.openxmlformats.org/officeDocument/2006/relationships/image" Target="../media/image2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CE15D65-8053-1B4E-B089-18B4089AAFB8}"/>
              </a:ext>
            </a:extLst>
          </p:cNvPr>
          <p:cNvPicPr>
            <a:picLocks noChangeAspect="1"/>
          </p:cNvPicPr>
          <p:nvPr/>
        </p:nvPicPr>
        <p:blipFill>
          <a:blip r:embed="rId3"/>
          <a:stretch>
            <a:fillRect/>
          </a:stretch>
        </p:blipFill>
        <p:spPr>
          <a:xfrm>
            <a:off x="-2" y="-1"/>
            <a:ext cx="9144001" cy="5143501"/>
          </a:xfrm>
          <a:prstGeom prst="rect">
            <a:avLst/>
          </a:prstGeom>
        </p:spPr>
      </p:pic>
      <p:sp>
        <p:nvSpPr>
          <p:cNvPr id="7" name="Rectangle 6"/>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3075"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9"/>
          <p:cNvSpPr txBox="1">
            <a:spLocks noChangeArrowheads="1"/>
          </p:cNvSpPr>
          <p:nvPr/>
        </p:nvSpPr>
        <p:spPr bwMode="auto">
          <a:xfrm>
            <a:off x="-1" y="438150"/>
            <a:ext cx="9143999"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3200" i="1" dirty="0"/>
              <a:t>W4111 – Introduction to Databases</a:t>
            </a:r>
            <a:br>
              <a:rPr lang="en-US" altLang="en-US" sz="3200" i="1" dirty="0"/>
            </a:br>
            <a:r>
              <a:rPr lang="en-US" altLang="en-US" sz="3200" i="1" dirty="0"/>
              <a:t>Makeup/Continuation Lecture</a:t>
            </a:r>
          </a:p>
        </p:txBody>
      </p:sp>
      <p:sp>
        <p:nvSpPr>
          <p:cNvPr id="3077" name="TextBox 10"/>
          <p:cNvSpPr txBox="1">
            <a:spLocks noChangeArrowheads="1"/>
          </p:cNvSpPr>
          <p:nvPr/>
        </p:nvSpPr>
        <p:spPr bwMode="auto">
          <a:xfrm>
            <a:off x="0" y="4732991"/>
            <a:ext cx="9144000" cy="363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r>
              <a:rPr lang="en-US" altLang="en-US" sz="1200" i="1" dirty="0">
                <a:solidFill>
                  <a:schemeClr val="bg1"/>
                </a:solidFill>
              </a:rPr>
              <a:t>© Donald F. Ferguson, 2025</a:t>
            </a:r>
          </a:p>
        </p:txBody>
      </p:sp>
    </p:spTree>
    <p:extLst>
      <p:ext uri="{BB962C8B-B14F-4D97-AF65-F5344CB8AC3E}">
        <p14:creationId xmlns:p14="http://schemas.microsoft.com/office/powerpoint/2010/main" val="2037995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A9BA0-E51F-6038-29A4-D23DF0CE38A3}"/>
            </a:ext>
          </a:extLst>
        </p:cNvPr>
        <p:cNvGrpSpPr/>
        <p:nvPr/>
      </p:nvGrpSpPr>
      <p:grpSpPr>
        <a:xfrm>
          <a:off x="0" y="0"/>
          <a:ext cx="0" cy="0"/>
          <a:chOff x="0" y="0"/>
          <a:chExt cx="0" cy="0"/>
        </a:xfrm>
      </p:grpSpPr>
      <p:pic>
        <p:nvPicPr>
          <p:cNvPr id="10241" name="Picture 11" descr="16x9_BG-08.jpg">
            <a:extLst>
              <a:ext uri="{FF2B5EF4-FFF2-40B4-BE49-F238E27FC236}">
                <a16:creationId xmlns:a16="http://schemas.microsoft.com/office/drawing/2014/main" id="{9241E6B2-2988-CC10-087B-BA15836004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7B1725EB-A9F0-D967-B652-548D18299D11}"/>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E6B9B8"/>
              </a:solidFill>
              <a:effectLst/>
              <a:uLnTx/>
              <a:uFillTx/>
              <a:latin typeface="Calibri" charset="0"/>
              <a:ea typeface="ＭＳ Ｐゴシック" charset="-128"/>
              <a:cs typeface="+mn-cs"/>
            </a:endParaRPr>
          </a:p>
        </p:txBody>
      </p:sp>
      <p:pic>
        <p:nvPicPr>
          <p:cNvPr id="10243" name="Picture 7">
            <a:extLst>
              <a:ext uri="{FF2B5EF4-FFF2-40B4-BE49-F238E27FC236}">
                <a16:creationId xmlns:a16="http://schemas.microsoft.com/office/drawing/2014/main" id="{A324E06F-2FF1-885D-540F-69C158E46AE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8">
            <a:extLst>
              <a:ext uri="{FF2B5EF4-FFF2-40B4-BE49-F238E27FC236}">
                <a16:creationId xmlns:a16="http://schemas.microsoft.com/office/drawing/2014/main" id="{D275BCC9-7FF9-5D92-8EDD-09B8ABAF31B3}"/>
              </a:ext>
            </a:extLst>
          </p:cNvPr>
          <p:cNvSpPr txBox="1">
            <a:spLocks noChangeArrowheads="1"/>
          </p:cNvSpPr>
          <p:nvPr/>
        </p:nvSpPr>
        <p:spPr bwMode="auto">
          <a:xfrm>
            <a:off x="0" y="173355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2800" i="1" dirty="0">
                <a:solidFill>
                  <a:schemeClr val="bg1"/>
                </a:solidFill>
              </a:rPr>
              <a:t>Query Optimization</a:t>
            </a:r>
          </a:p>
        </p:txBody>
      </p:sp>
      <p:sp>
        <p:nvSpPr>
          <p:cNvPr id="8" name="TextBox 9">
            <a:extLst>
              <a:ext uri="{FF2B5EF4-FFF2-40B4-BE49-F238E27FC236}">
                <a16:creationId xmlns:a16="http://schemas.microsoft.com/office/drawing/2014/main" id="{4B2CF3E7-DC7F-2E14-48C7-8AC31A6D7DFE}"/>
              </a:ext>
            </a:extLst>
          </p:cNvPr>
          <p:cNvSpPr txBox="1">
            <a:spLocks noChangeArrowheads="1"/>
          </p:cNvSpPr>
          <p:nvPr/>
        </p:nvSpPr>
        <p:spPr bwMode="auto">
          <a:xfrm>
            <a:off x="0" y="4695825"/>
            <a:ext cx="6781800" cy="350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2</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W4111-2025F-Makeup-Module-II		© Donald F. Ferguson, 2025</a:t>
            </a:r>
            <a:endParaRPr lang="en-US" altLang="en-US" sz="800" i="1" dirty="0">
              <a:solidFill>
                <a:schemeClr val="bg1"/>
              </a:solidFill>
            </a:endParaRPr>
          </a:p>
        </p:txBody>
      </p:sp>
    </p:spTree>
    <p:extLst>
      <p:ext uri="{BB962C8B-B14F-4D97-AF65-F5344CB8AC3E}">
        <p14:creationId xmlns:p14="http://schemas.microsoft.com/office/powerpoint/2010/main" val="1197175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9A5CA-994A-F3BA-879D-BFA7685E27D7}"/>
            </a:ext>
          </a:extLst>
        </p:cNvPr>
        <p:cNvGrpSpPr/>
        <p:nvPr/>
      </p:nvGrpSpPr>
      <p:grpSpPr>
        <a:xfrm>
          <a:off x="0" y="0"/>
          <a:ext cx="0" cy="0"/>
          <a:chOff x="0" y="0"/>
          <a:chExt cx="0" cy="0"/>
        </a:xfrm>
      </p:grpSpPr>
      <p:pic>
        <p:nvPicPr>
          <p:cNvPr id="9217" name="Picture 1" descr="16x9_grey.jpg">
            <a:extLst>
              <a:ext uri="{FF2B5EF4-FFF2-40B4-BE49-F238E27FC236}">
                <a16:creationId xmlns:a16="http://schemas.microsoft.com/office/drawing/2014/main" id="{632DF5D8-3F69-1019-3147-D50CD004A5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8550"/>
            <a:ext cx="9144000" cy="5143500"/>
          </a:xfrm>
          <a:prstGeom prst="rect">
            <a:avLst/>
          </a:prstGeom>
          <a:noFill/>
          <a:ln>
            <a:noFill/>
          </a:ln>
        </p:spPr>
      </p:pic>
      <p:sp>
        <p:nvSpPr>
          <p:cNvPr id="7" name="Rectangle 6">
            <a:extLst>
              <a:ext uri="{FF2B5EF4-FFF2-40B4-BE49-F238E27FC236}">
                <a16:creationId xmlns:a16="http://schemas.microsoft.com/office/drawing/2014/main" id="{E5F91AEE-E62F-4114-5F55-7908AB406A5A}"/>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E6B9B8"/>
              </a:solidFill>
              <a:effectLst/>
              <a:uLnTx/>
              <a:uFillTx/>
              <a:latin typeface="Calibri" charset="0"/>
              <a:ea typeface="ＭＳ Ｐゴシック" charset="-128"/>
              <a:cs typeface="+mn-cs"/>
            </a:endParaRPr>
          </a:p>
        </p:txBody>
      </p:sp>
      <p:pic>
        <p:nvPicPr>
          <p:cNvPr id="9219" name="Picture 7">
            <a:extLst>
              <a:ext uri="{FF2B5EF4-FFF2-40B4-BE49-F238E27FC236}">
                <a16:creationId xmlns:a16="http://schemas.microsoft.com/office/drawing/2014/main" id="{E51C7E64-AFF6-28E6-E493-CD7AADC7FBF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TextBox 8">
            <a:extLst>
              <a:ext uri="{FF2B5EF4-FFF2-40B4-BE49-F238E27FC236}">
                <a16:creationId xmlns:a16="http://schemas.microsoft.com/office/drawing/2014/main" id="{FAED5BB1-1485-5279-C0C2-CE4DA6B8A8A1}"/>
              </a:ext>
            </a:extLst>
          </p:cNvPr>
          <p:cNvSpPr txBox="1">
            <a:spLocks noChangeArrowheads="1"/>
          </p:cNvSpPr>
          <p:nvPr/>
        </p:nvSpPr>
        <p:spPr bwMode="auto">
          <a:xfrm>
            <a:off x="0" y="1733550"/>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altLang="en-US" sz="4400" b="0" i="1" u="none" strike="noStrike" kern="1200" cap="none" spc="0" normalizeH="0" baseline="0" noProof="0" dirty="0">
                <a:ln>
                  <a:noFill/>
                </a:ln>
                <a:solidFill>
                  <a:prstClr val="white"/>
                </a:solidFill>
                <a:effectLst/>
                <a:uLnTx/>
                <a:uFillTx/>
                <a:latin typeface="Calibri" charset="0"/>
                <a:ea typeface="ＭＳ Ｐゴシック" charset="-128"/>
                <a:cs typeface="+mn-cs"/>
              </a:rPr>
              <a:t>Reminder</a:t>
            </a:r>
            <a:endParaRPr kumimoji="0" lang="en-US" altLang="en-US" sz="2800" b="0" i="1" u="none" strike="noStrike" kern="1200" cap="none" spc="0" normalizeH="0" baseline="0" noProof="0" dirty="0">
              <a:ln>
                <a:noFill/>
              </a:ln>
              <a:solidFill>
                <a:prstClr val="white"/>
              </a:solidFill>
              <a:effectLst/>
              <a:uLnTx/>
              <a:uFillTx/>
              <a:latin typeface="Calibri" charset="0"/>
              <a:ea typeface="ＭＳ Ｐゴシック" charset="-128"/>
              <a:cs typeface="+mn-cs"/>
            </a:endParaRPr>
          </a:p>
        </p:txBody>
      </p:sp>
      <p:sp>
        <p:nvSpPr>
          <p:cNvPr id="2" name="TextBox 9">
            <a:extLst>
              <a:ext uri="{FF2B5EF4-FFF2-40B4-BE49-F238E27FC236}">
                <a16:creationId xmlns:a16="http://schemas.microsoft.com/office/drawing/2014/main" id="{9EEEBB12-6141-1935-93BB-92F29813C59E}"/>
              </a:ext>
            </a:extLst>
          </p:cNvPr>
          <p:cNvSpPr txBox="1">
            <a:spLocks noChangeArrowheads="1"/>
          </p:cNvSpPr>
          <p:nvPr/>
        </p:nvSpPr>
        <p:spPr bwMode="auto">
          <a:xfrm>
            <a:off x="0" y="4695825"/>
            <a:ext cx="6781800" cy="350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3</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W4111-2025F-Makeup-Module-II		© Donald F. Ferguson, 2025</a:t>
            </a:r>
            <a:endParaRPr lang="en-US" altLang="en-US" sz="800" i="1" dirty="0">
              <a:solidFill>
                <a:schemeClr val="bg1"/>
              </a:solidFill>
            </a:endParaRPr>
          </a:p>
        </p:txBody>
      </p:sp>
    </p:spTree>
    <p:extLst>
      <p:ext uri="{BB962C8B-B14F-4D97-AF65-F5344CB8AC3E}">
        <p14:creationId xmlns:p14="http://schemas.microsoft.com/office/powerpoint/2010/main" val="737723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a:extLst>
              <a:ext uri="{FF2B5EF4-FFF2-40B4-BE49-F238E27FC236}">
                <a16:creationId xmlns:a16="http://schemas.microsoft.com/office/drawing/2014/main" id="{C4F7EECF-E672-4EC7-A229-C16B8BBFB5E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Basic Steps in Query Processing</a:t>
            </a:r>
          </a:p>
        </p:txBody>
      </p:sp>
      <p:sp>
        <p:nvSpPr>
          <p:cNvPr id="9219" name="Rectangle 3">
            <a:extLst>
              <a:ext uri="{FF2B5EF4-FFF2-40B4-BE49-F238E27FC236}">
                <a16:creationId xmlns:a16="http://schemas.microsoft.com/office/drawing/2014/main" id="{2D2522C3-D90D-4FC0-8084-00D0088674AB}"/>
              </a:ext>
            </a:extLst>
          </p:cNvPr>
          <p:cNvSpPr>
            <a:spLocks noGrp="1" noChangeArrowheads="1"/>
          </p:cNvSpPr>
          <p:nvPr>
            <p:ph idx="1"/>
          </p:nvPr>
        </p:nvSpPr>
        <p:spPr>
          <a:xfrm>
            <a:off x="1768876" y="820342"/>
            <a:ext cx="5194403" cy="921230"/>
          </a:xfrm>
        </p:spPr>
        <p:txBody>
          <a:bodyPr/>
          <a:lstStyle/>
          <a:p>
            <a:pPr>
              <a:buFont typeface="Monotype Sorts" pitchFamily="-65" charset="2"/>
              <a:buNone/>
            </a:pPr>
            <a:r>
              <a:rPr lang="en-US" altLang="en-US" dirty="0">
                <a:ea typeface="MS PGothic" panose="020B0600070205080204" pitchFamily="34" charset="-128"/>
              </a:rPr>
              <a:t>1.	Parsing and translation</a:t>
            </a:r>
          </a:p>
          <a:p>
            <a:pPr>
              <a:buFont typeface="Monotype Sorts" pitchFamily="-65" charset="2"/>
              <a:buNone/>
            </a:pPr>
            <a:r>
              <a:rPr lang="en-US" altLang="en-US" dirty="0">
                <a:ea typeface="MS PGothic" panose="020B0600070205080204" pitchFamily="34" charset="-128"/>
              </a:rPr>
              <a:t>2.	Optimization</a:t>
            </a:r>
          </a:p>
          <a:p>
            <a:pPr>
              <a:buFont typeface="Monotype Sorts" pitchFamily="-65" charset="2"/>
              <a:buNone/>
            </a:pPr>
            <a:r>
              <a:rPr lang="en-US" altLang="en-US" dirty="0">
                <a:ea typeface="MS PGothic" panose="020B0600070205080204" pitchFamily="34" charset="-128"/>
              </a:rPr>
              <a:t>3.	Evaluation</a:t>
            </a:r>
          </a:p>
        </p:txBody>
      </p:sp>
      <p:pic>
        <p:nvPicPr>
          <p:cNvPr id="9220" name="Picture 11">
            <a:extLst>
              <a:ext uri="{FF2B5EF4-FFF2-40B4-BE49-F238E27FC236}">
                <a16:creationId xmlns:a16="http://schemas.microsoft.com/office/drawing/2014/main" id="{CDACD50C-619F-4E1E-97A1-AEC99C2D45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6042" y="1724453"/>
            <a:ext cx="4391840" cy="2637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60EECDF6-8430-4E5B-6C23-A51F1025CBD1}"/>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cSld>
  <p:clrMapOvr>
    <a:masterClrMapping/>
  </p:clrMapOvr>
  <p:transition advTm="152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4B778D-CDAB-9C08-6199-9F3E3FF1FA6A}"/>
              </a:ext>
            </a:extLst>
          </p:cNvPr>
          <p:cNvSpPr>
            <a:spLocks noGrp="1"/>
          </p:cNvSpPr>
          <p:nvPr>
            <p:ph type="title"/>
          </p:nvPr>
        </p:nvSpPr>
        <p:spPr/>
        <p:txBody>
          <a:bodyPr/>
          <a:lstStyle/>
          <a:p>
            <a:r>
              <a:rPr lang="en-US" dirty="0"/>
              <a:t>Query Processing</a:t>
            </a:r>
          </a:p>
        </p:txBody>
      </p:sp>
      <p:pic>
        <p:nvPicPr>
          <p:cNvPr id="4" name="Picture 11">
            <a:extLst>
              <a:ext uri="{FF2B5EF4-FFF2-40B4-BE49-F238E27FC236}">
                <a16:creationId xmlns:a16="http://schemas.microsoft.com/office/drawing/2014/main" id="{924A7746-830B-2263-2CF0-EF5D2D5F89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749" y="525235"/>
            <a:ext cx="2895600" cy="1738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90946A29-BCC5-C7DE-5A7D-F3DCB6ECC4E7}"/>
              </a:ext>
            </a:extLst>
          </p:cNvPr>
          <p:cNvPicPr>
            <a:picLocks noChangeAspect="1"/>
          </p:cNvPicPr>
          <p:nvPr/>
        </p:nvPicPr>
        <p:blipFill>
          <a:blip r:embed="rId3"/>
          <a:stretch>
            <a:fillRect/>
          </a:stretch>
        </p:blipFill>
        <p:spPr>
          <a:xfrm>
            <a:off x="4267200" y="586165"/>
            <a:ext cx="3861987" cy="1295400"/>
          </a:xfrm>
          <a:prstGeom prst="rect">
            <a:avLst/>
          </a:prstGeom>
        </p:spPr>
      </p:pic>
      <p:pic>
        <p:nvPicPr>
          <p:cNvPr id="6" name="Picture 5">
            <a:extLst>
              <a:ext uri="{FF2B5EF4-FFF2-40B4-BE49-F238E27FC236}">
                <a16:creationId xmlns:a16="http://schemas.microsoft.com/office/drawing/2014/main" id="{4355BFB7-94B8-0209-0A5D-DD362648A115}"/>
              </a:ext>
            </a:extLst>
          </p:cNvPr>
          <p:cNvPicPr>
            <a:picLocks noChangeAspect="1"/>
          </p:cNvPicPr>
          <p:nvPr/>
        </p:nvPicPr>
        <p:blipFill>
          <a:blip r:embed="rId4"/>
          <a:stretch>
            <a:fillRect/>
          </a:stretch>
        </p:blipFill>
        <p:spPr>
          <a:xfrm>
            <a:off x="197749" y="2345037"/>
            <a:ext cx="2575898" cy="2207913"/>
          </a:xfrm>
          <a:prstGeom prst="rect">
            <a:avLst/>
          </a:prstGeom>
        </p:spPr>
      </p:pic>
      <p:pic>
        <p:nvPicPr>
          <p:cNvPr id="1026" name="Picture 2">
            <a:extLst>
              <a:ext uri="{FF2B5EF4-FFF2-40B4-BE49-F238E27FC236}">
                <a16:creationId xmlns:a16="http://schemas.microsoft.com/office/drawing/2014/main" id="{0ECF309E-C087-ADCA-104E-7163793781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1455" y="2230388"/>
            <a:ext cx="5257800" cy="2437209"/>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565C5A09-7EF2-76B5-8E2F-8CA278076EA6}"/>
              </a:ext>
            </a:extLst>
          </p:cNvPr>
          <p:cNvCxnSpPr>
            <a:endCxn id="5" idx="1"/>
          </p:cNvCxnSpPr>
          <p:nvPr/>
        </p:nvCxnSpPr>
        <p:spPr>
          <a:xfrm>
            <a:off x="3093349" y="1233865"/>
            <a:ext cx="1173851" cy="0"/>
          </a:xfrm>
          <a:prstGeom prst="straightConnector1">
            <a:avLst/>
          </a:prstGeom>
          <a:ln w="57150">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BE0C8711-853B-1A31-29AC-4E4C14E032A1}"/>
              </a:ext>
            </a:extLst>
          </p:cNvPr>
          <p:cNvCxnSpPr>
            <a:cxnSpLocks/>
          </p:cNvCxnSpPr>
          <p:nvPr/>
        </p:nvCxnSpPr>
        <p:spPr>
          <a:xfrm flipH="1">
            <a:off x="2819400" y="1941039"/>
            <a:ext cx="1447800" cy="1087911"/>
          </a:xfrm>
          <a:prstGeom prst="straightConnector1">
            <a:avLst/>
          </a:prstGeom>
          <a:ln w="57150">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2DE6F077-871C-71AB-639E-26B758F547C5}"/>
              </a:ext>
            </a:extLst>
          </p:cNvPr>
          <p:cNvCxnSpPr>
            <a:cxnSpLocks/>
          </p:cNvCxnSpPr>
          <p:nvPr/>
        </p:nvCxnSpPr>
        <p:spPr>
          <a:xfrm>
            <a:off x="2819400" y="3448992"/>
            <a:ext cx="1276351" cy="59842"/>
          </a:xfrm>
          <a:prstGeom prst="straightConnector1">
            <a:avLst/>
          </a:prstGeom>
          <a:ln w="57150">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30C307B-EB94-3615-6610-03AFF7744BFA}"/>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extLst>
      <p:ext uri="{BB962C8B-B14F-4D97-AF65-F5344CB8AC3E}">
        <p14:creationId xmlns:p14="http://schemas.microsoft.com/office/powerpoint/2010/main" val="2372315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A0836EB9-4CBA-05A3-68DA-BD9F5127E9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799" y="666750"/>
            <a:ext cx="7068621" cy="32766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4E95A55-D668-735B-11DA-8D9613258A92}"/>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extLst>
      <p:ext uri="{BB962C8B-B14F-4D97-AF65-F5344CB8AC3E}">
        <p14:creationId xmlns:p14="http://schemas.microsoft.com/office/powerpoint/2010/main" val="2214056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a:extLst>
              <a:ext uri="{FF2B5EF4-FFF2-40B4-BE49-F238E27FC236}">
                <a16:creationId xmlns:a16="http://schemas.microsoft.com/office/drawing/2014/main" id="{701EDBC9-0803-4051-8741-608A2893CB91}"/>
              </a:ext>
            </a:extLst>
          </p:cNvPr>
          <p:cNvSpPr>
            <a:spLocks noGrp="1" noChangeArrowheads="1"/>
          </p:cNvSpPr>
          <p:nvPr>
            <p:ph type="title"/>
          </p:nvPr>
        </p:nvSpPr>
        <p:spPr>
          <a:xfrm>
            <a:off x="1719263" y="290648"/>
            <a:ext cx="6057900" cy="457200"/>
          </a:xfrm>
        </p:spPr>
        <p:txBody>
          <a:bodyPr/>
          <a:lstStyle/>
          <a:p>
            <a:pPr>
              <a:defRPr/>
            </a:pPr>
            <a:r>
              <a:rPr lang="en-US" altLang="en-US" dirty="0">
                <a:effectLst>
                  <a:outerShdw blurRad="38100" dist="38100" dir="2700000" algn="tl">
                    <a:srgbClr val="C0C0C0"/>
                  </a:outerShdw>
                </a:effectLst>
                <a:ea typeface="MS PGothic" panose="020B0600070205080204" pitchFamily="34" charset="-128"/>
              </a:rPr>
              <a:t>Basic Steps in Query Processing: Optimization</a:t>
            </a:r>
          </a:p>
        </p:txBody>
      </p:sp>
      <p:sp>
        <p:nvSpPr>
          <p:cNvPr id="13315" name="Rectangle 3">
            <a:extLst>
              <a:ext uri="{FF2B5EF4-FFF2-40B4-BE49-F238E27FC236}">
                <a16:creationId xmlns:a16="http://schemas.microsoft.com/office/drawing/2014/main" id="{0555D7EF-9E4A-4BE9-B712-A77059F3A004}"/>
              </a:ext>
            </a:extLst>
          </p:cNvPr>
          <p:cNvSpPr>
            <a:spLocks noGrp="1" noChangeArrowheads="1"/>
          </p:cNvSpPr>
          <p:nvPr>
            <p:ph idx="1"/>
          </p:nvPr>
        </p:nvSpPr>
        <p:spPr>
          <a:xfrm>
            <a:off x="1772531" y="885548"/>
            <a:ext cx="5722442" cy="3102921"/>
          </a:xfrm>
        </p:spPr>
        <p:txBody>
          <a:bodyPr/>
          <a:lstStyle/>
          <a:p>
            <a:r>
              <a:rPr lang="en-US" altLang="en-US" dirty="0">
                <a:ea typeface="MS PGothic" panose="020B0600070205080204" pitchFamily="34" charset="-128"/>
              </a:rPr>
              <a:t>A relational algebra expression may have many equivalent expressions</a:t>
            </a:r>
          </a:p>
          <a:p>
            <a:pPr lvl="1"/>
            <a:r>
              <a:rPr lang="en-US" altLang="en-US" dirty="0">
                <a:ea typeface="MS PGothic" panose="020B0600070205080204" pitchFamily="34" charset="-128"/>
              </a:rPr>
              <a:t>E.g., </a:t>
            </a:r>
            <a:r>
              <a:rPr lang="en-US" altLang="en-US" sz="1425" dirty="0">
                <a:ea typeface="MS PGothic" panose="020B0600070205080204" pitchFamily="34" charset="-128"/>
                <a:sym typeface="Symbol" panose="05050102010706020507" pitchFamily="18" charset="2"/>
              </a:rPr>
              <a:t></a:t>
            </a:r>
            <a:r>
              <a:rPr lang="en-US" altLang="en-US" sz="1425" i="1" baseline="-25000" dirty="0">
                <a:ea typeface="MS PGothic" panose="020B0600070205080204" pitchFamily="34" charset="-128"/>
                <a:sym typeface="Symbol" panose="05050102010706020507" pitchFamily="18" charset="2"/>
              </a:rPr>
              <a:t>salary</a:t>
            </a:r>
            <a:r>
              <a:rPr lang="en-US" altLang="en-US" sz="1425" baseline="-25000" dirty="0">
                <a:ea typeface="MS PGothic" panose="020B0600070205080204" pitchFamily="34" charset="-128"/>
                <a:sym typeface="Symbol" panose="05050102010706020507" pitchFamily="18" charset="2"/>
              </a:rPr>
              <a:t>75000</a:t>
            </a:r>
            <a:r>
              <a:rPr lang="en-US" altLang="en-US" sz="1425" dirty="0">
                <a:ea typeface="MS PGothic" panose="020B0600070205080204" pitchFamily="34" charset="-128"/>
                <a:sym typeface="Symbol" panose="05050102010706020507" pitchFamily="18" charset="2"/>
              </a:rPr>
              <a:t>(</a:t>
            </a:r>
            <a:r>
              <a:rPr lang="en-US" altLang="en-US" sz="1425" i="1" baseline="-25000" dirty="0">
                <a:ea typeface="MS PGothic" panose="020B0600070205080204" pitchFamily="34" charset="-128"/>
                <a:sym typeface="Symbol" panose="05050102010706020507" pitchFamily="18" charset="2"/>
              </a:rPr>
              <a:t>salary</a:t>
            </a:r>
            <a:r>
              <a:rPr lang="en-US" altLang="en-US" dirty="0">
                <a:ea typeface="MS PGothic" panose="020B0600070205080204" pitchFamily="34" charset="-128"/>
                <a:sym typeface="Symbol" panose="05050102010706020507" pitchFamily="18" charset="2"/>
              </a:rPr>
              <a:t>(</a:t>
            </a:r>
            <a:r>
              <a:rPr lang="en-US" altLang="en-US" i="1" dirty="0">
                <a:ea typeface="MS PGothic" panose="020B0600070205080204" pitchFamily="34" charset="-128"/>
                <a:sym typeface="Symbol" panose="05050102010706020507" pitchFamily="18" charset="2"/>
              </a:rPr>
              <a:t>instructor)) </a:t>
            </a:r>
            <a:r>
              <a:rPr lang="en-US" altLang="en-US" dirty="0">
                <a:ea typeface="MS PGothic" panose="020B0600070205080204" pitchFamily="34" charset="-128"/>
                <a:sym typeface="Symbol" panose="05050102010706020507" pitchFamily="18" charset="2"/>
              </a:rPr>
              <a:t>is equivalent to </a:t>
            </a:r>
            <a:br>
              <a:rPr lang="en-US" altLang="en-US" dirty="0">
                <a:ea typeface="MS PGothic" panose="020B0600070205080204" pitchFamily="34" charset="-128"/>
                <a:sym typeface="Symbol" panose="05050102010706020507" pitchFamily="18" charset="2"/>
              </a:rPr>
            </a:br>
            <a:r>
              <a:rPr lang="en-US" altLang="en-US" dirty="0">
                <a:ea typeface="MS PGothic" panose="020B0600070205080204" pitchFamily="34" charset="-128"/>
                <a:sym typeface="Symbol" panose="05050102010706020507" pitchFamily="18" charset="2"/>
              </a:rPr>
              <a:t>         </a:t>
            </a:r>
            <a:r>
              <a:rPr lang="en-US" altLang="en-US" sz="1425" dirty="0">
                <a:ea typeface="MS PGothic" panose="020B0600070205080204" pitchFamily="34" charset="-128"/>
                <a:sym typeface="Symbol" panose="05050102010706020507" pitchFamily="18" charset="2"/>
              </a:rPr>
              <a:t></a:t>
            </a:r>
            <a:r>
              <a:rPr lang="en-US" altLang="en-US" sz="1425" i="1" baseline="-25000" dirty="0">
                <a:ea typeface="MS PGothic" panose="020B0600070205080204" pitchFamily="34" charset="-128"/>
                <a:sym typeface="Symbol" panose="05050102010706020507" pitchFamily="18" charset="2"/>
              </a:rPr>
              <a:t>salary</a:t>
            </a:r>
            <a:r>
              <a:rPr lang="en-US" altLang="en-US" sz="1425" dirty="0">
                <a:ea typeface="MS PGothic" panose="020B0600070205080204" pitchFamily="34" charset="-128"/>
                <a:sym typeface="Symbol" panose="05050102010706020507" pitchFamily="18" charset="2"/>
              </a:rPr>
              <a:t>(</a:t>
            </a:r>
            <a:r>
              <a:rPr lang="en-US" altLang="en-US" sz="1425" i="1" baseline="-25000" dirty="0">
                <a:ea typeface="MS PGothic" panose="020B0600070205080204" pitchFamily="34" charset="-128"/>
                <a:sym typeface="Symbol" panose="05050102010706020507" pitchFamily="18" charset="2"/>
              </a:rPr>
              <a:t>salary</a:t>
            </a:r>
            <a:r>
              <a:rPr lang="en-US" altLang="en-US" sz="1425" baseline="-25000" dirty="0">
                <a:ea typeface="MS PGothic" panose="020B0600070205080204" pitchFamily="34" charset="-128"/>
                <a:sym typeface="Symbol" panose="05050102010706020507" pitchFamily="18" charset="2"/>
              </a:rPr>
              <a:t>75000</a:t>
            </a:r>
            <a:r>
              <a:rPr lang="en-US" altLang="en-US" dirty="0">
                <a:ea typeface="MS PGothic" panose="020B0600070205080204" pitchFamily="34" charset="-128"/>
                <a:sym typeface="Symbol" panose="05050102010706020507" pitchFamily="18" charset="2"/>
              </a:rPr>
              <a:t>(</a:t>
            </a:r>
            <a:r>
              <a:rPr lang="en-US" altLang="en-US" i="1" dirty="0">
                <a:ea typeface="MS PGothic" panose="020B0600070205080204" pitchFamily="34" charset="-128"/>
                <a:sym typeface="Symbol" panose="05050102010706020507" pitchFamily="18" charset="2"/>
              </a:rPr>
              <a:t>instructor))</a:t>
            </a:r>
          </a:p>
          <a:p>
            <a:r>
              <a:rPr lang="en-US" altLang="en-US" dirty="0">
                <a:ea typeface="MS PGothic" panose="020B0600070205080204" pitchFamily="34" charset="-128"/>
                <a:sym typeface="Symbol" panose="05050102010706020507" pitchFamily="18" charset="2"/>
              </a:rPr>
              <a:t>Each relational algebra operation can be evaluated using one of several different algorithms</a:t>
            </a:r>
          </a:p>
          <a:p>
            <a:pPr lvl="1"/>
            <a:r>
              <a:rPr lang="en-US" altLang="en-US" dirty="0">
                <a:ea typeface="MS PGothic" panose="020B0600070205080204" pitchFamily="34" charset="-128"/>
                <a:sym typeface="Symbol" panose="05050102010706020507" pitchFamily="18" charset="2"/>
              </a:rPr>
              <a:t>Correspondingly, a relational-algebra expression can be evaluated in many ways. </a:t>
            </a:r>
          </a:p>
          <a:p>
            <a:r>
              <a:rPr lang="en-US" altLang="en-US" dirty="0">
                <a:ea typeface="MS PGothic" panose="020B0600070205080204" pitchFamily="34" charset="-128"/>
                <a:sym typeface="Symbol" panose="05050102010706020507" pitchFamily="18" charset="2"/>
              </a:rPr>
              <a:t>Annotated expression specifying detailed evaluation strategy is called an </a:t>
            </a:r>
            <a:r>
              <a:rPr lang="en-US" altLang="en-US" b="1" dirty="0">
                <a:solidFill>
                  <a:srgbClr val="002060"/>
                </a:solidFill>
                <a:ea typeface="MS PGothic" panose="020B0600070205080204" pitchFamily="34" charset="-128"/>
                <a:sym typeface="Symbol" panose="05050102010706020507" pitchFamily="18" charset="2"/>
              </a:rPr>
              <a:t>evaluation-plan</a:t>
            </a:r>
            <a:r>
              <a:rPr lang="en-US" altLang="en-US" dirty="0">
                <a:ea typeface="MS PGothic" panose="020B0600070205080204" pitchFamily="34" charset="-128"/>
                <a:sym typeface="Symbol" panose="05050102010706020507" pitchFamily="18" charset="2"/>
              </a:rPr>
              <a:t>.  E.g.,:</a:t>
            </a:r>
          </a:p>
          <a:p>
            <a:pPr lvl="1"/>
            <a:r>
              <a:rPr lang="en-US" altLang="en-US" dirty="0">
                <a:ea typeface="MS PGothic" panose="020B0600070205080204" pitchFamily="34" charset="-128"/>
                <a:sym typeface="Symbol" panose="05050102010706020507" pitchFamily="18" charset="2"/>
              </a:rPr>
              <a:t>Use an index on </a:t>
            </a:r>
            <a:r>
              <a:rPr lang="en-US" altLang="en-US" i="1" dirty="0">
                <a:ea typeface="MS PGothic" panose="020B0600070205080204" pitchFamily="34" charset="-128"/>
                <a:sym typeface="Symbol" panose="05050102010706020507" pitchFamily="18" charset="2"/>
              </a:rPr>
              <a:t>salary</a:t>
            </a:r>
            <a:r>
              <a:rPr lang="en-US" altLang="en-US" dirty="0">
                <a:ea typeface="MS PGothic" panose="020B0600070205080204" pitchFamily="34" charset="-128"/>
                <a:sym typeface="Symbol" panose="05050102010706020507" pitchFamily="18" charset="2"/>
              </a:rPr>
              <a:t> to find instructors with salary &lt; 75000,</a:t>
            </a:r>
          </a:p>
          <a:p>
            <a:pPr lvl="1"/>
            <a:r>
              <a:rPr lang="en-US" altLang="en-US" dirty="0">
                <a:ea typeface="MS PGothic" panose="020B0600070205080204" pitchFamily="34" charset="-128"/>
                <a:sym typeface="Symbol" panose="05050102010706020507" pitchFamily="18" charset="2"/>
              </a:rPr>
              <a:t>Or perform complete relation scan and discard instructors with salary  75000</a:t>
            </a:r>
          </a:p>
        </p:txBody>
      </p:sp>
      <p:sp>
        <p:nvSpPr>
          <p:cNvPr id="2" name="TextBox 1">
            <a:extLst>
              <a:ext uri="{FF2B5EF4-FFF2-40B4-BE49-F238E27FC236}">
                <a16:creationId xmlns:a16="http://schemas.microsoft.com/office/drawing/2014/main" id="{97A58DF7-CB3E-5F2C-8446-9AD8CA9D61A4}"/>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D3D3E-4A91-40A9-CD97-217727228841}"/>
            </a:ext>
          </a:extLst>
        </p:cNvPr>
        <p:cNvGrpSpPr/>
        <p:nvPr/>
      </p:nvGrpSpPr>
      <p:grpSpPr>
        <a:xfrm>
          <a:off x="0" y="0"/>
          <a:ext cx="0" cy="0"/>
          <a:chOff x="0" y="0"/>
          <a:chExt cx="0" cy="0"/>
        </a:xfrm>
      </p:grpSpPr>
      <p:pic>
        <p:nvPicPr>
          <p:cNvPr id="9217" name="Picture 1" descr="16x9_grey.jpg">
            <a:extLst>
              <a:ext uri="{FF2B5EF4-FFF2-40B4-BE49-F238E27FC236}">
                <a16:creationId xmlns:a16="http://schemas.microsoft.com/office/drawing/2014/main" id="{9574C7D2-232B-D909-611A-E5D1715B1A5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8550"/>
            <a:ext cx="9144000" cy="5143500"/>
          </a:xfrm>
          <a:prstGeom prst="rect">
            <a:avLst/>
          </a:prstGeom>
          <a:noFill/>
          <a:ln>
            <a:noFill/>
          </a:ln>
        </p:spPr>
      </p:pic>
      <p:sp>
        <p:nvSpPr>
          <p:cNvPr id="7" name="Rectangle 6">
            <a:extLst>
              <a:ext uri="{FF2B5EF4-FFF2-40B4-BE49-F238E27FC236}">
                <a16:creationId xmlns:a16="http://schemas.microsoft.com/office/drawing/2014/main" id="{FACC11EB-2D19-6DF2-5BAB-1B5049446624}"/>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E6B9B8"/>
              </a:solidFill>
              <a:effectLst/>
              <a:uLnTx/>
              <a:uFillTx/>
              <a:latin typeface="Calibri" charset="0"/>
              <a:ea typeface="ＭＳ Ｐゴシック" charset="-128"/>
              <a:cs typeface="+mn-cs"/>
            </a:endParaRPr>
          </a:p>
        </p:txBody>
      </p:sp>
      <p:pic>
        <p:nvPicPr>
          <p:cNvPr id="9219" name="Picture 7">
            <a:extLst>
              <a:ext uri="{FF2B5EF4-FFF2-40B4-BE49-F238E27FC236}">
                <a16:creationId xmlns:a16="http://schemas.microsoft.com/office/drawing/2014/main" id="{4BF1B22B-4F14-8594-5054-2BFF73DB2B3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TextBox 8">
            <a:extLst>
              <a:ext uri="{FF2B5EF4-FFF2-40B4-BE49-F238E27FC236}">
                <a16:creationId xmlns:a16="http://schemas.microsoft.com/office/drawing/2014/main" id="{43285AA3-3C57-DC5D-6FE2-17B700135CF6}"/>
              </a:ext>
            </a:extLst>
          </p:cNvPr>
          <p:cNvSpPr txBox="1">
            <a:spLocks noChangeArrowheads="1"/>
          </p:cNvSpPr>
          <p:nvPr/>
        </p:nvSpPr>
        <p:spPr bwMode="auto">
          <a:xfrm>
            <a:off x="0" y="1733550"/>
            <a:ext cx="91440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altLang="en-US" sz="4400" b="0" i="1" u="none" strike="noStrike" kern="1200" cap="none" spc="0" normalizeH="0" baseline="0" noProof="0" dirty="0">
                <a:ln>
                  <a:noFill/>
                </a:ln>
                <a:solidFill>
                  <a:prstClr val="white"/>
                </a:solidFill>
                <a:effectLst/>
                <a:uLnTx/>
                <a:uFillTx/>
                <a:latin typeface="Calibri" charset="0"/>
                <a:ea typeface="ＭＳ Ｐゴシック" charset="-128"/>
                <a:cs typeface="+mn-cs"/>
              </a:rPr>
              <a:t>Query Optimization</a:t>
            </a:r>
            <a:br>
              <a:rPr kumimoji="0" lang="en-US" altLang="en-US" sz="4400" b="0" i="1" u="none" strike="noStrike" kern="1200" cap="none" spc="0" normalizeH="0" baseline="0" noProof="0" dirty="0">
                <a:ln>
                  <a:noFill/>
                </a:ln>
                <a:solidFill>
                  <a:prstClr val="white"/>
                </a:solidFill>
                <a:effectLst/>
                <a:uLnTx/>
                <a:uFillTx/>
                <a:latin typeface="Calibri" charset="0"/>
                <a:ea typeface="ＭＳ Ｐゴシック" charset="-128"/>
                <a:cs typeface="+mn-cs"/>
              </a:rPr>
            </a:br>
            <a:r>
              <a:rPr kumimoji="0" lang="en-US" altLang="en-US" sz="4400" b="0" i="1" u="none" strike="noStrike" kern="1200" cap="none" spc="0" normalizeH="0" baseline="0" noProof="0" dirty="0">
                <a:ln>
                  <a:noFill/>
                </a:ln>
                <a:solidFill>
                  <a:prstClr val="white"/>
                </a:solidFill>
                <a:effectLst/>
                <a:uLnTx/>
                <a:uFillTx/>
                <a:latin typeface="Calibri" charset="0"/>
                <a:ea typeface="ＭＳ Ｐゴシック" charset="-128"/>
                <a:cs typeface="+mn-cs"/>
              </a:rPr>
              <a:t>(Continued)</a:t>
            </a:r>
            <a:endParaRPr kumimoji="0" lang="en-US" altLang="en-US" sz="2800" b="0" i="1" u="none" strike="noStrike" kern="1200" cap="none" spc="0" normalizeH="0" baseline="0" noProof="0" dirty="0">
              <a:ln>
                <a:noFill/>
              </a:ln>
              <a:solidFill>
                <a:prstClr val="white"/>
              </a:solidFill>
              <a:effectLst/>
              <a:uLnTx/>
              <a:uFillTx/>
              <a:latin typeface="Calibri" charset="0"/>
              <a:ea typeface="ＭＳ Ｐゴシック" charset="-128"/>
              <a:cs typeface="+mn-cs"/>
            </a:endParaRPr>
          </a:p>
        </p:txBody>
      </p:sp>
      <p:sp>
        <p:nvSpPr>
          <p:cNvPr id="4" name="TextBox 9">
            <a:extLst>
              <a:ext uri="{FF2B5EF4-FFF2-40B4-BE49-F238E27FC236}">
                <a16:creationId xmlns:a16="http://schemas.microsoft.com/office/drawing/2014/main" id="{08CB84A3-7E6D-7DE9-42AA-DD9B6453AC66}"/>
              </a:ext>
            </a:extLst>
          </p:cNvPr>
          <p:cNvSpPr txBox="1">
            <a:spLocks noChangeArrowheads="1"/>
          </p:cNvSpPr>
          <p:nvPr/>
        </p:nvSpPr>
        <p:spPr bwMode="auto">
          <a:xfrm>
            <a:off x="0" y="4695825"/>
            <a:ext cx="6781800" cy="350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defTabSz="914400" eaLnBrk="1" fontAlgn="auto" latinLnBrk="0" hangingPunct="1">
              <a:lnSpc>
                <a:spcPts val="2400"/>
              </a:lnSpc>
              <a:spcBef>
                <a:spcPts val="0"/>
              </a:spcBef>
              <a:spcAft>
                <a:spcPts val="0"/>
              </a:spcAft>
              <a:buClrTx/>
              <a:buSzTx/>
              <a:buFontTx/>
              <a:buNone/>
              <a:tabLst/>
              <a:defRPr/>
            </a:pPr>
            <a:fld id="{A057C3CF-FEF9-2D44-911E-86B89DEEE20D}" type="slidenum">
              <a:rPr kumimoji="0" lang="en-US" altLang="en-US" sz="800" b="1" i="0" u="none" strike="noStrike" kern="0" cap="none" spc="0" normalizeH="0" baseline="0" noProof="0">
                <a:ln>
                  <a:noFill/>
                </a:ln>
                <a:solidFill>
                  <a:prstClr val="white"/>
                </a:solidFill>
                <a:effectLst/>
                <a:uLnTx/>
                <a:uFillTx/>
                <a:latin typeface="Calibri" charset="0"/>
                <a:ea typeface="ＭＳ Ｐゴシック" charset="-128"/>
              </a:rPr>
              <a:pPr marL="0" marR="0" lvl="0" indent="0" defTabSz="914400" eaLnBrk="1" fontAlgn="auto" latinLnBrk="0" hangingPunct="1">
                <a:lnSpc>
                  <a:spcPts val="2400"/>
                </a:lnSpc>
                <a:spcBef>
                  <a:spcPts val="0"/>
                </a:spcBef>
                <a:spcAft>
                  <a:spcPts val="0"/>
                </a:spcAft>
                <a:buClrTx/>
                <a:buSzTx/>
                <a:buFontTx/>
                <a:buNone/>
                <a:tabLst/>
                <a:defRPr/>
              </a:pPr>
              <a:t>8</a:t>
            </a:fld>
            <a:r>
              <a:rPr kumimoji="0" lang="en-US" altLang="en-US" sz="800" b="1" i="0" u="none" strike="noStrike" kern="0" cap="none" spc="0" normalizeH="0" baseline="0" noProof="0" dirty="0">
                <a:ln>
                  <a:noFill/>
                </a:ln>
                <a:solidFill>
                  <a:prstClr val="white"/>
                </a:solidFill>
                <a:effectLst/>
                <a:uLnTx/>
                <a:uFillTx/>
                <a:latin typeface="Calibri" charset="0"/>
                <a:ea typeface="ＭＳ Ｐゴシック" charset="-128"/>
              </a:rPr>
              <a:t> </a:t>
            </a:r>
            <a:r>
              <a:rPr kumimoji="0" lang="en-US" altLang="en-US" sz="800" b="0" i="0" u="none" strike="noStrike" kern="0" cap="none" spc="0" normalizeH="0" baseline="0" noProof="0" dirty="0">
                <a:ln>
                  <a:noFill/>
                </a:ln>
                <a:solidFill>
                  <a:prstClr val="white"/>
                </a:solidFill>
                <a:effectLst/>
                <a:uLnTx/>
                <a:uFillTx/>
                <a:latin typeface="Calibri" charset="0"/>
                <a:ea typeface="ＭＳ Ｐゴシック" charset="-128"/>
              </a:rPr>
              <a:t>|</a:t>
            </a:r>
            <a:r>
              <a:rPr kumimoji="0" lang="en-US" altLang="en-US" sz="800" b="1" i="0" u="none" strike="noStrike" kern="0" cap="none" spc="0" normalizeH="0" baseline="0" noProof="0" dirty="0">
                <a:ln>
                  <a:noFill/>
                </a:ln>
                <a:solidFill>
                  <a:prstClr val="white"/>
                </a:solidFill>
                <a:effectLst/>
                <a:uLnTx/>
                <a:uFillTx/>
                <a:latin typeface="Calibri" charset="0"/>
                <a:ea typeface="ＭＳ Ｐゴシック" charset="-128"/>
              </a:rPr>
              <a:t>W4111-2025F-Makeup-Module-II		© Donald F. Ferguson, 2025</a:t>
            </a:r>
            <a:endParaRPr kumimoji="0" lang="en-US" altLang="en-US" sz="800" b="0" i="1" u="none" strike="noStrike" kern="0" cap="none" spc="0" normalizeH="0" baseline="0" noProof="0" dirty="0">
              <a:ln>
                <a:noFill/>
              </a:ln>
              <a:solidFill>
                <a:prstClr val="white"/>
              </a:solidFill>
              <a:effectLst/>
              <a:uLnTx/>
              <a:uFillTx/>
              <a:latin typeface="Calibri" charset="0"/>
              <a:ea typeface="ＭＳ Ｐゴシック" charset="-128"/>
            </a:endParaRPr>
          </a:p>
        </p:txBody>
      </p:sp>
    </p:spTree>
    <p:extLst>
      <p:ext uri="{BB962C8B-B14F-4D97-AF65-F5344CB8AC3E}">
        <p14:creationId xmlns:p14="http://schemas.microsoft.com/office/powerpoint/2010/main" val="271170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B28584A3-E588-472A-9A73-1615951D4D45}"/>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Outline</a:t>
            </a:r>
          </a:p>
        </p:txBody>
      </p:sp>
      <p:sp>
        <p:nvSpPr>
          <p:cNvPr id="7171" name="Rectangle 3">
            <a:extLst>
              <a:ext uri="{FF2B5EF4-FFF2-40B4-BE49-F238E27FC236}">
                <a16:creationId xmlns:a16="http://schemas.microsoft.com/office/drawing/2014/main" id="{6F228E95-0A51-4249-9394-A4C573974D5D}"/>
              </a:ext>
            </a:extLst>
          </p:cNvPr>
          <p:cNvSpPr>
            <a:spLocks noGrp="1" noChangeArrowheads="1"/>
          </p:cNvSpPr>
          <p:nvPr>
            <p:ph idx="1"/>
          </p:nvPr>
        </p:nvSpPr>
        <p:spPr>
          <a:xfrm>
            <a:off x="1677202" y="826873"/>
            <a:ext cx="5804033" cy="1955516"/>
          </a:xfrm>
        </p:spPr>
        <p:txBody>
          <a:bodyPr/>
          <a:lstStyle/>
          <a:p>
            <a:r>
              <a:rPr lang="en-US" altLang="en-US"/>
              <a:t>Introduction </a:t>
            </a:r>
          </a:p>
          <a:p>
            <a:r>
              <a:rPr lang="en-US" altLang="en-US"/>
              <a:t>Transformation of Relational Expressions</a:t>
            </a:r>
          </a:p>
          <a:p>
            <a:r>
              <a:rPr lang="en-US" altLang="en-US"/>
              <a:t>Catalog Information for Cost Estimation</a:t>
            </a:r>
          </a:p>
          <a:p>
            <a:r>
              <a:rPr lang="en-US" altLang="en-US"/>
              <a:t>Statistical Information for Cost Estimation</a:t>
            </a:r>
          </a:p>
          <a:p>
            <a:r>
              <a:rPr lang="en-US" altLang="en-US"/>
              <a:t>Cost-based optimization</a:t>
            </a:r>
          </a:p>
          <a:p>
            <a:r>
              <a:rPr lang="en-US" altLang="en-US"/>
              <a:t>Dynamic Programming for Choosing Evaluation Plans</a:t>
            </a:r>
          </a:p>
          <a:p>
            <a:r>
              <a:rPr lang="en-US" altLang="en-US"/>
              <a:t>Materialized views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6" name="Rectangle 6">
            <a:extLst>
              <a:ext uri="{FF2B5EF4-FFF2-40B4-BE49-F238E27FC236}">
                <a16:creationId xmlns:a16="http://schemas.microsoft.com/office/drawing/2014/main" id="{3598BEF7-BBDB-45DA-88AB-4873FD9E5E3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Introduction</a:t>
            </a:r>
          </a:p>
        </p:txBody>
      </p:sp>
      <p:sp>
        <p:nvSpPr>
          <p:cNvPr id="9219" name="Rectangle 7">
            <a:extLst>
              <a:ext uri="{FF2B5EF4-FFF2-40B4-BE49-F238E27FC236}">
                <a16:creationId xmlns:a16="http://schemas.microsoft.com/office/drawing/2014/main" id="{07242271-6D11-4330-A09C-537A38CCCF32}"/>
              </a:ext>
            </a:extLst>
          </p:cNvPr>
          <p:cNvSpPr>
            <a:spLocks noGrp="1" noChangeArrowheads="1"/>
          </p:cNvSpPr>
          <p:nvPr>
            <p:ph idx="1"/>
          </p:nvPr>
        </p:nvSpPr>
        <p:spPr>
          <a:xfrm>
            <a:off x="1677202" y="826874"/>
            <a:ext cx="5311598" cy="779859"/>
          </a:xfrm>
        </p:spPr>
        <p:txBody>
          <a:bodyPr/>
          <a:lstStyle/>
          <a:p>
            <a:r>
              <a:rPr lang="en-US" altLang="en-US" dirty="0"/>
              <a:t>Alternative ways of evaluating a given query</a:t>
            </a:r>
          </a:p>
          <a:p>
            <a:pPr lvl="1"/>
            <a:r>
              <a:rPr lang="en-US" altLang="en-US" dirty="0"/>
              <a:t>Equivalent expressions</a:t>
            </a:r>
          </a:p>
          <a:p>
            <a:pPr lvl="1"/>
            <a:r>
              <a:rPr lang="en-US" altLang="en-US" dirty="0"/>
              <a:t>Different algorithms for each operation</a:t>
            </a:r>
          </a:p>
        </p:txBody>
      </p:sp>
      <p:pic>
        <p:nvPicPr>
          <p:cNvPr id="3" name="Graphic 2">
            <a:extLst>
              <a:ext uri="{FF2B5EF4-FFF2-40B4-BE49-F238E27FC236}">
                <a16:creationId xmlns:a16="http://schemas.microsoft.com/office/drawing/2014/main" id="{CE39E27B-873D-4551-A927-6DFB7A85D91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29609" y="1770733"/>
            <a:ext cx="5541464" cy="2622300"/>
          </a:xfrm>
          <a:prstGeom prst="rect">
            <a:avLst/>
          </a:prstGeom>
        </p:spPr>
      </p:pic>
      <p:sp>
        <p:nvSpPr>
          <p:cNvPr id="2" name="TextBox 1">
            <a:extLst>
              <a:ext uri="{FF2B5EF4-FFF2-40B4-BE49-F238E27FC236}">
                <a16:creationId xmlns:a16="http://schemas.microsoft.com/office/drawing/2014/main" id="{8828F813-A4A1-77B7-653A-01E95210D958}"/>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a:extLst>
              <a:ext uri="{FF2B5EF4-FFF2-40B4-BE49-F238E27FC236}">
                <a16:creationId xmlns:a16="http://schemas.microsoft.com/office/drawing/2014/main" id="{75832F87-A2B9-47F7-BB53-DF9BAE72414A}"/>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Introduction (Cont.)</a:t>
            </a:r>
          </a:p>
        </p:txBody>
      </p:sp>
      <p:sp>
        <p:nvSpPr>
          <p:cNvPr id="11267" name="Rectangle 3">
            <a:extLst>
              <a:ext uri="{FF2B5EF4-FFF2-40B4-BE49-F238E27FC236}">
                <a16:creationId xmlns:a16="http://schemas.microsoft.com/office/drawing/2014/main" id="{3B55794D-DFAA-4CF0-981A-C7BE83AF062F}"/>
              </a:ext>
            </a:extLst>
          </p:cNvPr>
          <p:cNvSpPr>
            <a:spLocks noGrp="1" noChangeArrowheads="1"/>
          </p:cNvSpPr>
          <p:nvPr>
            <p:ph idx="1"/>
          </p:nvPr>
        </p:nvSpPr>
        <p:spPr>
          <a:xfrm>
            <a:off x="1677200" y="819654"/>
            <a:ext cx="5862302" cy="3371043"/>
          </a:xfrm>
        </p:spPr>
        <p:txBody>
          <a:bodyPr/>
          <a:lstStyle/>
          <a:p>
            <a:r>
              <a:rPr lang="en-US" altLang="en-US"/>
              <a:t>An </a:t>
            </a:r>
            <a:r>
              <a:rPr lang="en-US" altLang="en-US" b="1">
                <a:solidFill>
                  <a:srgbClr val="002060"/>
                </a:solidFill>
              </a:rPr>
              <a:t>evaluation plan</a:t>
            </a:r>
            <a:r>
              <a:rPr lang="en-US" altLang="en-US">
                <a:solidFill>
                  <a:srgbClr val="002060"/>
                </a:solidFill>
              </a:rPr>
              <a:t> </a:t>
            </a:r>
            <a:r>
              <a:rPr lang="en-US" altLang="en-US"/>
              <a:t>defines exactly what algorithm is used for each operation, and how the execution of the operations is coordinated.</a:t>
            </a:r>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r>
              <a:rPr lang="en-US" altLang="en-US"/>
              <a:t>Find out how to view query execution plans on your favorite database</a:t>
            </a:r>
          </a:p>
          <a:p>
            <a:endParaRPr lang="en-US" altLang="en-US"/>
          </a:p>
          <a:p>
            <a:endParaRPr lang="en-US" altLang="en-US"/>
          </a:p>
        </p:txBody>
      </p:sp>
      <p:pic>
        <p:nvPicPr>
          <p:cNvPr id="3" name="Graphic 2">
            <a:extLst>
              <a:ext uri="{FF2B5EF4-FFF2-40B4-BE49-F238E27FC236}">
                <a16:creationId xmlns:a16="http://schemas.microsoft.com/office/drawing/2014/main" id="{38164316-923D-4EC2-A0F7-CE5F6F3F26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97034" y="1401057"/>
            <a:ext cx="4055274" cy="2545331"/>
          </a:xfrm>
          <a:prstGeom prst="rect">
            <a:avLst/>
          </a:prstGeom>
        </p:spPr>
      </p:pic>
      <p:sp>
        <p:nvSpPr>
          <p:cNvPr id="2" name="TextBox 1">
            <a:extLst>
              <a:ext uri="{FF2B5EF4-FFF2-40B4-BE49-F238E27FC236}">
                <a16:creationId xmlns:a16="http://schemas.microsoft.com/office/drawing/2014/main" id="{3D9B846F-138D-9820-8297-2D0CD5362382}"/>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a:extLst>
              <a:ext uri="{FF2B5EF4-FFF2-40B4-BE49-F238E27FC236}">
                <a16:creationId xmlns:a16="http://schemas.microsoft.com/office/drawing/2014/main" id="{286EDAB9-31F0-445E-9936-BCF7095F2E5A}"/>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Introduction (Cont.)</a:t>
            </a:r>
          </a:p>
        </p:txBody>
      </p:sp>
      <p:sp>
        <p:nvSpPr>
          <p:cNvPr id="13315" name="Rectangle 3">
            <a:extLst>
              <a:ext uri="{FF2B5EF4-FFF2-40B4-BE49-F238E27FC236}">
                <a16:creationId xmlns:a16="http://schemas.microsoft.com/office/drawing/2014/main" id="{82FD3551-130F-449A-9742-57CFBE167838}"/>
              </a:ext>
            </a:extLst>
          </p:cNvPr>
          <p:cNvSpPr>
            <a:spLocks noGrp="1" noChangeArrowheads="1"/>
          </p:cNvSpPr>
          <p:nvPr>
            <p:ph idx="1"/>
          </p:nvPr>
        </p:nvSpPr>
        <p:spPr>
          <a:xfrm>
            <a:off x="1677202" y="841310"/>
            <a:ext cx="5854566" cy="3165204"/>
          </a:xfrm>
        </p:spPr>
        <p:txBody>
          <a:bodyPr/>
          <a:lstStyle/>
          <a:p>
            <a:pPr marL="285750" indent="-285750">
              <a:lnSpc>
                <a:spcPct val="90000"/>
              </a:lnSpc>
            </a:pPr>
            <a:r>
              <a:rPr lang="en-US" altLang="en-US" dirty="0"/>
              <a:t>Cost difference between evaluation plans for a query can be enormous</a:t>
            </a:r>
          </a:p>
          <a:p>
            <a:pPr marL="600075" lvl="1" indent="-257175">
              <a:lnSpc>
                <a:spcPct val="90000"/>
              </a:lnSpc>
            </a:pPr>
            <a:r>
              <a:rPr lang="en-US" altLang="en-US" dirty="0"/>
              <a:t>E.g., seconds vs. days in some cases</a:t>
            </a:r>
          </a:p>
          <a:p>
            <a:pPr marL="285750" indent="-285750">
              <a:lnSpc>
                <a:spcPct val="90000"/>
              </a:lnSpc>
            </a:pPr>
            <a:r>
              <a:rPr lang="en-US" altLang="en-US" dirty="0"/>
              <a:t>Steps in </a:t>
            </a:r>
            <a:r>
              <a:rPr lang="en-US" altLang="en-US" b="1" dirty="0">
                <a:solidFill>
                  <a:srgbClr val="002060"/>
                </a:solidFill>
              </a:rPr>
              <a:t>cost-based query optimization</a:t>
            </a:r>
          </a:p>
          <a:p>
            <a:pPr marL="342900" lvl="1" indent="0">
              <a:lnSpc>
                <a:spcPct val="90000"/>
              </a:lnSpc>
              <a:buNone/>
            </a:pPr>
            <a:r>
              <a:rPr lang="en-US" altLang="en-US" dirty="0">
                <a:solidFill>
                  <a:srgbClr val="FF9900"/>
                </a:solidFill>
              </a:rPr>
              <a:t>1.</a:t>
            </a:r>
            <a:r>
              <a:rPr lang="en-US" altLang="en-US" dirty="0"/>
              <a:t>   Generate logically equivalent expressions using </a:t>
            </a:r>
            <a:r>
              <a:rPr lang="en-US" altLang="en-US" b="1" dirty="0">
                <a:solidFill>
                  <a:srgbClr val="002060"/>
                </a:solidFill>
              </a:rPr>
              <a:t>equivalence rules</a:t>
            </a:r>
            <a:endParaRPr lang="en-US" altLang="en-US" dirty="0">
              <a:solidFill>
                <a:srgbClr val="002060"/>
              </a:solidFill>
            </a:endParaRPr>
          </a:p>
          <a:p>
            <a:pPr marL="342900" lvl="1" indent="0">
              <a:lnSpc>
                <a:spcPct val="90000"/>
              </a:lnSpc>
              <a:buNone/>
            </a:pPr>
            <a:r>
              <a:rPr lang="en-US" altLang="en-US" dirty="0">
                <a:solidFill>
                  <a:srgbClr val="FF9900"/>
                </a:solidFill>
              </a:rPr>
              <a:t>2.   </a:t>
            </a:r>
            <a:r>
              <a:rPr lang="en-US" altLang="en-US" dirty="0"/>
              <a:t>Annotate resultant expressions to get alternative query plans</a:t>
            </a:r>
          </a:p>
          <a:p>
            <a:pPr marL="342900" lvl="1" indent="0">
              <a:lnSpc>
                <a:spcPct val="90000"/>
              </a:lnSpc>
              <a:buNone/>
            </a:pPr>
            <a:r>
              <a:rPr lang="en-US" altLang="en-US" dirty="0">
                <a:solidFill>
                  <a:srgbClr val="FF9900"/>
                </a:solidFill>
              </a:rPr>
              <a:t>3.   </a:t>
            </a:r>
            <a:r>
              <a:rPr lang="en-US" altLang="en-US" dirty="0"/>
              <a:t>Choose the cheapest plan based on </a:t>
            </a:r>
            <a:r>
              <a:rPr lang="en-US" altLang="en-US" b="1" dirty="0">
                <a:solidFill>
                  <a:srgbClr val="002060"/>
                </a:solidFill>
              </a:rPr>
              <a:t>estimated cost</a:t>
            </a:r>
            <a:endParaRPr lang="en-US" altLang="en-US" dirty="0">
              <a:solidFill>
                <a:srgbClr val="002060"/>
              </a:solidFill>
            </a:endParaRPr>
          </a:p>
          <a:p>
            <a:pPr marL="285750" indent="-285750">
              <a:lnSpc>
                <a:spcPct val="90000"/>
              </a:lnSpc>
            </a:pPr>
            <a:r>
              <a:rPr lang="en-US" altLang="en-US" dirty="0"/>
              <a:t>Estimation of plan cost based on:</a:t>
            </a:r>
          </a:p>
          <a:p>
            <a:pPr marL="600075" lvl="1" indent="-257175">
              <a:lnSpc>
                <a:spcPct val="90000"/>
              </a:lnSpc>
            </a:pPr>
            <a:r>
              <a:rPr lang="en-US" altLang="en-US" dirty="0"/>
              <a:t>Statistical information about relations. Examples:</a:t>
            </a:r>
          </a:p>
          <a:p>
            <a:pPr marL="900113" lvl="2" indent="-257175">
              <a:lnSpc>
                <a:spcPct val="90000"/>
              </a:lnSpc>
            </a:pPr>
            <a:r>
              <a:rPr lang="en-US" altLang="en-US" dirty="0"/>
              <a:t>number of tuples, number of distinct values for an attribute</a:t>
            </a:r>
          </a:p>
          <a:p>
            <a:pPr marL="600075" lvl="1" indent="-257175">
              <a:lnSpc>
                <a:spcPct val="90000"/>
              </a:lnSpc>
            </a:pPr>
            <a:r>
              <a:rPr lang="en-US" altLang="en-US" dirty="0"/>
              <a:t>Statistics estimation for intermediate results</a:t>
            </a:r>
          </a:p>
          <a:p>
            <a:pPr marL="900113" lvl="2" indent="-257175">
              <a:lnSpc>
                <a:spcPct val="90000"/>
              </a:lnSpc>
            </a:pPr>
            <a:r>
              <a:rPr lang="en-US" altLang="en-US" dirty="0"/>
              <a:t>to compute cost of complex expressions</a:t>
            </a:r>
          </a:p>
          <a:p>
            <a:pPr marL="600075" lvl="1" indent="-257175">
              <a:lnSpc>
                <a:spcPct val="90000"/>
              </a:lnSpc>
            </a:pPr>
            <a:r>
              <a:rPr lang="en-US" altLang="en-US" dirty="0"/>
              <a:t>Cost formulae for algorithms, computed using statistics</a:t>
            </a:r>
          </a:p>
        </p:txBody>
      </p:sp>
      <p:sp>
        <p:nvSpPr>
          <p:cNvPr id="2" name="TextBox 1">
            <a:extLst>
              <a:ext uri="{FF2B5EF4-FFF2-40B4-BE49-F238E27FC236}">
                <a16:creationId xmlns:a16="http://schemas.microsoft.com/office/drawing/2014/main" id="{5F64AF38-871C-929B-59D4-4A9D828D8939}"/>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7E00F-E685-47A5-84F9-E60D4C1A2F2D}"/>
              </a:ext>
            </a:extLst>
          </p:cNvPr>
          <p:cNvSpPr>
            <a:spLocks noGrp="1"/>
          </p:cNvSpPr>
          <p:nvPr>
            <p:ph type="title"/>
          </p:nvPr>
        </p:nvSpPr>
        <p:spPr/>
        <p:txBody>
          <a:bodyPr/>
          <a:lstStyle/>
          <a:p>
            <a:r>
              <a:rPr lang="en-IN"/>
              <a:t>Viewing Query Evaluation Plans</a:t>
            </a:r>
          </a:p>
        </p:txBody>
      </p:sp>
      <p:sp>
        <p:nvSpPr>
          <p:cNvPr id="3" name="Content Placeholder 2">
            <a:extLst>
              <a:ext uri="{FF2B5EF4-FFF2-40B4-BE49-F238E27FC236}">
                <a16:creationId xmlns:a16="http://schemas.microsoft.com/office/drawing/2014/main" id="{B6CC1549-6E63-4CF8-ADF8-9777B7E54157}"/>
              </a:ext>
            </a:extLst>
          </p:cNvPr>
          <p:cNvSpPr>
            <a:spLocks noGrp="1"/>
          </p:cNvSpPr>
          <p:nvPr>
            <p:ph idx="1"/>
          </p:nvPr>
        </p:nvSpPr>
        <p:spPr>
          <a:xfrm>
            <a:off x="1677202" y="819654"/>
            <a:ext cx="5782376" cy="3295146"/>
          </a:xfrm>
        </p:spPr>
        <p:txBody>
          <a:bodyPr/>
          <a:lstStyle/>
          <a:p>
            <a:r>
              <a:rPr lang="en-IN" dirty="0"/>
              <a:t>Most database support  </a:t>
            </a:r>
            <a:r>
              <a:rPr lang="en-IN" b="1" dirty="0">
                <a:solidFill>
                  <a:srgbClr val="002060"/>
                </a:solidFill>
              </a:rPr>
              <a:t>explain</a:t>
            </a:r>
            <a:r>
              <a:rPr lang="en-IN" dirty="0"/>
              <a:t> &lt;query&gt;</a:t>
            </a:r>
          </a:p>
          <a:p>
            <a:pPr lvl="1"/>
            <a:r>
              <a:rPr lang="en-IN" dirty="0"/>
              <a:t>Displays plan chosen by query optimizer, along with cost estimates</a:t>
            </a:r>
          </a:p>
          <a:p>
            <a:pPr lvl="1"/>
            <a:r>
              <a:rPr lang="en-IN" dirty="0"/>
              <a:t>Some syntax variations between databases</a:t>
            </a:r>
          </a:p>
          <a:p>
            <a:pPr lvl="2"/>
            <a:r>
              <a:rPr lang="en-IN" dirty="0"/>
              <a:t>Oracle:  </a:t>
            </a:r>
            <a:r>
              <a:rPr lang="en-IN" b="1" dirty="0">
                <a:solidFill>
                  <a:srgbClr val="002060"/>
                </a:solidFill>
              </a:rPr>
              <a:t>explain plan for </a:t>
            </a:r>
            <a:r>
              <a:rPr lang="en-IN" dirty="0">
                <a:solidFill>
                  <a:srgbClr val="002060"/>
                </a:solidFill>
              </a:rPr>
              <a:t>&lt;query&gt; </a:t>
            </a:r>
            <a:r>
              <a:rPr lang="en-IN" dirty="0"/>
              <a:t>followed by </a:t>
            </a:r>
            <a:r>
              <a:rPr lang="en-IN" b="1" dirty="0">
                <a:solidFill>
                  <a:srgbClr val="002060"/>
                </a:solidFill>
              </a:rPr>
              <a:t>select</a:t>
            </a:r>
            <a:r>
              <a:rPr lang="en-IN" dirty="0"/>
              <a:t> * </a:t>
            </a:r>
            <a:r>
              <a:rPr lang="en-IN" b="1" dirty="0">
                <a:solidFill>
                  <a:srgbClr val="002060"/>
                </a:solidFill>
              </a:rPr>
              <a:t>from</a:t>
            </a:r>
            <a:r>
              <a:rPr lang="en-IN" dirty="0"/>
              <a:t> table (</a:t>
            </a:r>
            <a:r>
              <a:rPr lang="en-IN" i="1" dirty="0" err="1"/>
              <a:t>dbms_xplan.display</a:t>
            </a:r>
            <a:r>
              <a:rPr lang="en-IN" dirty="0"/>
              <a:t>)</a:t>
            </a:r>
          </a:p>
          <a:p>
            <a:pPr lvl="2"/>
            <a:r>
              <a:rPr lang="en-IN" dirty="0"/>
              <a:t>SQL Server:  </a:t>
            </a:r>
            <a:r>
              <a:rPr lang="en-IN" b="1" dirty="0">
                <a:solidFill>
                  <a:srgbClr val="002060"/>
                </a:solidFill>
              </a:rPr>
              <a:t>set </a:t>
            </a:r>
            <a:r>
              <a:rPr lang="en-IN" b="1" dirty="0" err="1">
                <a:solidFill>
                  <a:srgbClr val="002060"/>
                </a:solidFill>
              </a:rPr>
              <a:t>showplan_text</a:t>
            </a:r>
            <a:r>
              <a:rPr lang="en-IN" b="1" dirty="0">
                <a:solidFill>
                  <a:srgbClr val="002060"/>
                </a:solidFill>
              </a:rPr>
              <a:t> on</a:t>
            </a:r>
          </a:p>
          <a:p>
            <a:pPr algn="just"/>
            <a:r>
              <a:rPr lang="en-IN" dirty="0"/>
              <a:t>Some databases (e.g. PostgreSQL) support  </a:t>
            </a:r>
            <a:r>
              <a:rPr lang="en-IN" b="1" dirty="0">
                <a:solidFill>
                  <a:srgbClr val="002060"/>
                </a:solidFill>
              </a:rPr>
              <a:t>explain analyse</a:t>
            </a:r>
            <a:r>
              <a:rPr lang="en-IN" dirty="0"/>
              <a:t> &lt;query&gt;</a:t>
            </a:r>
          </a:p>
          <a:p>
            <a:pPr lvl="1" algn="just"/>
            <a:r>
              <a:rPr lang="en-IN" dirty="0"/>
              <a:t>Shows actual runtime statistics found by running the query, in addition to showing the plan </a:t>
            </a:r>
          </a:p>
          <a:p>
            <a:r>
              <a:rPr lang="en-IN" dirty="0"/>
              <a:t>Some databases (e.g. PostgreSQL) show cost as   </a:t>
            </a:r>
            <a:r>
              <a:rPr lang="en-IN" i="1" dirty="0" err="1">
                <a:solidFill>
                  <a:srgbClr val="002060"/>
                </a:solidFill>
              </a:rPr>
              <a:t>f..l</a:t>
            </a:r>
            <a:r>
              <a:rPr lang="en-IN" i="1" dirty="0">
                <a:solidFill>
                  <a:srgbClr val="002060"/>
                </a:solidFill>
              </a:rPr>
              <a:t> </a:t>
            </a:r>
          </a:p>
          <a:p>
            <a:pPr lvl="1"/>
            <a:r>
              <a:rPr lang="en-IN" i="1" dirty="0"/>
              <a:t>f</a:t>
            </a:r>
            <a:r>
              <a:rPr lang="en-IN" dirty="0"/>
              <a:t> is the cost of delivering first tuple and </a:t>
            </a:r>
            <a:r>
              <a:rPr lang="en-IN" i="1" dirty="0"/>
              <a:t>l</a:t>
            </a:r>
            <a:r>
              <a:rPr lang="en-IN" dirty="0"/>
              <a:t> is cost of delivering all results </a:t>
            </a:r>
            <a:endParaRPr lang="en-IN" i="1" dirty="0"/>
          </a:p>
        </p:txBody>
      </p:sp>
      <p:sp>
        <p:nvSpPr>
          <p:cNvPr id="4" name="TextBox 3">
            <a:extLst>
              <a:ext uri="{FF2B5EF4-FFF2-40B4-BE49-F238E27FC236}">
                <a16:creationId xmlns:a16="http://schemas.microsoft.com/office/drawing/2014/main" id="{252BD723-A0CB-CB21-05FB-E6FDAA3686E9}"/>
              </a:ext>
            </a:extLst>
          </p:cNvPr>
          <p:cNvSpPr txBox="1"/>
          <p:nvPr/>
        </p:nvSpPr>
        <p:spPr>
          <a:xfrm>
            <a:off x="685800" y="4114800"/>
            <a:ext cx="4531305" cy="369332"/>
          </a:xfrm>
          <a:prstGeom prst="rect">
            <a:avLst/>
          </a:prstGeom>
          <a:noFill/>
        </p:spPr>
        <p:txBody>
          <a:bodyPr wrap="none" rtlCol="0">
            <a:spAutoFit/>
          </a:bodyPr>
          <a:lstStyle/>
          <a:p>
            <a:r>
              <a:rPr lang="en-US" dirty="0">
                <a:solidFill>
                  <a:srgbClr val="FF0000"/>
                </a:solidFill>
              </a:rPr>
              <a:t>DFF Note: Show EXPLAIN in </a:t>
            </a:r>
            <a:r>
              <a:rPr lang="en-US" dirty="0" err="1">
                <a:solidFill>
                  <a:srgbClr val="FF0000"/>
                </a:solidFill>
              </a:rPr>
              <a:t>MySQLWorkbench</a:t>
            </a:r>
            <a:endParaRPr lang="en-US" dirty="0">
              <a:solidFill>
                <a:srgbClr val="FF0000"/>
              </a:solidFill>
            </a:endParaRPr>
          </a:p>
        </p:txBody>
      </p:sp>
    </p:spTree>
    <p:extLst>
      <p:ext uri="{BB962C8B-B14F-4D97-AF65-F5344CB8AC3E}">
        <p14:creationId xmlns:p14="http://schemas.microsoft.com/office/powerpoint/2010/main" val="4148626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8" name="Rectangle 4">
            <a:extLst>
              <a:ext uri="{FF2B5EF4-FFF2-40B4-BE49-F238E27FC236}">
                <a16:creationId xmlns:a16="http://schemas.microsoft.com/office/drawing/2014/main" id="{F89EF755-8062-403B-9A96-0A5EAD53FAE1}"/>
              </a:ext>
            </a:extLst>
          </p:cNvPr>
          <p:cNvSpPr>
            <a:spLocks noGrp="1" noChangeArrowheads="1"/>
          </p:cNvSpPr>
          <p:nvPr>
            <p:ph type="ctrTitle"/>
          </p:nvPr>
        </p:nvSpPr>
        <p:spPr/>
        <p:txBody>
          <a:bodyPr/>
          <a:lstStyle/>
          <a:p>
            <a:pPr>
              <a:defRPr/>
            </a:pPr>
            <a:r>
              <a:rPr lang="en-US" altLang="en-US">
                <a:effectLst>
                  <a:outerShdw blurRad="38100" dist="38100" dir="2700000" algn="tl">
                    <a:srgbClr val="C0C0C0"/>
                  </a:outerShdw>
                </a:effectLst>
              </a:rPr>
              <a:t>Generating Equivalent Expressions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a:extLst>
              <a:ext uri="{FF2B5EF4-FFF2-40B4-BE49-F238E27FC236}">
                <a16:creationId xmlns:a16="http://schemas.microsoft.com/office/drawing/2014/main" id="{C3630E94-546B-44A3-9C2A-A6A0EA10DAB5}"/>
              </a:ext>
            </a:extLst>
          </p:cNvPr>
          <p:cNvSpPr>
            <a:spLocks noGrp="1" noChangeArrowheads="1"/>
          </p:cNvSpPr>
          <p:nvPr>
            <p:ph type="title"/>
          </p:nvPr>
        </p:nvSpPr>
        <p:spPr>
          <a:xfrm>
            <a:off x="1595165" y="62048"/>
            <a:ext cx="6057900" cy="457200"/>
          </a:xfrm>
        </p:spPr>
        <p:txBody>
          <a:bodyPr/>
          <a:lstStyle/>
          <a:p>
            <a:pPr>
              <a:defRPr/>
            </a:pPr>
            <a:r>
              <a:rPr lang="en-US" altLang="en-US">
                <a:effectLst>
                  <a:outerShdw blurRad="38100" dist="38100" dir="2700000" algn="tl">
                    <a:srgbClr val="C0C0C0"/>
                  </a:outerShdw>
                </a:effectLst>
              </a:rPr>
              <a:t>Transformation of Relational Expressions</a:t>
            </a:r>
          </a:p>
        </p:txBody>
      </p:sp>
      <p:sp>
        <p:nvSpPr>
          <p:cNvPr id="17411" name="Rectangle 3">
            <a:extLst>
              <a:ext uri="{FF2B5EF4-FFF2-40B4-BE49-F238E27FC236}">
                <a16:creationId xmlns:a16="http://schemas.microsoft.com/office/drawing/2014/main" id="{DE3790DE-27F5-44AA-ADB0-8D5296161F41}"/>
              </a:ext>
            </a:extLst>
          </p:cNvPr>
          <p:cNvSpPr>
            <a:spLocks noGrp="1" noChangeArrowheads="1"/>
          </p:cNvSpPr>
          <p:nvPr>
            <p:ph idx="1"/>
          </p:nvPr>
        </p:nvSpPr>
        <p:spPr>
          <a:xfrm>
            <a:off x="1662764" y="826873"/>
            <a:ext cx="5775158" cy="2955856"/>
          </a:xfrm>
        </p:spPr>
        <p:txBody>
          <a:bodyPr/>
          <a:lstStyle/>
          <a:p>
            <a:r>
              <a:rPr lang="en-US" altLang="en-US" dirty="0"/>
              <a:t>Two relational algebra expressions are said to be </a:t>
            </a:r>
            <a:r>
              <a:rPr lang="en-US" altLang="en-US" b="1" dirty="0">
                <a:solidFill>
                  <a:srgbClr val="002060"/>
                </a:solidFill>
              </a:rPr>
              <a:t>equivalent</a:t>
            </a:r>
            <a:r>
              <a:rPr lang="en-US" altLang="en-US" dirty="0"/>
              <a:t> if the two expressions generate the same set of tuples on every </a:t>
            </a:r>
            <a:r>
              <a:rPr lang="en-US" altLang="en-US" i="1" dirty="0"/>
              <a:t>legal</a:t>
            </a:r>
            <a:r>
              <a:rPr lang="en-US" altLang="en-US" dirty="0"/>
              <a:t> database instance</a:t>
            </a:r>
          </a:p>
          <a:p>
            <a:pPr lvl="1"/>
            <a:r>
              <a:rPr lang="en-US" altLang="en-US" dirty="0"/>
              <a:t>Note: order of tuples is irrelevant</a:t>
            </a:r>
          </a:p>
          <a:p>
            <a:pPr lvl="1"/>
            <a:r>
              <a:rPr lang="en-US" altLang="en-US" dirty="0"/>
              <a:t>we don’</a:t>
            </a:r>
            <a:r>
              <a:rPr lang="en-US" altLang="ja-JP" dirty="0"/>
              <a:t>t care if they generate different results on databases that violate integrity constraints</a:t>
            </a:r>
          </a:p>
          <a:p>
            <a:r>
              <a:rPr lang="en-US" altLang="en-US" dirty="0"/>
              <a:t>In SQL, inputs and outputs are multisets of tuples</a:t>
            </a:r>
          </a:p>
          <a:p>
            <a:pPr lvl="1"/>
            <a:r>
              <a:rPr lang="en-US" altLang="en-US" dirty="0"/>
              <a:t>Two expressions in the multiset version of the relational algebra are said to be equivalent if the two expressions generate the same multiset of tuples on every legal database instance. </a:t>
            </a:r>
          </a:p>
          <a:p>
            <a:r>
              <a:rPr lang="en-US" altLang="en-US" dirty="0"/>
              <a:t>An </a:t>
            </a:r>
            <a:r>
              <a:rPr lang="en-US" altLang="en-US" b="1" dirty="0">
                <a:solidFill>
                  <a:srgbClr val="002060"/>
                </a:solidFill>
              </a:rPr>
              <a:t>equivalence rule</a:t>
            </a:r>
            <a:r>
              <a:rPr lang="en-US" altLang="en-US" dirty="0">
                <a:solidFill>
                  <a:srgbClr val="002060"/>
                </a:solidFill>
              </a:rPr>
              <a:t> </a:t>
            </a:r>
            <a:r>
              <a:rPr lang="en-US" altLang="en-US" dirty="0"/>
              <a:t>says that expressions of two forms are equivalent</a:t>
            </a:r>
          </a:p>
          <a:p>
            <a:pPr lvl="1"/>
            <a:r>
              <a:rPr lang="en-US" altLang="en-US" dirty="0"/>
              <a:t>Can replace expression of first form by second, or vice versa</a:t>
            </a:r>
          </a:p>
        </p:txBody>
      </p:sp>
      <p:sp>
        <p:nvSpPr>
          <p:cNvPr id="2" name="TextBox 1">
            <a:extLst>
              <a:ext uri="{FF2B5EF4-FFF2-40B4-BE49-F238E27FC236}">
                <a16:creationId xmlns:a16="http://schemas.microsoft.com/office/drawing/2014/main" id="{B03566EB-6B9F-838F-608A-F0240F784D19}"/>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a:extLst>
              <a:ext uri="{FF2B5EF4-FFF2-40B4-BE49-F238E27FC236}">
                <a16:creationId xmlns:a16="http://schemas.microsoft.com/office/drawing/2014/main" id="{95081A04-D8E9-4687-B8DF-F240A7F2C555}"/>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a:t>
            </a:r>
          </a:p>
        </p:txBody>
      </p:sp>
      <p:sp>
        <p:nvSpPr>
          <p:cNvPr id="358403" name="Rectangle 3">
            <a:extLst>
              <a:ext uri="{FF2B5EF4-FFF2-40B4-BE49-F238E27FC236}">
                <a16:creationId xmlns:a16="http://schemas.microsoft.com/office/drawing/2014/main" id="{5F88891E-6FB7-4A93-A7DD-19CC40EB4AB2}"/>
              </a:ext>
            </a:extLst>
          </p:cNvPr>
          <p:cNvSpPr>
            <a:spLocks noGrp="1" noChangeArrowheads="1"/>
          </p:cNvSpPr>
          <p:nvPr>
            <p:ph idx="1"/>
          </p:nvPr>
        </p:nvSpPr>
        <p:spPr>
          <a:xfrm>
            <a:off x="1655546" y="826873"/>
            <a:ext cx="5832909" cy="2797039"/>
          </a:xfrm>
        </p:spPr>
        <p:txBody>
          <a:bodyPr/>
          <a:lstStyle/>
          <a:p>
            <a:pPr marL="285750" indent="-285750">
              <a:buNone/>
            </a:pPr>
            <a:r>
              <a:rPr lang="en-US" altLang="en-US" dirty="0"/>
              <a:t>1.	Conjunctive selection operations can be deconstructed into a sequence of individual selections.</a:t>
            </a:r>
            <a:br>
              <a:rPr lang="en-US" altLang="en-US" dirty="0"/>
            </a:br>
            <a:r>
              <a:rPr lang="en-US" altLang="en-US" dirty="0"/>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1 </a:t>
            </a:r>
            <a:r>
              <a:rPr lang="en-US" altLang="en-US" baseline="-25000" dirty="0">
                <a:sym typeface="Symbol" panose="05050102010706020507" pitchFamily="18" charset="2"/>
              </a:rPr>
              <a:t> </a:t>
            </a:r>
            <a:r>
              <a:rPr lang="en-US" altLang="en-US" i="1" baseline="-46000" dirty="0">
                <a:sym typeface="Greek Symbols" pitchFamily="18" charset="2"/>
              </a:rPr>
              <a:t>2 </a:t>
            </a:r>
            <a:r>
              <a:rPr lang="en-US" altLang="en-US" dirty="0"/>
              <a:t>(E) </a:t>
            </a:r>
            <a:r>
              <a:rPr lang="en-US" altLang="en-US" baseline="-25000" dirty="0"/>
              <a:t>    </a:t>
            </a:r>
            <a:r>
              <a:rPr lang="en-IN" dirty="0"/>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1</a:t>
            </a:r>
            <a:r>
              <a:rPr lang="en-US" altLang="en-US" baseline="-25000" dirty="0">
                <a:sym typeface="Symbol" panose="05050102010706020507" pitchFamily="18" charset="2"/>
              </a:rPr>
              <a:t> </a:t>
            </a:r>
            <a:r>
              <a:rPr lang="en-IN" dirty="0"/>
              <a:t>(</a:t>
            </a:r>
            <a:r>
              <a:rPr lang="el-GR" dirty="0"/>
              <a:t>σ</a:t>
            </a:r>
            <a:r>
              <a:rPr lang="en-US" altLang="en-US" baseline="-25000" dirty="0">
                <a:sym typeface="Symbol" panose="05050102010706020507" pitchFamily="18" charset="2"/>
              </a:rPr>
              <a:t></a:t>
            </a:r>
            <a:r>
              <a:rPr lang="en-US" altLang="en-US" i="1" baseline="-46000" dirty="0">
                <a:sym typeface="Greek Symbols" pitchFamily="18" charset="2"/>
              </a:rPr>
              <a:t>2 </a:t>
            </a:r>
            <a:r>
              <a:rPr lang="en-US" altLang="en-US" dirty="0"/>
              <a:t>(E))</a:t>
            </a:r>
            <a:r>
              <a:rPr lang="en-US" altLang="en-US" baseline="-25000" dirty="0"/>
              <a:t> </a:t>
            </a:r>
            <a:endParaRPr lang="en-US" altLang="en-US" dirty="0"/>
          </a:p>
          <a:p>
            <a:pPr marL="285750" indent="-285750">
              <a:buNone/>
            </a:pPr>
            <a:r>
              <a:rPr lang="en-US" altLang="en-US" dirty="0"/>
              <a:t>2.	Selection operations are commutative.</a:t>
            </a:r>
            <a:br>
              <a:rPr lang="en-US" altLang="en-US" dirty="0"/>
            </a:br>
            <a:r>
              <a:rPr lang="en-US" altLang="en-US" dirty="0"/>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1</a:t>
            </a:r>
            <a:r>
              <a:rPr lang="en-IN" dirty="0"/>
              <a:t>(</a:t>
            </a:r>
            <a:r>
              <a:rPr lang="el-GR" dirty="0"/>
              <a:t>σ</a:t>
            </a:r>
            <a:r>
              <a:rPr lang="en-US" altLang="en-US" baseline="-25000" dirty="0">
                <a:sym typeface="Symbol" panose="05050102010706020507" pitchFamily="18" charset="2"/>
              </a:rPr>
              <a:t></a:t>
            </a:r>
            <a:r>
              <a:rPr lang="en-US" altLang="en-US" i="1" baseline="-46000" dirty="0">
                <a:sym typeface="Greek Symbols" pitchFamily="18" charset="2"/>
              </a:rPr>
              <a:t>2</a:t>
            </a:r>
            <a:r>
              <a:rPr lang="en-US" altLang="en-US" dirty="0"/>
              <a:t>(E))</a:t>
            </a:r>
            <a:r>
              <a:rPr lang="en-US" altLang="en-US" baseline="-25000" dirty="0"/>
              <a:t>    </a:t>
            </a:r>
            <a:r>
              <a:rPr lang="en-IN" dirty="0"/>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baseline="-25000" dirty="0">
                <a:sym typeface="Symbol" panose="05050102010706020507" pitchFamily="18" charset="2"/>
              </a:rPr>
              <a:t> </a:t>
            </a:r>
            <a:r>
              <a:rPr lang="en-IN" dirty="0"/>
              <a:t>(</a:t>
            </a:r>
            <a:r>
              <a:rPr lang="el-GR" dirty="0"/>
              <a:t>σ</a:t>
            </a:r>
            <a:r>
              <a:rPr lang="en-US" altLang="en-US" baseline="-25000" dirty="0">
                <a:sym typeface="Symbol" panose="05050102010706020507" pitchFamily="18" charset="2"/>
              </a:rPr>
              <a:t></a:t>
            </a:r>
            <a:r>
              <a:rPr lang="en-US" altLang="en-US" i="1" baseline="-46000" dirty="0">
                <a:sym typeface="Greek Symbols" pitchFamily="18" charset="2"/>
              </a:rPr>
              <a:t>1</a:t>
            </a:r>
            <a:r>
              <a:rPr lang="en-US" altLang="en-US" dirty="0"/>
              <a:t>(E))</a:t>
            </a:r>
          </a:p>
          <a:p>
            <a:pPr marL="285750" indent="-285750">
              <a:buNone/>
            </a:pPr>
            <a:r>
              <a:rPr lang="en-US" altLang="en-US" dirty="0"/>
              <a:t>3.	Only the last in a sequence of projection operations is needed, the others can be omitted.</a:t>
            </a:r>
            <a:br>
              <a:rPr lang="en-US" altLang="en-US" dirty="0"/>
            </a:br>
            <a:r>
              <a:rPr lang="en-US" altLang="en-US" dirty="0"/>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dirty="0"/>
              <a:t>(</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2</a:t>
            </a:r>
            <a:r>
              <a:rPr lang="en-IN" dirty="0"/>
              <a:t>(…(</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n</a:t>
            </a:r>
            <a:r>
              <a:rPr lang="en-IN" dirty="0"/>
              <a:t>(E))…))     ≡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dirty="0"/>
              <a:t>(E)</a:t>
            </a:r>
            <a:br>
              <a:rPr lang="en-US" altLang="en-US" dirty="0"/>
            </a:br>
            <a:r>
              <a:rPr lang="en-US" altLang="en-US" dirty="0"/>
              <a:t>where </a:t>
            </a:r>
            <a:r>
              <a:rPr lang="en-US" altLang="en-US" i="1" dirty="0"/>
              <a:t>L</a:t>
            </a:r>
            <a:r>
              <a:rPr lang="en-US" altLang="en-US" i="1" baseline="-25000" dirty="0"/>
              <a:t>1</a:t>
            </a:r>
            <a:r>
              <a:rPr lang="en-US" altLang="en-US" dirty="0"/>
              <a:t> </a:t>
            </a:r>
            <a:r>
              <a:rPr lang="en-IN" dirty="0"/>
              <a:t>⊆</a:t>
            </a:r>
            <a:r>
              <a:rPr lang="en-US" altLang="en-US" dirty="0"/>
              <a:t> </a:t>
            </a:r>
            <a:r>
              <a:rPr lang="en-US" altLang="en-US" i="1" dirty="0"/>
              <a:t>L</a:t>
            </a:r>
            <a:r>
              <a:rPr lang="en-US" altLang="en-US" i="1" baseline="-25000" dirty="0"/>
              <a:t>2</a:t>
            </a:r>
            <a:r>
              <a:rPr lang="en-US" altLang="en-US" dirty="0"/>
              <a:t> … </a:t>
            </a:r>
            <a:r>
              <a:rPr lang="en-IN" dirty="0"/>
              <a:t>⊆</a:t>
            </a:r>
            <a:r>
              <a:rPr lang="en-US" altLang="en-US" dirty="0"/>
              <a:t> </a:t>
            </a:r>
            <a:r>
              <a:rPr lang="en-US" altLang="en-US" i="1" dirty="0"/>
              <a:t>L</a:t>
            </a:r>
            <a:r>
              <a:rPr lang="en-US" altLang="en-US" i="1" baseline="-25000" dirty="0"/>
              <a:t>n</a:t>
            </a:r>
          </a:p>
          <a:p>
            <a:pPr marL="0" indent="0">
              <a:buNone/>
            </a:pPr>
            <a:r>
              <a:rPr lang="en-US" altLang="en-US" dirty="0"/>
              <a:t>4.    Selections can be combined with Cartesian products and theta joins.</a:t>
            </a:r>
          </a:p>
          <a:p>
            <a:pPr marL="600075" lvl="1" indent="-257175">
              <a:buFont typeface="Monotype Sorts" pitchFamily="-65" charset="2"/>
              <a:buAutoNum type="alphaLcPeriod"/>
            </a:pPr>
            <a:r>
              <a:rPr lang="en-US" altLang="en-US" dirty="0">
                <a:sym typeface="Symbol" panose="05050102010706020507" pitchFamily="18" charset="2"/>
              </a:rPr>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 </a:t>
            </a:r>
            <a:r>
              <a:rPr lang="en-US" altLang="en-US" dirty="0"/>
              <a:t>(E</a:t>
            </a:r>
            <a:r>
              <a:rPr lang="en-US" altLang="en-US" baseline="-25000" dirty="0"/>
              <a:t>1</a:t>
            </a:r>
            <a:r>
              <a:rPr lang="en-US" altLang="en-US" dirty="0"/>
              <a:t> x E</a:t>
            </a:r>
            <a:r>
              <a:rPr lang="en-US" altLang="en-US" baseline="-25000" dirty="0"/>
              <a:t>2</a:t>
            </a:r>
            <a:r>
              <a:rPr lang="en-US" altLang="en-US" dirty="0"/>
              <a:t>)</a:t>
            </a:r>
            <a:r>
              <a:rPr lang="en-US" altLang="en-US" baseline="-25000" dirty="0"/>
              <a:t>     </a:t>
            </a:r>
            <a:r>
              <a:rPr lang="en-IN" dirty="0"/>
              <a:t>≡    </a:t>
            </a:r>
            <a:r>
              <a:rPr lang="en-US" altLang="en-US" dirty="0"/>
              <a:t>E</a:t>
            </a:r>
            <a:r>
              <a:rPr lang="en-US" altLang="en-US" baseline="-25000" dirty="0"/>
              <a:t>1</a:t>
            </a:r>
            <a:r>
              <a:rPr lang="en-US" altLang="en-US" dirty="0"/>
              <a:t> </a:t>
            </a:r>
            <a:r>
              <a:rPr lang="en-IN" altLang="en-US" dirty="0"/>
              <a:t>⨝</a:t>
            </a:r>
            <a:r>
              <a:rPr lang="en-US" altLang="en-US" i="1" dirty="0"/>
              <a:t> </a:t>
            </a:r>
            <a:r>
              <a:rPr lang="en-US" altLang="en-US" baseline="-25000" dirty="0">
                <a:sym typeface="Symbol" panose="05050102010706020507" pitchFamily="18" charset="2"/>
              </a:rPr>
              <a:t></a:t>
            </a:r>
            <a:r>
              <a:rPr lang="en-US" altLang="en-US" dirty="0"/>
              <a:t> E</a:t>
            </a:r>
            <a:r>
              <a:rPr lang="en-US" altLang="en-US" baseline="-25000" dirty="0"/>
              <a:t>2</a:t>
            </a:r>
            <a:endParaRPr lang="en-US" altLang="en-US" baseline="-25000" dirty="0">
              <a:sym typeface="Symbol" panose="05050102010706020507" pitchFamily="18" charset="2"/>
            </a:endParaRPr>
          </a:p>
          <a:p>
            <a:pPr marL="600075" lvl="1" indent="-257175">
              <a:buFont typeface="Monotype Sorts" pitchFamily="-65" charset="2"/>
              <a:buAutoNum type="alphaLcPeriod"/>
            </a:pPr>
            <a:r>
              <a:rPr lang="en-US" altLang="en-US" dirty="0">
                <a:sym typeface="Symbol" panose="05050102010706020507" pitchFamily="18" charset="2"/>
              </a:rPr>
              <a:t> </a:t>
            </a:r>
            <a:r>
              <a:rPr lang="el-GR" dirty="0"/>
              <a:t>σ</a:t>
            </a:r>
            <a:r>
              <a:rPr lang="en-US" altLang="en-US" baseline="-25000" dirty="0">
                <a:sym typeface="Symbol" panose="05050102010706020507" pitchFamily="18" charset="2"/>
              </a:rPr>
              <a:t> </a:t>
            </a:r>
            <a:r>
              <a:rPr lang="en-US" altLang="en-US" baseline="-46000" dirty="0">
                <a:sym typeface="Greek Symbols" pitchFamily="18" charset="2"/>
              </a:rPr>
              <a:t>1 </a:t>
            </a:r>
            <a:r>
              <a:rPr lang="en-US" altLang="en-US" dirty="0"/>
              <a:t>(E</a:t>
            </a:r>
            <a:r>
              <a:rPr lang="en-US" altLang="en-US" baseline="-25000" dirty="0"/>
              <a:t>1</a:t>
            </a:r>
            <a:r>
              <a:rPr lang="en-US" altLang="en-US" dirty="0"/>
              <a:t> </a:t>
            </a:r>
            <a:r>
              <a:rPr lang="en-IN" altLang="en-US" dirty="0"/>
              <a:t>⨝</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dirty="0"/>
              <a:t> E</a:t>
            </a:r>
            <a:r>
              <a:rPr lang="en-US" altLang="en-US" baseline="-25000" dirty="0"/>
              <a:t>2</a:t>
            </a:r>
            <a:r>
              <a:rPr lang="en-US" altLang="en-US" dirty="0"/>
              <a:t>)</a:t>
            </a:r>
            <a:r>
              <a:rPr lang="en-US" altLang="en-US" baseline="-25000" dirty="0"/>
              <a:t>     </a:t>
            </a:r>
            <a:r>
              <a:rPr lang="en-IN" dirty="0"/>
              <a:t>≡    </a:t>
            </a:r>
            <a:r>
              <a:rPr lang="en-US" altLang="en-US" dirty="0"/>
              <a:t>E</a:t>
            </a:r>
            <a:r>
              <a:rPr lang="en-US" altLang="en-US" baseline="-25000" dirty="0"/>
              <a:t>1</a:t>
            </a:r>
            <a:r>
              <a:rPr lang="en-US" altLang="en-US" dirty="0"/>
              <a:t> </a:t>
            </a:r>
            <a:r>
              <a:rPr lang="en-IN" altLang="en-US" dirty="0"/>
              <a:t>⨝</a:t>
            </a:r>
            <a:r>
              <a:rPr lang="en-US" altLang="en-US" i="1" dirty="0"/>
              <a:t> </a:t>
            </a:r>
            <a:r>
              <a:rPr lang="en-US" altLang="en-US" baseline="-25000" dirty="0">
                <a:sym typeface="Symbol" panose="05050102010706020507" pitchFamily="18" charset="2"/>
              </a:rPr>
              <a:t></a:t>
            </a:r>
            <a:r>
              <a:rPr lang="en-US" altLang="en-US" baseline="-46000" dirty="0">
                <a:sym typeface="Greek Symbols" pitchFamily="18" charset="2"/>
              </a:rPr>
              <a:t>1</a:t>
            </a:r>
            <a:r>
              <a:rPr lang="en-IN" baseline="-25000" dirty="0"/>
              <a:t>∧</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dirty="0"/>
              <a:t> E</a:t>
            </a:r>
            <a:r>
              <a:rPr lang="en-US" altLang="en-US" baseline="-25000" dirty="0"/>
              <a:t>2</a:t>
            </a:r>
            <a:endParaRPr lang="en-US" altLang="en-US" dirty="0">
              <a:sym typeface="Symbol" panose="05050102010706020507" pitchFamily="18" charset="2"/>
            </a:endParaRPr>
          </a:p>
        </p:txBody>
      </p:sp>
      <p:sp>
        <p:nvSpPr>
          <p:cNvPr id="2" name="TextBox 1">
            <a:extLst>
              <a:ext uri="{FF2B5EF4-FFF2-40B4-BE49-F238E27FC236}">
                <a16:creationId xmlns:a16="http://schemas.microsoft.com/office/drawing/2014/main" id="{21C0D929-0511-2894-E6C7-D472D5DFDFB8}"/>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584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0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840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840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840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84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8C3E16-179B-E2CF-58D7-E35B89467CDA}"/>
              </a:ext>
            </a:extLst>
          </p:cNvPr>
          <p:cNvSpPr>
            <a:spLocks noGrp="1"/>
          </p:cNvSpPr>
          <p:nvPr>
            <p:ph type="title"/>
          </p:nvPr>
        </p:nvSpPr>
        <p:spPr/>
        <p:txBody>
          <a:bodyPr/>
          <a:lstStyle/>
          <a:p>
            <a:r>
              <a:rPr lang="en-US" dirty="0"/>
              <a:t>Lahman Baseball Database</a:t>
            </a:r>
          </a:p>
        </p:txBody>
      </p:sp>
      <p:pic>
        <p:nvPicPr>
          <p:cNvPr id="6" name="Picture 5">
            <a:extLst>
              <a:ext uri="{FF2B5EF4-FFF2-40B4-BE49-F238E27FC236}">
                <a16:creationId xmlns:a16="http://schemas.microsoft.com/office/drawing/2014/main" id="{04E27CF4-3F12-922B-FF05-4671ACA507FD}"/>
              </a:ext>
            </a:extLst>
          </p:cNvPr>
          <p:cNvPicPr>
            <a:picLocks noChangeAspect="1"/>
          </p:cNvPicPr>
          <p:nvPr/>
        </p:nvPicPr>
        <p:blipFill>
          <a:blip r:embed="rId2"/>
          <a:stretch>
            <a:fillRect/>
          </a:stretch>
        </p:blipFill>
        <p:spPr>
          <a:xfrm>
            <a:off x="685800" y="458849"/>
            <a:ext cx="6636608" cy="4170301"/>
          </a:xfrm>
          <a:prstGeom prst="rect">
            <a:avLst/>
          </a:prstGeom>
        </p:spPr>
      </p:pic>
    </p:spTree>
    <p:extLst>
      <p:ext uri="{BB962C8B-B14F-4D97-AF65-F5344CB8AC3E}">
        <p14:creationId xmlns:p14="http://schemas.microsoft.com/office/powerpoint/2010/main" val="963713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EDD464-E2DF-7C22-2E75-B38DCFF6D36C}"/>
              </a:ext>
            </a:extLst>
          </p:cNvPr>
          <p:cNvSpPr>
            <a:spLocks noGrp="1"/>
          </p:cNvSpPr>
          <p:nvPr>
            <p:ph idx="1"/>
          </p:nvPr>
        </p:nvSpPr>
        <p:spPr/>
        <p:txBody>
          <a:bodyPr/>
          <a:lstStyle/>
          <a:p>
            <a:r>
              <a:rPr lang="el-GR" sz="1600" dirty="0"/>
              <a:t>σ</a:t>
            </a:r>
            <a:r>
              <a:rPr lang="en-US" altLang="en-US" sz="1600" baseline="-25000" dirty="0">
                <a:sym typeface="Symbol" panose="05050102010706020507" pitchFamily="18" charset="2"/>
              </a:rPr>
              <a:t></a:t>
            </a:r>
            <a:r>
              <a:rPr lang="en-US" altLang="en-US" sz="1600" baseline="-46000" dirty="0">
                <a:sym typeface="Greek Symbols" pitchFamily="18" charset="2"/>
              </a:rPr>
              <a:t>1 </a:t>
            </a:r>
            <a:r>
              <a:rPr lang="en-US" altLang="en-US" sz="1600" baseline="-25000" dirty="0">
                <a:sym typeface="Symbol" panose="05050102010706020507" pitchFamily="18" charset="2"/>
              </a:rPr>
              <a:t> </a:t>
            </a:r>
            <a:r>
              <a:rPr lang="en-US" altLang="en-US" sz="1600" i="1" baseline="-46000" dirty="0">
                <a:sym typeface="Greek Symbols" pitchFamily="18" charset="2"/>
              </a:rPr>
              <a:t>2 </a:t>
            </a:r>
            <a:r>
              <a:rPr lang="en-US" altLang="en-US" sz="1600" dirty="0"/>
              <a:t>(E) </a:t>
            </a:r>
            <a:r>
              <a:rPr lang="en-US" altLang="en-US" sz="1600" baseline="-25000" dirty="0"/>
              <a:t>    </a:t>
            </a:r>
            <a:r>
              <a:rPr lang="en-IN" sz="1600" dirty="0"/>
              <a:t>≡  </a:t>
            </a:r>
            <a:r>
              <a:rPr lang="el-GR" sz="1600" dirty="0"/>
              <a:t>σ</a:t>
            </a:r>
            <a:r>
              <a:rPr lang="en-US" altLang="en-US" sz="1600" baseline="-25000" dirty="0">
                <a:sym typeface="Symbol" panose="05050102010706020507" pitchFamily="18" charset="2"/>
              </a:rPr>
              <a:t></a:t>
            </a:r>
            <a:r>
              <a:rPr lang="en-US" altLang="en-US" sz="1600" baseline="-46000" dirty="0">
                <a:sym typeface="Greek Symbols" pitchFamily="18" charset="2"/>
              </a:rPr>
              <a:t>1</a:t>
            </a:r>
            <a:r>
              <a:rPr lang="en-US" altLang="en-US" sz="1600" baseline="-25000" dirty="0">
                <a:sym typeface="Symbol" panose="05050102010706020507" pitchFamily="18" charset="2"/>
              </a:rPr>
              <a:t> </a:t>
            </a:r>
            <a:r>
              <a:rPr lang="en-IN" sz="1600" dirty="0"/>
              <a:t>(</a:t>
            </a:r>
            <a:r>
              <a:rPr lang="el-GR" sz="1600" dirty="0"/>
              <a:t>σ</a:t>
            </a:r>
            <a:r>
              <a:rPr lang="en-US" altLang="en-US" sz="1600" baseline="-25000" dirty="0">
                <a:sym typeface="Symbol" panose="05050102010706020507" pitchFamily="18" charset="2"/>
              </a:rPr>
              <a:t></a:t>
            </a:r>
            <a:r>
              <a:rPr lang="en-US" altLang="en-US" sz="1600" i="1" baseline="-46000" dirty="0">
                <a:sym typeface="Greek Symbols" pitchFamily="18" charset="2"/>
              </a:rPr>
              <a:t>2 </a:t>
            </a:r>
            <a:r>
              <a:rPr lang="en-US" altLang="en-US" sz="1600" dirty="0"/>
              <a:t>(E)) – </a:t>
            </a:r>
          </a:p>
          <a:p>
            <a:pPr lvl="1"/>
            <a:r>
              <a:rPr lang="en-US" altLang="en-US" sz="1400" dirty="0"/>
              <a:t>What is going on here? </a:t>
            </a:r>
          </a:p>
          <a:p>
            <a:pPr lvl="1"/>
            <a:r>
              <a:rPr lang="en-US" altLang="en-US" sz="1400" dirty="0"/>
              <a:t>Why wouldn’t we just go through the table with one scan?</a:t>
            </a:r>
          </a:p>
          <a:p>
            <a:r>
              <a:rPr lang="en-US" sz="1600" dirty="0"/>
              <a:t>Consider Lahman’s Baseball Database</a:t>
            </a:r>
          </a:p>
          <a:p>
            <a:pPr lvl="1"/>
            <a:r>
              <a:rPr lang="en-US" sz="1400" dirty="0"/>
              <a:t>select * from people where throws="L" and </a:t>
            </a:r>
            <a:r>
              <a:rPr lang="en-US" sz="1400" dirty="0" err="1"/>
              <a:t>nameLast</a:t>
            </a:r>
            <a:r>
              <a:rPr lang="en-US" sz="1400" dirty="0"/>
              <a:t>="Williams";</a:t>
            </a:r>
          </a:p>
          <a:p>
            <a:pPr lvl="1"/>
            <a:r>
              <a:rPr lang="en-US" sz="1400" dirty="0"/>
              <a:t>people has about 20K rows </a:t>
            </a:r>
            <a:r>
              <a:rPr lang="en-US" sz="1400" dirty="0">
                <a:sym typeface="Wingdings" pitchFamily="2" charset="2"/>
              </a:rPr>
              <a:t> a simple scan cost is O(20K)</a:t>
            </a:r>
          </a:p>
          <a:p>
            <a:pPr lvl="1"/>
            <a:r>
              <a:rPr lang="en-US" sz="1400" dirty="0">
                <a:sym typeface="Wingdings" pitchFamily="2" charset="2"/>
              </a:rPr>
              <a:t>Assume there is an index on throws and an index on </a:t>
            </a:r>
            <a:r>
              <a:rPr lang="en-US" sz="1400" dirty="0" err="1">
                <a:sym typeface="Wingdings" pitchFamily="2" charset="2"/>
              </a:rPr>
              <a:t>nameLast</a:t>
            </a:r>
            <a:r>
              <a:rPr lang="en-US" sz="1400" dirty="0">
                <a:sym typeface="Wingdings" pitchFamily="2" charset="2"/>
              </a:rPr>
              <a:t>.</a:t>
            </a:r>
          </a:p>
          <a:p>
            <a:pPr lvl="1"/>
            <a:r>
              <a:rPr lang="en-US" sz="1400" dirty="0">
                <a:sym typeface="Wingdings" pitchFamily="2" charset="2"/>
              </a:rPr>
              <a:t>The engine could first use the index to get matching rows producing a smaller table,</a:t>
            </a:r>
            <a:br>
              <a:rPr lang="en-US" sz="1400" dirty="0">
                <a:sym typeface="Wingdings" pitchFamily="2" charset="2"/>
              </a:rPr>
            </a:br>
            <a:r>
              <a:rPr lang="en-US" sz="1400" dirty="0">
                <a:sym typeface="Wingdings" pitchFamily="2" charset="2"/>
              </a:rPr>
              <a:t>and then scan the smaller result set. But which index?</a:t>
            </a:r>
          </a:p>
          <a:p>
            <a:pPr lvl="1"/>
            <a:r>
              <a:rPr lang="en-US" sz="1400" i="1" dirty="0">
                <a:sym typeface="Wingdings" pitchFamily="2" charset="2"/>
              </a:rPr>
              <a:t>Most Selective Index</a:t>
            </a:r>
          </a:p>
          <a:p>
            <a:pPr lvl="2"/>
            <a:endParaRPr lang="en-US" sz="1200" i="1" dirty="0">
              <a:sym typeface="Wingdings" pitchFamily="2" charset="2"/>
            </a:endParaRPr>
          </a:p>
          <a:p>
            <a:pPr lvl="1"/>
            <a:endParaRPr lang="en-US" sz="1400" dirty="0"/>
          </a:p>
        </p:txBody>
      </p:sp>
      <p:sp>
        <p:nvSpPr>
          <p:cNvPr id="3" name="Title 2">
            <a:extLst>
              <a:ext uri="{FF2B5EF4-FFF2-40B4-BE49-F238E27FC236}">
                <a16:creationId xmlns:a16="http://schemas.microsoft.com/office/drawing/2014/main" id="{6DA0BA81-00DC-6840-4B01-9CDD8DE6A3A2}"/>
              </a:ext>
            </a:extLst>
          </p:cNvPr>
          <p:cNvSpPr>
            <a:spLocks noGrp="1"/>
          </p:cNvSpPr>
          <p:nvPr>
            <p:ph type="title"/>
          </p:nvPr>
        </p:nvSpPr>
        <p:spPr/>
        <p:txBody>
          <a:bodyPr/>
          <a:lstStyle/>
          <a:p>
            <a:r>
              <a:rPr lang="en-US" dirty="0"/>
              <a:t>Explanation</a:t>
            </a:r>
          </a:p>
        </p:txBody>
      </p:sp>
      <p:sp>
        <p:nvSpPr>
          <p:cNvPr id="7" name="TextBox 6">
            <a:extLst>
              <a:ext uri="{FF2B5EF4-FFF2-40B4-BE49-F238E27FC236}">
                <a16:creationId xmlns:a16="http://schemas.microsoft.com/office/drawing/2014/main" id="{66CF8809-8289-E273-12D1-BA7E8E06FA8B}"/>
              </a:ext>
            </a:extLst>
          </p:cNvPr>
          <p:cNvSpPr txBox="1"/>
          <p:nvPr/>
        </p:nvSpPr>
        <p:spPr>
          <a:xfrm>
            <a:off x="1447800" y="3205362"/>
            <a:ext cx="6335180" cy="1015663"/>
          </a:xfrm>
          <a:prstGeom prst="rect">
            <a:avLst/>
          </a:prstGeom>
          <a:noFill/>
        </p:spPr>
        <p:txBody>
          <a:bodyPr wrap="square">
            <a:spAutoFit/>
          </a:bodyPr>
          <a:lstStyle/>
          <a:p>
            <a:r>
              <a:rPr lang="en-US" sz="1200" dirty="0">
                <a:solidFill>
                  <a:srgbClr val="0033B3"/>
                </a:solidFill>
                <a:effectLst/>
              </a:rPr>
              <a:t>select </a:t>
            </a:r>
            <a:r>
              <a:rPr lang="en-US" sz="1200" i="1" dirty="0">
                <a:solidFill>
                  <a:srgbClr val="00627A"/>
                </a:solidFill>
                <a:effectLst/>
              </a:rPr>
              <a:t>count</a:t>
            </a:r>
            <a:r>
              <a:rPr lang="en-US" sz="1200" dirty="0">
                <a:solidFill>
                  <a:srgbClr val="080808"/>
                </a:solidFill>
                <a:effectLst/>
              </a:rPr>
              <a:t>(</a:t>
            </a:r>
            <a:r>
              <a:rPr lang="en-US" sz="1200" i="1" dirty="0">
                <a:solidFill>
                  <a:srgbClr val="080808"/>
                </a:solidFill>
                <a:effectLst/>
              </a:rPr>
              <a:t>*</a:t>
            </a:r>
            <a:r>
              <a:rPr lang="en-US" sz="1200" dirty="0">
                <a:solidFill>
                  <a:srgbClr val="080808"/>
                </a:solidFill>
                <a:effectLst/>
              </a:rPr>
              <a:t>) </a:t>
            </a:r>
            <a:r>
              <a:rPr lang="en-US" sz="1200" dirty="0">
                <a:solidFill>
                  <a:srgbClr val="0033B3"/>
                </a:solidFill>
                <a:effectLst/>
              </a:rPr>
              <a:t>as </a:t>
            </a:r>
            <a:r>
              <a:rPr lang="en-US" sz="1200" dirty="0" err="1">
                <a:solidFill>
                  <a:srgbClr val="000000"/>
                </a:solidFill>
                <a:effectLst/>
              </a:rPr>
              <a:t>no_of_rows</a:t>
            </a:r>
            <a:r>
              <a:rPr lang="en-US" sz="1200" dirty="0">
                <a:solidFill>
                  <a:srgbClr val="080808"/>
                </a:solidFill>
                <a:effectLst/>
              </a:rPr>
              <a:t>, </a:t>
            </a:r>
            <a:r>
              <a:rPr lang="en-US" sz="1200" i="1" dirty="0">
                <a:solidFill>
                  <a:srgbClr val="00627A"/>
                </a:solidFill>
                <a:effectLst/>
              </a:rPr>
              <a:t>count</a:t>
            </a:r>
            <a:r>
              <a:rPr lang="en-US" sz="1200" dirty="0">
                <a:solidFill>
                  <a:srgbClr val="080808"/>
                </a:solidFill>
                <a:effectLst/>
              </a:rPr>
              <a:t>(</a:t>
            </a:r>
            <a:r>
              <a:rPr lang="en-US" sz="1200" dirty="0">
                <a:solidFill>
                  <a:srgbClr val="0033B3"/>
                </a:solidFill>
                <a:effectLst/>
              </a:rPr>
              <a:t>distinct </a:t>
            </a:r>
            <a:r>
              <a:rPr lang="en-US" sz="1200" dirty="0" err="1">
                <a:solidFill>
                  <a:srgbClr val="871094"/>
                </a:solidFill>
                <a:effectLst/>
              </a:rPr>
              <a:t>nameLast</a:t>
            </a:r>
            <a:r>
              <a:rPr lang="en-US" sz="1200" dirty="0">
                <a:solidFill>
                  <a:srgbClr val="080808"/>
                </a:solidFill>
                <a:effectLst/>
              </a:rPr>
              <a:t>) </a:t>
            </a:r>
            <a:r>
              <a:rPr lang="en-US" sz="1200" dirty="0">
                <a:solidFill>
                  <a:srgbClr val="0033B3"/>
                </a:solidFill>
                <a:effectLst/>
              </a:rPr>
              <a:t>as </a:t>
            </a:r>
            <a:r>
              <a:rPr lang="en-US" sz="1200" dirty="0" err="1">
                <a:solidFill>
                  <a:srgbClr val="000000"/>
                </a:solidFill>
                <a:effectLst/>
              </a:rPr>
              <a:t>nameLastValue</a:t>
            </a:r>
            <a:r>
              <a:rPr lang="en-US" sz="1200" dirty="0">
                <a:solidFill>
                  <a:srgbClr val="080808"/>
                </a:solidFill>
                <a:effectLst/>
              </a:rPr>
              <a:t>,</a:t>
            </a:r>
            <a:br>
              <a:rPr lang="en-US" sz="1200" dirty="0">
                <a:solidFill>
                  <a:srgbClr val="080808"/>
                </a:solidFill>
                <a:effectLst/>
              </a:rPr>
            </a:br>
            <a:r>
              <a:rPr lang="en-US" sz="1200" dirty="0">
                <a:solidFill>
                  <a:srgbClr val="080808"/>
                </a:solidFill>
                <a:effectLst/>
              </a:rPr>
              <a:t>       </a:t>
            </a:r>
            <a:r>
              <a:rPr lang="en-US" sz="1200" i="1" dirty="0">
                <a:solidFill>
                  <a:srgbClr val="00627A"/>
                </a:solidFill>
                <a:effectLst/>
              </a:rPr>
              <a:t>count</a:t>
            </a:r>
            <a:r>
              <a:rPr lang="en-US" sz="1200" dirty="0">
                <a:solidFill>
                  <a:srgbClr val="080808"/>
                </a:solidFill>
                <a:effectLst/>
              </a:rPr>
              <a:t>(</a:t>
            </a:r>
            <a:r>
              <a:rPr lang="en-US" sz="1200" dirty="0">
                <a:solidFill>
                  <a:srgbClr val="0033B3"/>
                </a:solidFill>
                <a:effectLst/>
              </a:rPr>
              <a:t>distinct </a:t>
            </a:r>
            <a:r>
              <a:rPr lang="en-US" sz="1200" dirty="0">
                <a:solidFill>
                  <a:srgbClr val="871094"/>
                </a:solidFill>
                <a:effectLst/>
              </a:rPr>
              <a:t>throws</a:t>
            </a:r>
            <a:r>
              <a:rPr lang="en-US" sz="1200" dirty="0">
                <a:solidFill>
                  <a:srgbClr val="080808"/>
                </a:solidFill>
                <a:effectLst/>
              </a:rPr>
              <a:t>) </a:t>
            </a:r>
            <a:r>
              <a:rPr lang="en-US" sz="1200" dirty="0">
                <a:solidFill>
                  <a:srgbClr val="0033B3"/>
                </a:solidFill>
                <a:effectLst/>
              </a:rPr>
              <a:t>as </a:t>
            </a:r>
            <a:r>
              <a:rPr lang="en-US" sz="1200" dirty="0" err="1">
                <a:solidFill>
                  <a:srgbClr val="000000"/>
                </a:solidFill>
                <a:effectLst/>
              </a:rPr>
              <a:t>throwsValues</a:t>
            </a:r>
            <a:r>
              <a:rPr lang="en-US" sz="1200" dirty="0">
                <a:solidFill>
                  <a:srgbClr val="080808"/>
                </a:solidFill>
                <a:effectLst/>
              </a:rPr>
              <a:t>,</a:t>
            </a:r>
            <a:br>
              <a:rPr lang="en-US" sz="1200" dirty="0">
                <a:solidFill>
                  <a:srgbClr val="080808"/>
                </a:solidFill>
                <a:effectLst/>
              </a:rPr>
            </a:br>
            <a:r>
              <a:rPr lang="en-US" sz="1200" dirty="0">
                <a:solidFill>
                  <a:srgbClr val="080808"/>
                </a:solidFill>
                <a:effectLst/>
              </a:rPr>
              <a:t>       </a:t>
            </a:r>
            <a:r>
              <a:rPr lang="en-US" sz="1200" i="1" dirty="0">
                <a:solidFill>
                  <a:srgbClr val="00627A"/>
                </a:solidFill>
                <a:effectLst/>
              </a:rPr>
              <a:t>count</a:t>
            </a:r>
            <a:r>
              <a:rPr lang="en-US" sz="1200" dirty="0">
                <a:solidFill>
                  <a:srgbClr val="080808"/>
                </a:solidFill>
                <a:effectLst/>
              </a:rPr>
              <a:t>(</a:t>
            </a:r>
            <a:r>
              <a:rPr lang="en-US" sz="1200" i="1" dirty="0">
                <a:solidFill>
                  <a:srgbClr val="080808"/>
                </a:solidFill>
                <a:effectLst/>
              </a:rPr>
              <a:t>*</a:t>
            </a:r>
            <a:r>
              <a:rPr lang="en-US" sz="1200" dirty="0">
                <a:solidFill>
                  <a:srgbClr val="080808"/>
                </a:solidFill>
                <a:effectLst/>
              </a:rPr>
              <a:t>)/</a:t>
            </a:r>
            <a:r>
              <a:rPr lang="en-US" sz="1200" i="1" dirty="0">
                <a:solidFill>
                  <a:srgbClr val="00627A"/>
                </a:solidFill>
                <a:effectLst/>
              </a:rPr>
              <a:t>count</a:t>
            </a:r>
            <a:r>
              <a:rPr lang="en-US" sz="1200" dirty="0">
                <a:solidFill>
                  <a:srgbClr val="080808"/>
                </a:solidFill>
                <a:effectLst/>
              </a:rPr>
              <a:t>(</a:t>
            </a:r>
            <a:r>
              <a:rPr lang="en-US" sz="1200" dirty="0">
                <a:solidFill>
                  <a:srgbClr val="0033B3"/>
                </a:solidFill>
                <a:effectLst/>
              </a:rPr>
              <a:t>distinct </a:t>
            </a:r>
            <a:r>
              <a:rPr lang="en-US" sz="1200" dirty="0" err="1">
                <a:solidFill>
                  <a:srgbClr val="871094"/>
                </a:solidFill>
                <a:effectLst/>
              </a:rPr>
              <a:t>nameLast</a:t>
            </a:r>
            <a:r>
              <a:rPr lang="en-US" sz="1200" dirty="0">
                <a:solidFill>
                  <a:srgbClr val="080808"/>
                </a:solidFill>
                <a:effectLst/>
              </a:rPr>
              <a:t>) </a:t>
            </a:r>
            <a:r>
              <a:rPr lang="en-US" sz="1200" dirty="0">
                <a:solidFill>
                  <a:srgbClr val="0033B3"/>
                </a:solidFill>
                <a:effectLst/>
              </a:rPr>
              <a:t>as </a:t>
            </a:r>
            <a:r>
              <a:rPr lang="en-US" sz="1200" dirty="0" err="1">
                <a:solidFill>
                  <a:srgbClr val="000000"/>
                </a:solidFill>
                <a:effectLst/>
              </a:rPr>
              <a:t>nameLastSelectivity</a:t>
            </a:r>
            <a:r>
              <a:rPr lang="en-US" sz="1200" dirty="0">
                <a:solidFill>
                  <a:srgbClr val="080808"/>
                </a:solidFill>
                <a:effectLst/>
              </a:rPr>
              <a:t>,</a:t>
            </a:r>
            <a:br>
              <a:rPr lang="en-US" sz="1200" dirty="0">
                <a:solidFill>
                  <a:srgbClr val="080808"/>
                </a:solidFill>
                <a:effectLst/>
              </a:rPr>
            </a:br>
            <a:r>
              <a:rPr lang="en-US" sz="1200" dirty="0">
                <a:solidFill>
                  <a:srgbClr val="080808"/>
                </a:solidFill>
                <a:effectLst/>
              </a:rPr>
              <a:t>       </a:t>
            </a:r>
            <a:r>
              <a:rPr lang="en-US" sz="1200" i="1" dirty="0">
                <a:solidFill>
                  <a:srgbClr val="00627A"/>
                </a:solidFill>
                <a:effectLst/>
              </a:rPr>
              <a:t>count</a:t>
            </a:r>
            <a:r>
              <a:rPr lang="en-US" sz="1200" dirty="0">
                <a:solidFill>
                  <a:srgbClr val="080808"/>
                </a:solidFill>
                <a:effectLst/>
              </a:rPr>
              <a:t>(</a:t>
            </a:r>
            <a:r>
              <a:rPr lang="en-US" sz="1200" i="1" dirty="0">
                <a:solidFill>
                  <a:srgbClr val="080808"/>
                </a:solidFill>
                <a:effectLst/>
              </a:rPr>
              <a:t>*</a:t>
            </a:r>
            <a:r>
              <a:rPr lang="en-US" sz="1200" dirty="0">
                <a:solidFill>
                  <a:srgbClr val="080808"/>
                </a:solidFill>
                <a:effectLst/>
              </a:rPr>
              <a:t>)/</a:t>
            </a:r>
            <a:r>
              <a:rPr lang="en-US" sz="1200" i="1" dirty="0">
                <a:solidFill>
                  <a:srgbClr val="00627A"/>
                </a:solidFill>
                <a:effectLst/>
              </a:rPr>
              <a:t>count</a:t>
            </a:r>
            <a:r>
              <a:rPr lang="en-US" sz="1200" dirty="0">
                <a:solidFill>
                  <a:srgbClr val="080808"/>
                </a:solidFill>
                <a:effectLst/>
              </a:rPr>
              <a:t>(</a:t>
            </a:r>
            <a:r>
              <a:rPr lang="en-US" sz="1200" dirty="0">
                <a:solidFill>
                  <a:srgbClr val="0033B3"/>
                </a:solidFill>
                <a:effectLst/>
              </a:rPr>
              <a:t>distinct </a:t>
            </a:r>
            <a:r>
              <a:rPr lang="en-US" sz="1200" dirty="0">
                <a:solidFill>
                  <a:srgbClr val="871094"/>
                </a:solidFill>
                <a:effectLst/>
              </a:rPr>
              <a:t>throws</a:t>
            </a:r>
            <a:r>
              <a:rPr lang="en-US" sz="1200" dirty="0">
                <a:solidFill>
                  <a:srgbClr val="080808"/>
                </a:solidFill>
                <a:effectLst/>
              </a:rPr>
              <a:t>) </a:t>
            </a:r>
            <a:r>
              <a:rPr lang="en-US" sz="1200" dirty="0">
                <a:solidFill>
                  <a:srgbClr val="0033B3"/>
                </a:solidFill>
                <a:effectLst/>
              </a:rPr>
              <a:t>as </a:t>
            </a:r>
            <a:r>
              <a:rPr lang="en-US" sz="1200" dirty="0" err="1">
                <a:solidFill>
                  <a:srgbClr val="000000"/>
                </a:solidFill>
                <a:effectLst/>
              </a:rPr>
              <a:t>throwsSelectivity</a:t>
            </a:r>
            <a:br>
              <a:rPr lang="en-US" sz="1200" dirty="0">
                <a:solidFill>
                  <a:srgbClr val="000000"/>
                </a:solidFill>
                <a:effectLst/>
              </a:rPr>
            </a:br>
            <a:r>
              <a:rPr lang="en-US" sz="1200" dirty="0">
                <a:solidFill>
                  <a:srgbClr val="0033B3"/>
                </a:solidFill>
                <a:effectLst/>
              </a:rPr>
              <a:t>from </a:t>
            </a:r>
            <a:r>
              <a:rPr lang="en-US" sz="1200" dirty="0">
                <a:solidFill>
                  <a:srgbClr val="000000"/>
                </a:solidFill>
                <a:effectLst/>
              </a:rPr>
              <a:t>people</a:t>
            </a:r>
            <a:r>
              <a:rPr lang="en-US" sz="1200" dirty="0">
                <a:solidFill>
                  <a:srgbClr val="080808"/>
                </a:solidFill>
                <a:effectLst/>
              </a:rPr>
              <a:t>;</a:t>
            </a:r>
          </a:p>
        </p:txBody>
      </p:sp>
      <p:pic>
        <p:nvPicPr>
          <p:cNvPr id="8" name="Picture 7">
            <a:extLst>
              <a:ext uri="{FF2B5EF4-FFF2-40B4-BE49-F238E27FC236}">
                <a16:creationId xmlns:a16="http://schemas.microsoft.com/office/drawing/2014/main" id="{D129EF1A-35A4-46B0-2C94-21FC9363F4B0}"/>
              </a:ext>
            </a:extLst>
          </p:cNvPr>
          <p:cNvPicPr>
            <a:picLocks noChangeAspect="1"/>
          </p:cNvPicPr>
          <p:nvPr/>
        </p:nvPicPr>
        <p:blipFill>
          <a:blip r:embed="rId2"/>
          <a:stretch>
            <a:fillRect/>
          </a:stretch>
        </p:blipFill>
        <p:spPr>
          <a:xfrm>
            <a:off x="185485" y="4221025"/>
            <a:ext cx="7772400" cy="446751"/>
          </a:xfrm>
          <a:prstGeom prst="rect">
            <a:avLst/>
          </a:prstGeom>
        </p:spPr>
      </p:pic>
      <p:sp>
        <p:nvSpPr>
          <p:cNvPr id="4" name="TextBox 3">
            <a:extLst>
              <a:ext uri="{FF2B5EF4-FFF2-40B4-BE49-F238E27FC236}">
                <a16:creationId xmlns:a16="http://schemas.microsoft.com/office/drawing/2014/main" id="{BF756E11-D437-3C28-CE7E-C2B5A754D0B9}"/>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extLst>
      <p:ext uri="{BB962C8B-B14F-4D97-AF65-F5344CB8AC3E}">
        <p14:creationId xmlns:p14="http://schemas.microsoft.com/office/powerpoint/2010/main" val="1989680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a:extLst>
              <a:ext uri="{FF2B5EF4-FFF2-40B4-BE49-F238E27FC236}">
                <a16:creationId xmlns:a16="http://schemas.microsoft.com/office/drawing/2014/main" id="{8091ABB1-6B13-4524-B9B6-6B007212FB74}"/>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p>
        </p:txBody>
      </p:sp>
      <p:sp>
        <p:nvSpPr>
          <p:cNvPr id="359427" name="Rectangle 3">
            <a:extLst>
              <a:ext uri="{FF2B5EF4-FFF2-40B4-BE49-F238E27FC236}">
                <a16:creationId xmlns:a16="http://schemas.microsoft.com/office/drawing/2014/main" id="{96C4720A-18C3-455E-B064-C93B8601E27B}"/>
              </a:ext>
            </a:extLst>
          </p:cNvPr>
          <p:cNvSpPr>
            <a:spLocks noGrp="1" noChangeArrowheads="1"/>
          </p:cNvSpPr>
          <p:nvPr>
            <p:ph idx="1"/>
          </p:nvPr>
        </p:nvSpPr>
        <p:spPr>
          <a:xfrm>
            <a:off x="1662764" y="826873"/>
            <a:ext cx="5601904" cy="4025979"/>
          </a:xfrm>
        </p:spPr>
        <p:txBody>
          <a:bodyPr/>
          <a:lstStyle/>
          <a:p>
            <a:pPr marL="0" indent="0">
              <a:buNone/>
              <a:tabLst>
                <a:tab pos="2532460" algn="ctr"/>
              </a:tabLst>
            </a:pPr>
            <a:r>
              <a:rPr lang="en-US" altLang="en-US" dirty="0"/>
              <a:t>5.  Theta-join operations (and natural joins) are commutative.</a:t>
            </a:r>
            <a:br>
              <a:rPr lang="en-US" altLang="en-US" dirty="0"/>
            </a:br>
            <a:br>
              <a:rPr lang="en-US" altLang="en-US" dirty="0"/>
            </a:br>
            <a:r>
              <a:rPr lang="en-US" altLang="en-US" dirty="0"/>
              <a:t>	          </a:t>
            </a:r>
            <a:r>
              <a:rPr lang="en-US" altLang="en-US" i="1" dirty="0"/>
              <a:t>E</a:t>
            </a:r>
            <a:r>
              <a:rPr lang="en-US" altLang="en-US" baseline="-25000" dirty="0"/>
              <a:t>1</a:t>
            </a:r>
            <a:r>
              <a:rPr lang="en-IN" altLang="en-US" dirty="0"/>
              <a:t> ⨝</a:t>
            </a:r>
            <a:r>
              <a:rPr lang="en-US" altLang="en-US" i="1" dirty="0"/>
              <a:t> </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t>    </a:t>
            </a:r>
            <a:r>
              <a:rPr lang="en-IN" dirty="0"/>
              <a:t>≡    </a:t>
            </a:r>
            <a:r>
              <a:rPr lang="en-US" altLang="en-US" i="1" dirty="0"/>
              <a:t>E</a:t>
            </a:r>
            <a:r>
              <a:rPr lang="en-US" altLang="en-US" baseline="-25000" dirty="0"/>
              <a:t>2</a:t>
            </a:r>
            <a:r>
              <a:rPr lang="en-IN" altLang="en-US" dirty="0"/>
              <a:t> ⨝</a:t>
            </a:r>
            <a:r>
              <a:rPr lang="en-US" altLang="en-US" dirty="0"/>
              <a:t> </a:t>
            </a:r>
            <a:r>
              <a:rPr lang="en-US" altLang="en-US" i="1" dirty="0"/>
              <a:t>E</a:t>
            </a:r>
            <a:r>
              <a:rPr lang="en-US" altLang="en-US" baseline="-25000" dirty="0"/>
              <a:t>1</a:t>
            </a:r>
            <a:br>
              <a:rPr lang="en-US" altLang="en-US" dirty="0"/>
            </a:br>
            <a:endParaRPr lang="en-US" altLang="en-US" baseline="-25000" dirty="0">
              <a:sym typeface="Greek Symbols" pitchFamily="18" charset="2"/>
            </a:endParaRPr>
          </a:p>
          <a:p>
            <a:pPr>
              <a:buNone/>
              <a:tabLst>
                <a:tab pos="2532460" algn="ctr"/>
              </a:tabLst>
            </a:pPr>
            <a:r>
              <a:rPr lang="en-US" altLang="en-US" dirty="0">
                <a:sym typeface="Greek Symbols" pitchFamily="18" charset="2"/>
              </a:rPr>
              <a:t>6.	(a) Natural join operations are associative:</a:t>
            </a:r>
          </a:p>
          <a:p>
            <a:pPr>
              <a:buNone/>
              <a:tabLst>
                <a:tab pos="2532460" algn="ctr"/>
              </a:tabLst>
            </a:pPr>
            <a:r>
              <a:rPr lang="en-US" altLang="en-US" dirty="0">
                <a:sym typeface="Greek Symbols" pitchFamily="18" charset="2"/>
              </a:rPr>
              <a:t>	                </a:t>
            </a:r>
            <a:r>
              <a:rPr lang="en-US" altLang="en-US" dirty="0"/>
              <a:t> </a:t>
            </a:r>
            <a:r>
              <a:rPr lang="en-US" altLang="en-US" dirty="0">
                <a:sym typeface="Greek Symbols" pitchFamily="18" charset="2"/>
              </a:rPr>
              <a:t>(</a:t>
            </a:r>
            <a:r>
              <a:rPr lang="en-US" altLang="en-US" i="1" dirty="0"/>
              <a:t>E</a:t>
            </a:r>
            <a:r>
              <a:rPr lang="en-US" altLang="en-US" baseline="-25000" dirty="0"/>
              <a:t>1</a:t>
            </a:r>
            <a:r>
              <a:rPr lang="en-IN" altLang="en-US" dirty="0"/>
              <a:t> ⨝</a:t>
            </a:r>
            <a:r>
              <a:rPr lang="en-US" altLang="en-US" i="1" dirty="0"/>
              <a:t> </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t>) </a:t>
            </a:r>
            <a:r>
              <a:rPr lang="en-IN" altLang="en-US" dirty="0"/>
              <a:t>⨝</a:t>
            </a:r>
            <a:r>
              <a:rPr lang="en-US" altLang="en-US" baseline="-25000" dirty="0">
                <a:sym typeface="Symbol" panose="05050102010706020507" pitchFamily="18" charset="2"/>
              </a:rPr>
              <a:t> </a:t>
            </a:r>
            <a:r>
              <a:rPr lang="en-US" altLang="en-US" baseline="-46000" dirty="0">
                <a:sym typeface="Greek Symbols" pitchFamily="18" charset="2"/>
              </a:rPr>
              <a:t> </a:t>
            </a:r>
            <a:r>
              <a:rPr lang="en-US" altLang="en-US" i="1" dirty="0"/>
              <a:t>E</a:t>
            </a:r>
            <a:r>
              <a:rPr lang="en-US" altLang="en-US" i="1" baseline="-25000" dirty="0"/>
              <a:t>3</a:t>
            </a:r>
            <a:r>
              <a:rPr lang="en-US" altLang="en-US" i="1" dirty="0"/>
              <a:t>     </a:t>
            </a:r>
            <a:r>
              <a:rPr lang="en-IN" dirty="0"/>
              <a:t>≡     </a:t>
            </a:r>
            <a:r>
              <a:rPr lang="en-US" altLang="en-US" i="1" dirty="0"/>
              <a:t>E</a:t>
            </a:r>
            <a:r>
              <a:rPr lang="en-US" altLang="en-US" baseline="-25000" dirty="0"/>
              <a:t>1</a:t>
            </a:r>
            <a:r>
              <a:rPr lang="en-IN" altLang="en-US" dirty="0"/>
              <a:t> ⨝</a:t>
            </a:r>
            <a:r>
              <a:rPr lang="en-US" altLang="en-US" dirty="0"/>
              <a:t> (</a:t>
            </a:r>
            <a:r>
              <a:rPr lang="en-US" altLang="en-US" i="1" dirty="0"/>
              <a:t>E</a:t>
            </a:r>
            <a:r>
              <a:rPr lang="en-US" altLang="en-US" baseline="-25000" dirty="0"/>
              <a:t>2</a:t>
            </a:r>
            <a:r>
              <a:rPr lang="en-IN" altLang="en-US" dirty="0"/>
              <a:t> ⨝</a:t>
            </a:r>
            <a:r>
              <a:rPr lang="en-US" altLang="en-US" i="1" dirty="0"/>
              <a:t> E</a:t>
            </a:r>
            <a:r>
              <a:rPr lang="en-US" altLang="en-US" baseline="-25000" dirty="0"/>
              <a:t>3</a:t>
            </a:r>
            <a:r>
              <a:rPr lang="en-US" altLang="en-US" dirty="0"/>
              <a:t>)</a:t>
            </a:r>
            <a:br>
              <a:rPr lang="en-US" altLang="en-US" dirty="0"/>
            </a:br>
            <a:br>
              <a:rPr lang="en-US" altLang="en-US" dirty="0"/>
            </a:br>
            <a:r>
              <a:rPr lang="en-US" altLang="en-US" dirty="0"/>
              <a:t>(b) Theta joins are associative in the following manner:</a:t>
            </a:r>
            <a:br>
              <a:rPr lang="en-US" altLang="en-US" dirty="0"/>
            </a:br>
            <a:br>
              <a:rPr lang="en-US" altLang="en-US" dirty="0"/>
            </a:br>
            <a:r>
              <a:rPr lang="en-US" altLang="en-US" dirty="0"/>
              <a:t>	       </a:t>
            </a:r>
            <a:r>
              <a:rPr lang="en-US" altLang="en-US" dirty="0">
                <a:sym typeface="Greek Symbols" pitchFamily="18" charset="2"/>
              </a:rPr>
              <a:t>(</a:t>
            </a:r>
            <a:r>
              <a:rPr lang="en-US" altLang="en-US" i="1" dirty="0"/>
              <a:t>E</a:t>
            </a:r>
            <a:r>
              <a:rPr lang="en-US" altLang="en-US" baseline="-25000" dirty="0"/>
              <a:t>1</a:t>
            </a:r>
            <a:r>
              <a:rPr lang="en-IN" altLang="en-US" dirty="0"/>
              <a:t> ⨝</a:t>
            </a:r>
            <a:r>
              <a:rPr lang="en-US" altLang="en-US" i="1" dirty="0"/>
              <a:t> </a:t>
            </a:r>
            <a:r>
              <a:rPr lang="en-US" altLang="en-US" baseline="-25000" dirty="0">
                <a:sym typeface="Symbol" panose="05050102010706020507" pitchFamily="18" charset="2"/>
              </a:rPr>
              <a:t></a:t>
            </a:r>
            <a:r>
              <a:rPr lang="en-US" altLang="en-US" baseline="-46000" dirty="0">
                <a:sym typeface="Greek Symbols" pitchFamily="18" charset="2"/>
              </a:rPr>
              <a:t>1</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t>) </a:t>
            </a:r>
            <a:r>
              <a:rPr lang="en-IN" altLang="en-US" dirty="0"/>
              <a:t>⨝</a:t>
            </a:r>
            <a:r>
              <a:rPr lang="en-US" altLang="en-US" baseline="-25000" dirty="0">
                <a:sym typeface="Symbol" panose="05050102010706020507" pitchFamily="18" charset="2"/>
              </a:rPr>
              <a:t> </a:t>
            </a:r>
            <a:r>
              <a:rPr lang="en-US" altLang="en-US" baseline="-46000" dirty="0">
                <a:sym typeface="Greek Symbols" pitchFamily="18" charset="2"/>
              </a:rPr>
              <a:t>2 </a:t>
            </a:r>
            <a:r>
              <a:rPr lang="en-US" altLang="en-US" baseline="-25000" dirty="0">
                <a:sym typeface="Symbol" panose="05050102010706020507" pitchFamily="18" charset="2"/>
              </a:rPr>
              <a:t> </a:t>
            </a:r>
            <a:r>
              <a:rPr lang="en-US" altLang="en-US" baseline="-46000" dirty="0">
                <a:sym typeface="Greek Symbols" pitchFamily="18" charset="2"/>
              </a:rPr>
              <a:t>3 </a:t>
            </a:r>
            <a:r>
              <a:rPr lang="en-US" altLang="en-US" i="1" dirty="0"/>
              <a:t>E</a:t>
            </a:r>
            <a:r>
              <a:rPr lang="en-US" altLang="en-US" i="1" baseline="-25000" dirty="0"/>
              <a:t>3</a:t>
            </a:r>
            <a:r>
              <a:rPr lang="en-US" altLang="en-US" i="1" dirty="0"/>
              <a:t>    </a:t>
            </a:r>
            <a:r>
              <a:rPr lang="en-IN" dirty="0"/>
              <a:t>≡    </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baseline="-46000" dirty="0">
                <a:sym typeface="Greek Symbols" pitchFamily="18" charset="2"/>
              </a:rPr>
              <a:t>1 </a:t>
            </a:r>
            <a:r>
              <a:rPr lang="en-US" altLang="en-US" baseline="-25000" dirty="0">
                <a:sym typeface="Symbol" panose="05050102010706020507" pitchFamily="18" charset="2"/>
              </a:rPr>
              <a:t> </a:t>
            </a:r>
            <a:r>
              <a:rPr lang="en-US" altLang="en-US" baseline="-46000" dirty="0">
                <a:sym typeface="Greek Symbols" pitchFamily="18" charset="2"/>
              </a:rPr>
              <a:t>3</a:t>
            </a:r>
            <a:r>
              <a:rPr lang="en-US" altLang="en-US" dirty="0"/>
              <a:t> (</a:t>
            </a:r>
            <a:r>
              <a:rPr lang="en-US" altLang="en-US" i="1" dirty="0"/>
              <a:t>E</a:t>
            </a:r>
            <a:r>
              <a:rPr lang="en-US" altLang="en-US" baseline="-25000" dirty="0"/>
              <a:t>2</a:t>
            </a:r>
            <a:r>
              <a:rPr lang="en-IN" altLang="en-US" dirty="0"/>
              <a:t> ⨝</a:t>
            </a:r>
            <a:r>
              <a:rPr lang="en-US" altLang="en-US" baseline="-25000" dirty="0">
                <a:sym typeface="Symbol" panose="05050102010706020507" pitchFamily="18" charset="2"/>
              </a:rPr>
              <a:t> </a:t>
            </a:r>
            <a:r>
              <a:rPr lang="en-US" altLang="en-US" baseline="-46000" dirty="0">
                <a:sym typeface="Greek Symbols" pitchFamily="18" charset="2"/>
              </a:rPr>
              <a:t>2</a:t>
            </a:r>
            <a:r>
              <a:rPr lang="en-US" altLang="en-US" i="1" dirty="0"/>
              <a:t> E</a:t>
            </a:r>
            <a:r>
              <a:rPr lang="en-US" altLang="en-US" baseline="-25000" dirty="0"/>
              <a:t>3</a:t>
            </a:r>
            <a:r>
              <a:rPr lang="en-US" altLang="en-US" dirty="0"/>
              <a:t>)</a:t>
            </a:r>
            <a:br>
              <a:rPr lang="en-US" altLang="en-US" dirty="0"/>
            </a:br>
            <a:r>
              <a:rPr lang="en-US" altLang="en-US" dirty="0"/>
              <a:t>     </a:t>
            </a:r>
            <a:br>
              <a:rPr lang="en-US" altLang="en-US" dirty="0"/>
            </a:br>
            <a:r>
              <a:rPr lang="en-US" altLang="en-US" dirty="0"/>
              <a:t>     where </a:t>
            </a:r>
            <a:r>
              <a:rPr lang="en-US" altLang="en-US" dirty="0">
                <a:sym typeface="Symbol" panose="05050102010706020507" pitchFamily="18" charset="2"/>
              </a:rPr>
              <a:t></a:t>
            </a:r>
            <a:r>
              <a:rPr lang="en-US" altLang="en-US" i="1" baseline="-25000" dirty="0">
                <a:sym typeface="Greek Symbols" pitchFamily="18" charset="2"/>
              </a:rPr>
              <a:t>2</a:t>
            </a:r>
            <a:r>
              <a:rPr lang="en-US" altLang="en-US" i="1" dirty="0">
                <a:sym typeface="Greek Symbols" pitchFamily="18" charset="2"/>
              </a:rPr>
              <a:t> </a:t>
            </a:r>
            <a:r>
              <a:rPr lang="en-US" altLang="en-US" dirty="0">
                <a:sym typeface="Greek Symbols" pitchFamily="18" charset="2"/>
              </a:rPr>
              <a:t>involves attributes from only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and </a:t>
            </a:r>
            <a:r>
              <a:rPr lang="en-US" altLang="en-US" i="1" dirty="0">
                <a:sym typeface="Greek Symbols" pitchFamily="18" charset="2"/>
              </a:rPr>
              <a:t>E</a:t>
            </a:r>
            <a:r>
              <a:rPr lang="en-US" altLang="en-US" i="1" baseline="-25000" dirty="0">
                <a:sym typeface="Greek Symbols" pitchFamily="18" charset="2"/>
              </a:rPr>
              <a:t>3</a:t>
            </a:r>
            <a:r>
              <a:rPr lang="en-US" altLang="en-US" i="1" dirty="0">
                <a:sym typeface="Greek Symbols" pitchFamily="18" charset="2"/>
              </a:rPr>
              <a:t>.</a:t>
            </a:r>
          </a:p>
        </p:txBody>
      </p:sp>
      <p:sp>
        <p:nvSpPr>
          <p:cNvPr id="4" name="Object 3">
            <a:extLst>
              <a:ext uri="{FF2B5EF4-FFF2-40B4-BE49-F238E27FC236}">
                <a16:creationId xmlns:a16="http://schemas.microsoft.com/office/drawing/2014/main" id="{84B99422-6334-4E45-9086-F1F2684CA3D1}"/>
              </a:ext>
            </a:extLst>
          </p:cNvPr>
          <p:cNvSpPr txBox="1"/>
          <p:nvPr/>
        </p:nvSpPr>
        <p:spPr bwMode="auto">
          <a:xfrm>
            <a:off x="2378709" y="3891490"/>
            <a:ext cx="2094310" cy="342900"/>
          </a:xfrm>
          <a:prstGeom prst="rect">
            <a:avLst/>
          </a:prstGeom>
          <a:noFill/>
          <a:ln>
            <a:noFill/>
          </a:ln>
          <a:effectLst/>
        </p:spPr>
        <p:txBody>
          <a:bodyPr>
            <a:normAutofit/>
          </a:bodyPr>
          <a:lstStyle/>
          <a:p>
            <a:pPr defTabSz="685800" eaLnBrk="0" hangingPunct="0"/>
            <a:endParaRPr lang="en-IN" sz="1350">
              <a:solidFill>
                <a:srgbClr val="000000"/>
              </a:solidFill>
              <a:latin typeface="Helvetica" panose="020B0604020202020204" pitchFamily="34" charset="0"/>
              <a:ea typeface="MS PGothic" panose="020B0600070205080204" pitchFamily="34" charset="-128"/>
            </a:endParaRPr>
          </a:p>
        </p:txBody>
      </p:sp>
      <p:sp>
        <p:nvSpPr>
          <p:cNvPr id="2" name="TextBox 1">
            <a:extLst>
              <a:ext uri="{FF2B5EF4-FFF2-40B4-BE49-F238E27FC236}">
                <a16:creationId xmlns:a16="http://schemas.microsoft.com/office/drawing/2014/main" id="{A9188E2C-2522-57C6-5DFB-A0C8E185FBB6}"/>
              </a:ext>
            </a:extLst>
          </p:cNvPr>
          <p:cNvSpPr txBox="1"/>
          <p:nvPr/>
        </p:nvSpPr>
        <p:spPr>
          <a:xfrm>
            <a:off x="6798195" y="3597095"/>
            <a:ext cx="2221955" cy="646331"/>
          </a:xfrm>
          <a:prstGeom prst="rect">
            <a:avLst/>
          </a:prstGeom>
          <a:noFill/>
        </p:spPr>
        <p:txBody>
          <a:bodyPr wrap="none" rtlCol="0">
            <a:spAutoFit/>
          </a:bodyPr>
          <a:lstStyle/>
          <a:p>
            <a:r>
              <a:rPr lang="en-US" sz="1200" dirty="0">
                <a:solidFill>
                  <a:srgbClr val="FF0000"/>
                </a:solidFill>
              </a:rPr>
              <a:t>This one only makes sense when</a:t>
            </a:r>
            <a:br>
              <a:rPr lang="en-US" sz="1200" dirty="0">
                <a:solidFill>
                  <a:srgbClr val="FF0000"/>
                </a:solidFill>
              </a:rPr>
            </a:br>
            <a:r>
              <a:rPr lang="en-US" sz="1200" dirty="0">
                <a:solidFill>
                  <a:srgbClr val="FF0000"/>
                </a:solidFill>
              </a:rPr>
              <a:t>you understand another rule</a:t>
            </a:r>
            <a:br>
              <a:rPr lang="en-US" sz="1200" dirty="0">
                <a:solidFill>
                  <a:srgbClr val="FF0000"/>
                </a:solidFill>
              </a:rPr>
            </a:br>
            <a:r>
              <a:rPr lang="en-US" sz="1200" dirty="0">
                <a:solidFill>
                  <a:srgbClr val="FF0000"/>
                </a:solidFill>
              </a:rPr>
              <a:t>covered in a couple of slides.</a:t>
            </a:r>
          </a:p>
        </p:txBody>
      </p:sp>
      <p:cxnSp>
        <p:nvCxnSpPr>
          <p:cNvPr id="5" name="Straight Arrow Connector 4">
            <a:extLst>
              <a:ext uri="{FF2B5EF4-FFF2-40B4-BE49-F238E27FC236}">
                <a16:creationId xmlns:a16="http://schemas.microsoft.com/office/drawing/2014/main" id="{35401FFD-8342-0ABB-8C13-AC62CAD7CD9C}"/>
              </a:ext>
            </a:extLst>
          </p:cNvPr>
          <p:cNvCxnSpPr/>
          <p:nvPr/>
        </p:nvCxnSpPr>
        <p:spPr bwMode="auto">
          <a:xfrm flipH="1" flipV="1">
            <a:off x="6324600" y="2952750"/>
            <a:ext cx="990600" cy="685800"/>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6" name="Right Brace 5">
            <a:extLst>
              <a:ext uri="{FF2B5EF4-FFF2-40B4-BE49-F238E27FC236}">
                <a16:creationId xmlns:a16="http://schemas.microsoft.com/office/drawing/2014/main" id="{A6C8E9C6-5FDA-CDC9-1F48-F430F6A3388F}"/>
              </a:ext>
            </a:extLst>
          </p:cNvPr>
          <p:cNvSpPr/>
          <p:nvPr/>
        </p:nvSpPr>
        <p:spPr bwMode="auto">
          <a:xfrm>
            <a:off x="6324600" y="971550"/>
            <a:ext cx="304800" cy="1143000"/>
          </a:xfrm>
          <a:prstGeom prst="rightBrace">
            <a:avLst/>
          </a:prstGeom>
          <a:solidFill>
            <a:schemeClr val="accent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rgbClr val="FF0000"/>
              </a:solidFill>
              <a:effectLst/>
              <a:latin typeface="Helvetica" charset="0"/>
            </a:endParaRPr>
          </a:p>
        </p:txBody>
      </p:sp>
      <p:sp>
        <p:nvSpPr>
          <p:cNvPr id="7" name="TextBox 6">
            <a:extLst>
              <a:ext uri="{FF2B5EF4-FFF2-40B4-BE49-F238E27FC236}">
                <a16:creationId xmlns:a16="http://schemas.microsoft.com/office/drawing/2014/main" id="{A99B6033-A310-CCE1-459B-FC3A77C736CB}"/>
              </a:ext>
            </a:extLst>
          </p:cNvPr>
          <p:cNvSpPr txBox="1"/>
          <p:nvPr/>
        </p:nvSpPr>
        <p:spPr>
          <a:xfrm>
            <a:off x="6705600" y="1219884"/>
            <a:ext cx="2122376" cy="830997"/>
          </a:xfrm>
          <a:prstGeom prst="rect">
            <a:avLst/>
          </a:prstGeom>
          <a:noFill/>
        </p:spPr>
        <p:txBody>
          <a:bodyPr wrap="none" rtlCol="0">
            <a:spAutoFit/>
          </a:bodyPr>
          <a:lstStyle/>
          <a:p>
            <a:r>
              <a:rPr lang="en-US" sz="1200" dirty="0">
                <a:solidFill>
                  <a:srgbClr val="FF0000"/>
                </a:solidFill>
              </a:rPr>
              <a:t>These make sense when you</a:t>
            </a:r>
            <a:br>
              <a:rPr lang="en-US" sz="1200" dirty="0">
                <a:solidFill>
                  <a:srgbClr val="FF0000"/>
                </a:solidFill>
              </a:rPr>
            </a:br>
            <a:r>
              <a:rPr lang="en-US" sz="1200" dirty="0">
                <a:solidFill>
                  <a:srgbClr val="FF0000"/>
                </a:solidFill>
              </a:rPr>
              <a:t>realize having the smaller table</a:t>
            </a:r>
            <a:br>
              <a:rPr lang="en-US" sz="1200" dirty="0">
                <a:solidFill>
                  <a:srgbClr val="FF0000"/>
                </a:solidFill>
              </a:rPr>
            </a:br>
            <a:r>
              <a:rPr lang="en-US" sz="1200" dirty="0">
                <a:solidFill>
                  <a:srgbClr val="FF0000"/>
                </a:solidFill>
              </a:rPr>
              <a:t>on the right can improve</a:t>
            </a:r>
            <a:br>
              <a:rPr lang="en-US" sz="1200" dirty="0">
                <a:solidFill>
                  <a:srgbClr val="FF0000"/>
                </a:solidFill>
              </a:rPr>
            </a:br>
            <a:r>
              <a:rPr lang="en-US" sz="1200" dirty="0">
                <a:solidFill>
                  <a:srgbClr val="FF0000"/>
                </a:solidFill>
              </a:rPr>
              <a:t>performance.</a:t>
            </a:r>
          </a:p>
        </p:txBody>
      </p:sp>
      <p:sp>
        <p:nvSpPr>
          <p:cNvPr id="3" name="TextBox 2">
            <a:extLst>
              <a:ext uri="{FF2B5EF4-FFF2-40B4-BE49-F238E27FC236}">
                <a16:creationId xmlns:a16="http://schemas.microsoft.com/office/drawing/2014/main" id="{67C68492-BA81-5AAF-7740-8DC13FD7BD04}"/>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594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94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7"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B0263D-4501-99E3-AF12-28706EFBD7C3}"/>
              </a:ext>
            </a:extLst>
          </p:cNvPr>
          <p:cNvSpPr>
            <a:spLocks noGrp="1"/>
          </p:cNvSpPr>
          <p:nvPr>
            <p:ph idx="1"/>
          </p:nvPr>
        </p:nvSpPr>
        <p:spPr/>
        <p:txBody>
          <a:bodyPr/>
          <a:lstStyle/>
          <a:p>
            <a:r>
              <a:rPr lang="en-US" altLang="en-US" sz="1800" i="1" dirty="0"/>
              <a:t>E</a:t>
            </a:r>
            <a:r>
              <a:rPr lang="en-US" altLang="en-US" sz="1800" baseline="-25000" dirty="0"/>
              <a:t>1</a:t>
            </a:r>
            <a:r>
              <a:rPr lang="en-IN" altLang="en-US" sz="1800" dirty="0"/>
              <a:t> ⨝</a:t>
            </a:r>
            <a:r>
              <a:rPr lang="en-US" altLang="en-US" sz="1800" i="1" dirty="0"/>
              <a:t> </a:t>
            </a:r>
            <a:r>
              <a:rPr lang="en-US" altLang="en-US" sz="1800" baseline="-25000" dirty="0">
                <a:sym typeface="Symbol" panose="05050102010706020507" pitchFamily="18" charset="2"/>
              </a:rPr>
              <a:t> </a:t>
            </a:r>
            <a:r>
              <a:rPr lang="en-US" altLang="en-US" sz="1800" i="1" dirty="0"/>
              <a:t>E</a:t>
            </a:r>
            <a:r>
              <a:rPr lang="en-US" altLang="en-US" sz="1800" i="1" baseline="-25000" dirty="0"/>
              <a:t>2</a:t>
            </a:r>
            <a:r>
              <a:rPr lang="en-US" altLang="en-US" sz="1800" dirty="0"/>
              <a:t>    </a:t>
            </a:r>
            <a:r>
              <a:rPr lang="en-IN" sz="1800" dirty="0"/>
              <a:t>≡    </a:t>
            </a:r>
            <a:r>
              <a:rPr lang="en-US" altLang="en-US" sz="1800" i="1" dirty="0"/>
              <a:t>E</a:t>
            </a:r>
            <a:r>
              <a:rPr lang="en-US" altLang="en-US" sz="1800" baseline="-25000" dirty="0"/>
              <a:t>2</a:t>
            </a:r>
            <a:r>
              <a:rPr lang="en-IN" altLang="en-US" sz="1800" dirty="0"/>
              <a:t> ⨝</a:t>
            </a:r>
            <a:r>
              <a:rPr lang="en-US" altLang="en-US" sz="1800" dirty="0"/>
              <a:t> </a:t>
            </a:r>
            <a:r>
              <a:rPr lang="en-US" altLang="en-US" sz="1800" i="1" dirty="0"/>
              <a:t>E</a:t>
            </a:r>
            <a:r>
              <a:rPr lang="en-US" altLang="en-US" sz="1800" baseline="-25000" dirty="0"/>
              <a:t>1</a:t>
            </a:r>
          </a:p>
          <a:p>
            <a:r>
              <a:rPr lang="en-US" altLang="en-US" sz="1800" dirty="0"/>
              <a:t>Assume there are no indexes </a:t>
            </a:r>
            <a:r>
              <a:rPr lang="en-US" altLang="en-US" sz="1800" dirty="0">
                <a:sym typeface="Wingdings" pitchFamily="2" charset="2"/>
              </a:rPr>
              <a:t> Nested loop join </a:t>
            </a:r>
          </a:p>
          <a:p>
            <a:pPr lvl="1"/>
            <a:r>
              <a:rPr lang="en-US" altLang="en-US" sz="1600" dirty="0">
                <a:sym typeface="Wingdings" pitchFamily="2" charset="2"/>
              </a:rPr>
              <a:t>The engine scans the left table one time.</a:t>
            </a:r>
          </a:p>
          <a:p>
            <a:pPr lvl="1"/>
            <a:r>
              <a:rPr lang="en-US" altLang="en-US" sz="1600" dirty="0">
                <a:sym typeface="Wingdings" pitchFamily="2" charset="2"/>
              </a:rPr>
              <a:t>The engine scans the right table once for each row in the left table.</a:t>
            </a:r>
          </a:p>
          <a:p>
            <a:pPr lvl="1"/>
            <a:r>
              <a:rPr lang="en-US" altLang="en-US" sz="1600" dirty="0">
                <a:sym typeface="Wingdings" pitchFamily="2" charset="2"/>
              </a:rPr>
              <a:t>If one of the tables is (much) smaller than the other, the engine prefers scanning</a:t>
            </a:r>
            <a:br>
              <a:rPr lang="en-US" altLang="en-US" sz="1600" dirty="0">
                <a:sym typeface="Wingdings" pitchFamily="2" charset="2"/>
              </a:rPr>
            </a:br>
            <a:r>
              <a:rPr lang="en-US" altLang="en-US" sz="1600" dirty="0">
                <a:sym typeface="Wingdings" pitchFamily="2" charset="2"/>
              </a:rPr>
              <a:t>the smaller table multiple times because it is more efficient WRT to buffer pool usage.</a:t>
            </a:r>
            <a:endParaRPr lang="en-US" altLang="en-US" sz="1600" dirty="0"/>
          </a:p>
        </p:txBody>
      </p:sp>
      <p:sp>
        <p:nvSpPr>
          <p:cNvPr id="3" name="Title 2">
            <a:extLst>
              <a:ext uri="{FF2B5EF4-FFF2-40B4-BE49-F238E27FC236}">
                <a16:creationId xmlns:a16="http://schemas.microsoft.com/office/drawing/2014/main" id="{FC4D82A5-F11C-0ECA-AFED-B7520234F931}"/>
              </a:ext>
            </a:extLst>
          </p:cNvPr>
          <p:cNvSpPr>
            <a:spLocks noGrp="1"/>
          </p:cNvSpPr>
          <p:nvPr>
            <p:ph type="title"/>
          </p:nvPr>
        </p:nvSpPr>
        <p:spPr/>
        <p:txBody>
          <a:bodyPr/>
          <a:lstStyle/>
          <a:p>
            <a:r>
              <a:rPr lang="en-US" dirty="0"/>
              <a:t>Explanation</a:t>
            </a:r>
          </a:p>
        </p:txBody>
      </p:sp>
      <p:pic>
        <p:nvPicPr>
          <p:cNvPr id="6" name="Picture 5">
            <a:extLst>
              <a:ext uri="{FF2B5EF4-FFF2-40B4-BE49-F238E27FC236}">
                <a16:creationId xmlns:a16="http://schemas.microsoft.com/office/drawing/2014/main" id="{715E7BC1-5411-221F-B310-F738461FAC5D}"/>
              </a:ext>
            </a:extLst>
          </p:cNvPr>
          <p:cNvPicPr>
            <a:picLocks noChangeAspect="1"/>
          </p:cNvPicPr>
          <p:nvPr/>
        </p:nvPicPr>
        <p:blipFill>
          <a:blip r:embed="rId2"/>
          <a:stretch>
            <a:fillRect/>
          </a:stretch>
        </p:blipFill>
        <p:spPr>
          <a:xfrm>
            <a:off x="152400" y="2421180"/>
            <a:ext cx="4354182" cy="2126927"/>
          </a:xfrm>
          <a:prstGeom prst="rect">
            <a:avLst/>
          </a:prstGeom>
        </p:spPr>
      </p:pic>
      <p:sp>
        <p:nvSpPr>
          <p:cNvPr id="5" name="Content Placeholder 1">
            <a:extLst>
              <a:ext uri="{FF2B5EF4-FFF2-40B4-BE49-F238E27FC236}">
                <a16:creationId xmlns:a16="http://schemas.microsoft.com/office/drawing/2014/main" id="{BEAE31E1-2662-7918-EFB9-B94117092E4C}"/>
              </a:ext>
            </a:extLst>
          </p:cNvPr>
          <p:cNvSpPr txBox="1">
            <a:spLocks/>
          </p:cNvSpPr>
          <p:nvPr/>
        </p:nvSpPr>
        <p:spPr>
          <a:xfrm>
            <a:off x="3810000" y="3257550"/>
            <a:ext cx="4572000" cy="1489774"/>
          </a:xfrm>
          <a:prstGeom prst="rect">
            <a:avLst/>
          </a:prstGeom>
        </p:spPr>
        <p:txBody>
          <a:bodyPr/>
          <a:lstStyle>
            <a:lvl1pPr marL="342900" indent="-3429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1pPr>
            <a:lvl2pPr marL="742950" indent="-285750" algn="l" defTabSz="457200" rtl="0" fontAlgn="base">
              <a:spcBef>
                <a:spcPct val="20000"/>
              </a:spcBef>
              <a:spcAft>
                <a:spcPct val="0"/>
              </a:spcAft>
              <a:buFont typeface="Arial" charset="0"/>
              <a:buChar char="–"/>
              <a:defRPr sz="1800" kern="1200">
                <a:solidFill>
                  <a:schemeClr val="tx1"/>
                </a:solidFill>
                <a:latin typeface="+mn-lt"/>
                <a:ea typeface="ＭＳ Ｐゴシック" charset="-128"/>
                <a:cs typeface="+mn-cs"/>
              </a:defRPr>
            </a:lvl2pPr>
            <a:lvl3pPr marL="1143000" indent="-228600" algn="l" defTabSz="457200" rtl="0" fontAlgn="base">
              <a:spcBef>
                <a:spcPct val="20000"/>
              </a:spcBef>
              <a:spcAft>
                <a:spcPct val="0"/>
              </a:spcAft>
              <a:buFont typeface="Arial" charset="0"/>
              <a:buChar char="•"/>
              <a:defRPr sz="1600" kern="1200">
                <a:solidFill>
                  <a:schemeClr val="tx1"/>
                </a:solidFill>
                <a:latin typeface="+mn-lt"/>
                <a:ea typeface="ＭＳ Ｐゴシック" charset="-128"/>
                <a:cs typeface="+mn-cs"/>
              </a:defRPr>
            </a:lvl3pPr>
            <a:lvl4pPr marL="1600200" indent="-228600" algn="l" defTabSz="457200" rtl="0" fontAlgn="base">
              <a:spcBef>
                <a:spcPct val="20000"/>
              </a:spcBef>
              <a:spcAft>
                <a:spcPct val="0"/>
              </a:spcAft>
              <a:buFont typeface="Arial" charset="0"/>
              <a:buChar char="–"/>
              <a:defRPr sz="1400" kern="1200">
                <a:solidFill>
                  <a:schemeClr val="tx1"/>
                </a:solidFill>
                <a:latin typeface="+mn-lt"/>
                <a:ea typeface="ＭＳ Ｐゴシック" charset="-128"/>
                <a:cs typeface="+mn-cs"/>
              </a:defRPr>
            </a:lvl4pPr>
            <a:lvl5pPr marL="2057400" indent="-228600" algn="l" defTabSz="457200" rtl="0" fontAlgn="base">
              <a:spcBef>
                <a:spcPct val="20000"/>
              </a:spcBef>
              <a:spcAft>
                <a:spcPct val="0"/>
              </a:spcAft>
              <a:buFont typeface="Arial" charset="0"/>
              <a:buChar char="»"/>
              <a:defRPr sz="14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en-US" sz="1200" dirty="0"/>
              <a:t>Extreme example</a:t>
            </a:r>
          </a:p>
          <a:p>
            <a:pPr lvl="1"/>
            <a:r>
              <a:rPr lang="en-US" altLang="en-US" sz="1000" dirty="0"/>
              <a:t>E</a:t>
            </a:r>
            <a:r>
              <a:rPr lang="en-US" altLang="en-US" sz="1000" baseline="-25000" dirty="0"/>
              <a:t>1</a:t>
            </a:r>
            <a:r>
              <a:rPr lang="en-IN" altLang="en-US" sz="1000" dirty="0"/>
              <a:t> ⨝</a:t>
            </a:r>
            <a:r>
              <a:rPr lang="en-US" altLang="en-US" sz="1000" dirty="0"/>
              <a:t> </a:t>
            </a:r>
            <a:r>
              <a:rPr lang="en-US" altLang="en-US" sz="1000" baseline="-25000" dirty="0">
                <a:sym typeface="Symbol" panose="05050102010706020507" pitchFamily="18" charset="2"/>
              </a:rPr>
              <a:t> </a:t>
            </a:r>
            <a:r>
              <a:rPr lang="en-US" altLang="en-US" sz="1000" dirty="0"/>
              <a:t>E</a:t>
            </a:r>
            <a:r>
              <a:rPr lang="en-US" altLang="en-US" sz="1000" baseline="-25000" dirty="0"/>
              <a:t>2</a:t>
            </a:r>
            <a:r>
              <a:rPr lang="en-US" altLang="en-US" sz="1000" dirty="0"/>
              <a:t> reads 2 blocks from E</a:t>
            </a:r>
            <a:r>
              <a:rPr lang="en-US" altLang="en-US" sz="1000" baseline="-25000" dirty="0"/>
              <a:t>1</a:t>
            </a:r>
            <a:r>
              <a:rPr lang="en-US" altLang="en-US" sz="1050" baseline="-25000" dirty="0"/>
              <a:t> </a:t>
            </a:r>
            <a:r>
              <a:rPr lang="en-US" altLang="en-US" sz="1050" dirty="0"/>
              <a:t>and access 2*12 blocks from </a:t>
            </a:r>
            <a:r>
              <a:rPr lang="en-US" altLang="en-US" sz="1000" dirty="0"/>
              <a:t>E</a:t>
            </a:r>
            <a:r>
              <a:rPr lang="en-US" altLang="en-US" sz="1000" baseline="-25000" dirty="0"/>
              <a:t>2 ,</a:t>
            </a:r>
          </a:p>
          <a:p>
            <a:pPr lvl="1"/>
            <a:r>
              <a:rPr lang="en-US" altLang="en-US" sz="1000" dirty="0"/>
              <a:t>But the engine can only have 2 or 3 in the buffer pool </a:t>
            </a:r>
            <a:r>
              <a:rPr lang="en-US" altLang="en-US" sz="1000" dirty="0">
                <a:sym typeface="Wingdings" pitchFamily="2" charset="2"/>
              </a:rPr>
              <a:t></a:t>
            </a:r>
          </a:p>
          <a:p>
            <a:pPr lvl="1"/>
            <a:r>
              <a:rPr lang="en-US" altLang="en-US" sz="1000" dirty="0">
                <a:sym typeface="Wingdings" pitchFamily="2" charset="2"/>
              </a:rPr>
              <a:t>Approximately 2 + 24/3 = 10 block Ios.</a:t>
            </a:r>
          </a:p>
          <a:p>
            <a:pPr lvl="1"/>
            <a:r>
              <a:rPr lang="en-US" altLang="en-US" sz="1100" dirty="0"/>
              <a:t>E</a:t>
            </a:r>
            <a:r>
              <a:rPr lang="en-US" altLang="en-US" sz="1100" baseline="-25000" dirty="0"/>
              <a:t>2</a:t>
            </a:r>
            <a:r>
              <a:rPr lang="en-IN" altLang="en-US" sz="1100" dirty="0"/>
              <a:t> ⨝</a:t>
            </a:r>
            <a:r>
              <a:rPr lang="en-US" altLang="en-US" sz="1100" dirty="0"/>
              <a:t> </a:t>
            </a:r>
            <a:r>
              <a:rPr lang="en-US" altLang="en-US" sz="1100" baseline="-25000" dirty="0">
                <a:sym typeface="Symbol" panose="05050102010706020507" pitchFamily="18" charset="2"/>
              </a:rPr>
              <a:t> </a:t>
            </a:r>
            <a:r>
              <a:rPr lang="en-US" altLang="en-US" sz="1100" dirty="0"/>
              <a:t>E</a:t>
            </a:r>
            <a:r>
              <a:rPr lang="en-US" altLang="en-US" sz="1100" baseline="-25000" dirty="0"/>
              <a:t>1 </a:t>
            </a:r>
            <a:r>
              <a:rPr lang="en-US" altLang="en-US" sz="1200" dirty="0"/>
              <a:t>accesses 12 blocks from </a:t>
            </a:r>
            <a:r>
              <a:rPr lang="en-US" altLang="en-US" sz="1100" dirty="0"/>
              <a:t>E</a:t>
            </a:r>
            <a:r>
              <a:rPr lang="en-US" altLang="en-US" sz="1100" baseline="-25000" dirty="0"/>
              <a:t>2 </a:t>
            </a:r>
            <a:r>
              <a:rPr lang="en-US" altLang="en-US" sz="1100" dirty="0"/>
              <a:t>and 12*2 blocks from E</a:t>
            </a:r>
            <a:r>
              <a:rPr lang="en-US" altLang="en-US" sz="1100" baseline="-25000" dirty="0"/>
              <a:t>1 </a:t>
            </a:r>
            <a:endParaRPr lang="en-US" altLang="en-US" sz="1100" dirty="0"/>
          </a:p>
          <a:p>
            <a:pPr lvl="1"/>
            <a:r>
              <a:rPr lang="en-US" altLang="en-US" sz="1100" dirty="0"/>
              <a:t>But all of E</a:t>
            </a:r>
            <a:r>
              <a:rPr lang="en-US" altLang="en-US" sz="1100" baseline="-25000" dirty="0"/>
              <a:t>1 </a:t>
            </a:r>
            <a:r>
              <a:rPr lang="en-US" altLang="en-US" sz="1100" dirty="0"/>
              <a:t>fits in the buffer pool </a:t>
            </a:r>
            <a:r>
              <a:rPr lang="en-US" altLang="en-US" sz="1100" dirty="0">
                <a:sym typeface="Wingdings" pitchFamily="2" charset="2"/>
              </a:rPr>
              <a:t> 14 block I/</a:t>
            </a:r>
            <a:r>
              <a:rPr lang="en-US" altLang="en-US" sz="1100" dirty="0" err="1">
                <a:sym typeface="Wingdings" pitchFamily="2" charset="2"/>
              </a:rPr>
              <a:t>Os</a:t>
            </a:r>
            <a:endParaRPr lang="en-US" altLang="en-US" sz="1100" dirty="0"/>
          </a:p>
        </p:txBody>
      </p:sp>
      <p:sp>
        <p:nvSpPr>
          <p:cNvPr id="4" name="TextBox 3">
            <a:extLst>
              <a:ext uri="{FF2B5EF4-FFF2-40B4-BE49-F238E27FC236}">
                <a16:creationId xmlns:a16="http://schemas.microsoft.com/office/drawing/2014/main" id="{E9121372-69E3-AFA4-1047-0A9BEB58E5D7}"/>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extLst>
      <p:ext uri="{BB962C8B-B14F-4D97-AF65-F5344CB8AC3E}">
        <p14:creationId xmlns:p14="http://schemas.microsoft.com/office/powerpoint/2010/main" val="34451813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a:extLst>
              <a:ext uri="{FF2B5EF4-FFF2-40B4-BE49-F238E27FC236}">
                <a16:creationId xmlns:a16="http://schemas.microsoft.com/office/drawing/2014/main" id="{13BE5181-BC0D-4E3C-B803-BDBB6753C8E0}"/>
              </a:ext>
            </a:extLst>
          </p:cNvPr>
          <p:cNvSpPr>
            <a:spLocks noGrp="1" noChangeArrowheads="1"/>
          </p:cNvSpPr>
          <p:nvPr>
            <p:ph type="title"/>
          </p:nvPr>
        </p:nvSpPr>
        <p:spPr>
          <a:xfrm>
            <a:off x="1868091" y="41672"/>
            <a:ext cx="6057900" cy="457200"/>
          </a:xfrm>
        </p:spPr>
        <p:txBody>
          <a:bodyPr/>
          <a:lstStyle/>
          <a:p>
            <a:pPr>
              <a:defRPr/>
            </a:pPr>
            <a:r>
              <a:rPr lang="en-US" altLang="en-US">
                <a:effectLst>
                  <a:outerShdw blurRad="38100" dist="38100" dir="2700000" algn="tl">
                    <a:srgbClr val="C0C0C0"/>
                  </a:outerShdw>
                </a:effectLst>
              </a:rPr>
              <a:t>Pictorial Depiction of Equivalence Rules</a:t>
            </a:r>
          </a:p>
        </p:txBody>
      </p:sp>
      <p:pic>
        <p:nvPicPr>
          <p:cNvPr id="3" name="Graphic 2">
            <a:extLst>
              <a:ext uri="{FF2B5EF4-FFF2-40B4-BE49-F238E27FC236}">
                <a16:creationId xmlns:a16="http://schemas.microsoft.com/office/drawing/2014/main" id="{BBF349FB-4CB9-462F-A282-31330CD919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30471" y="799484"/>
            <a:ext cx="5188382" cy="384985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a:extLst>
              <a:ext uri="{FF2B5EF4-FFF2-40B4-BE49-F238E27FC236}">
                <a16:creationId xmlns:a16="http://schemas.microsoft.com/office/drawing/2014/main" id="{6B49CD74-8487-4512-88D7-665692A992DF}"/>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p>
        </p:txBody>
      </p:sp>
      <p:sp>
        <p:nvSpPr>
          <p:cNvPr id="25603" name="Rectangle 3">
            <a:extLst>
              <a:ext uri="{FF2B5EF4-FFF2-40B4-BE49-F238E27FC236}">
                <a16:creationId xmlns:a16="http://schemas.microsoft.com/office/drawing/2014/main" id="{D1631F66-0C00-49F9-97DF-D953852A7E86}"/>
              </a:ext>
            </a:extLst>
          </p:cNvPr>
          <p:cNvSpPr>
            <a:spLocks noGrp="1" noChangeArrowheads="1"/>
          </p:cNvSpPr>
          <p:nvPr>
            <p:ph idx="1"/>
          </p:nvPr>
        </p:nvSpPr>
        <p:spPr>
          <a:xfrm>
            <a:off x="1648327" y="826873"/>
            <a:ext cx="5775158" cy="4025979"/>
          </a:xfrm>
        </p:spPr>
        <p:txBody>
          <a:bodyPr/>
          <a:lstStyle/>
          <a:p>
            <a:pPr>
              <a:buNone/>
            </a:pPr>
            <a:r>
              <a:rPr lang="en-US" altLang="en-US" dirty="0"/>
              <a:t>7.	The selection operation distributes over the theta join operation under the following two conditions:</a:t>
            </a:r>
            <a:br>
              <a:rPr lang="en-US" altLang="en-US" dirty="0"/>
            </a:br>
            <a:r>
              <a:rPr lang="en-US" altLang="en-US" dirty="0"/>
              <a:t>(a)  When all the attributes in </a:t>
            </a:r>
            <a:r>
              <a:rPr lang="en-US" altLang="en-US" dirty="0">
                <a:sym typeface="Symbol" panose="05050102010706020507" pitchFamily="18" charset="2"/>
              </a:rPr>
              <a:t></a:t>
            </a:r>
            <a:r>
              <a:rPr lang="en-US" altLang="en-US" baseline="-25000" dirty="0">
                <a:sym typeface="Greek Symbols" pitchFamily="18" charset="2"/>
              </a:rPr>
              <a:t>0 </a:t>
            </a:r>
            <a:r>
              <a:rPr lang="en-US" altLang="en-US" dirty="0">
                <a:sym typeface="Greek Symbols" pitchFamily="18" charset="2"/>
              </a:rPr>
              <a:t> involve only the attributes of one </a:t>
            </a:r>
            <a:br>
              <a:rPr lang="en-US" altLang="en-US" dirty="0">
                <a:sym typeface="Greek Symbols" pitchFamily="18" charset="2"/>
              </a:rPr>
            </a:br>
            <a:r>
              <a:rPr lang="en-US" altLang="en-US" dirty="0">
                <a:sym typeface="Greek Symbols" pitchFamily="18" charset="2"/>
              </a:rPr>
              <a:t>       of the expressions (</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being joined.</a:t>
            </a:r>
            <a:br>
              <a:rPr lang="en-US" altLang="en-US" dirty="0">
                <a:sym typeface="Greek Symbols" pitchFamily="18" charset="2"/>
              </a:rPr>
            </a:br>
            <a:br>
              <a:rPr lang="en-US" altLang="en-US" dirty="0">
                <a:sym typeface="Greek Symbols" pitchFamily="18" charset="2"/>
              </a:rPr>
            </a:br>
            <a:r>
              <a:rPr lang="en-US" altLang="en-US" dirty="0">
                <a:sym typeface="Greek Symbols" pitchFamily="18" charset="2"/>
              </a:rPr>
              <a:t>                </a:t>
            </a:r>
            <a:r>
              <a:rPr lang="en-US" altLang="en-US" dirty="0">
                <a:sym typeface="Symbol" panose="05050102010706020507" pitchFamily="18" charset="2"/>
              </a:rPr>
              <a:t></a:t>
            </a:r>
            <a:r>
              <a:rPr lang="en-US" altLang="en-US" baseline="-25000" dirty="0">
                <a:sym typeface="Symbol" panose="05050102010706020507" pitchFamily="18" charset="2"/>
              </a:rPr>
              <a:t></a:t>
            </a:r>
            <a:r>
              <a:rPr lang="en-US" altLang="en-US" baseline="-46000" dirty="0">
                <a:sym typeface="Greek Symbols" pitchFamily="18" charset="2"/>
              </a:rPr>
              <a:t>0 </a:t>
            </a:r>
            <a:r>
              <a:rPr lang="en-US" altLang="en-US" dirty="0">
                <a:sym typeface="Symbol" panose="05050102010706020507" pitchFamily="18" charset="2"/>
              </a:rPr>
              <a:t>E</a:t>
            </a:r>
            <a:r>
              <a:rPr lang="en-US" altLang="en-US" baseline="-25000" dirty="0">
                <a:sym typeface="Symbol" panose="05050102010706020507" pitchFamily="18" charset="2"/>
              </a:rPr>
              <a:t>1 </a:t>
            </a:r>
            <a:r>
              <a:rPr lang="en-IN" altLang="en-US" dirty="0"/>
              <a:t>⨝</a:t>
            </a:r>
            <a:r>
              <a:rPr lang="en-US" altLang="en-US" baseline="-25000" dirty="0">
                <a:sym typeface="Symbol" panose="05050102010706020507" pitchFamily="18" charset="2"/>
              </a:rPr>
              <a:t> </a:t>
            </a:r>
            <a:r>
              <a:rPr lang="en-US" altLang="en-US"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      </a:t>
            </a:r>
            <a:r>
              <a:rPr lang="en-IN" dirty="0"/>
              <a:t>≡    </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baseline="-46000" dirty="0">
                <a:sym typeface="Greek Symbols" pitchFamily="18" charset="2"/>
              </a:rPr>
              <a:t>0</a:t>
            </a:r>
            <a:r>
              <a:rPr lang="en-US" altLang="en-US"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a:t>
            </a:r>
            <a:r>
              <a:rPr lang="en-IN" altLang="en-US" dirty="0"/>
              <a:t>⨝</a:t>
            </a:r>
            <a:r>
              <a:rPr lang="en-US" altLang="en-US" baseline="-25000" dirty="0">
                <a:sym typeface="Symbol" panose="05050102010706020507" pitchFamily="18" charset="2"/>
              </a:rPr>
              <a:t> </a:t>
            </a:r>
            <a:r>
              <a:rPr lang="en-US" altLang="en-US" dirty="0">
                <a:sym typeface="Symbol" panose="05050102010706020507" pitchFamily="18" charset="2"/>
              </a:rPr>
              <a:t>E</a:t>
            </a:r>
            <a:r>
              <a:rPr lang="en-US" altLang="en-US" baseline="-25000" dirty="0">
                <a:sym typeface="Symbol" panose="05050102010706020507" pitchFamily="18" charset="2"/>
              </a:rPr>
              <a:t>2</a:t>
            </a:r>
            <a:r>
              <a:rPr lang="en-US" altLang="en-US" dirty="0">
                <a:sym typeface="Greek Symbols" pitchFamily="18" charset="2"/>
              </a:rPr>
              <a:t> </a:t>
            </a:r>
            <a:br>
              <a:rPr lang="en-US" altLang="en-US" dirty="0">
                <a:sym typeface="Greek Symbols" pitchFamily="18" charset="2"/>
              </a:rPr>
            </a:br>
            <a:endParaRPr lang="en-US" altLang="en-US" dirty="0">
              <a:sym typeface="Greek Symbols" pitchFamily="18" charset="2"/>
            </a:endParaRPr>
          </a:p>
          <a:p>
            <a:pPr>
              <a:buFont typeface="Monotype Sorts" pitchFamily="-65" charset="2"/>
              <a:buNone/>
            </a:pPr>
            <a:r>
              <a:rPr lang="en-US" altLang="en-US" dirty="0">
                <a:sym typeface="Greek Symbols" pitchFamily="18" charset="2"/>
              </a:rPr>
              <a:t>	(b) When </a:t>
            </a:r>
            <a:r>
              <a:rPr lang="en-US" altLang="en-US" dirty="0">
                <a:sym typeface="Symbol" panose="05050102010706020507" pitchFamily="18" charset="2"/>
              </a:rPr>
              <a:t></a:t>
            </a:r>
            <a:r>
              <a:rPr lang="en-US" altLang="en-US" baseline="-25000" dirty="0">
                <a:sym typeface="Greek Symbols" pitchFamily="18" charset="2"/>
              </a:rPr>
              <a:t>1 </a:t>
            </a:r>
            <a:r>
              <a:rPr lang="en-US" altLang="en-US" dirty="0">
                <a:sym typeface="Greek Symbols" pitchFamily="18" charset="2"/>
              </a:rPr>
              <a:t>involves only the attributes of </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and</a:t>
            </a:r>
            <a:r>
              <a:rPr lang="en-US" altLang="en-US" i="1" dirty="0">
                <a:sym typeface="Greek Symbols" pitchFamily="18" charset="2"/>
              </a:rPr>
              <a:t> </a:t>
            </a:r>
            <a:r>
              <a:rPr lang="en-US" altLang="en-US" dirty="0">
                <a:sym typeface="Symbol" panose="05050102010706020507" pitchFamily="18" charset="2"/>
              </a:rPr>
              <a:t></a:t>
            </a:r>
            <a:r>
              <a:rPr lang="en-US" altLang="en-US" baseline="-25000" dirty="0">
                <a:sym typeface="Greek Symbols" pitchFamily="18" charset="2"/>
              </a:rPr>
              <a:t>2 </a:t>
            </a:r>
            <a:r>
              <a:rPr lang="en-US" altLang="en-US" dirty="0">
                <a:sym typeface="Greek Symbols" pitchFamily="18" charset="2"/>
              </a:rPr>
              <a:t> involves  </a:t>
            </a:r>
            <a:br>
              <a:rPr lang="en-US" altLang="en-US" dirty="0">
                <a:sym typeface="Greek Symbols" pitchFamily="18" charset="2"/>
              </a:rPr>
            </a:br>
            <a:r>
              <a:rPr lang="en-US" altLang="en-US" dirty="0">
                <a:sym typeface="Greek Symbols" pitchFamily="18" charset="2"/>
              </a:rPr>
              <a:t>      only the attributes of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p>
          <a:p>
            <a:pPr>
              <a:buNone/>
            </a:pP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baseline="-46000" dirty="0">
                <a:sym typeface="Greek Symbols" pitchFamily="18" charset="2"/>
              </a:rPr>
              <a:t>1</a:t>
            </a:r>
            <a:r>
              <a:rPr lang="en-US" altLang="en-US" baseline="-25000" dirty="0">
                <a:sym typeface="Symbol" panose="05050102010706020507" pitchFamily="18" charset="2"/>
              </a:rPr>
              <a:t> </a:t>
            </a:r>
            <a:r>
              <a:rPr lang="en-US" altLang="en-US" baseline="-25000" dirty="0">
                <a:sym typeface="Greek Symbols" pitchFamily="18" charset="2"/>
              </a:rPr>
              <a:t> </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baseline="-25000" dirty="0">
                <a:sym typeface="Symbol" panose="05050102010706020507" pitchFamily="18" charset="2"/>
              </a:rPr>
              <a:t> </a:t>
            </a:r>
            <a:r>
              <a:rPr lang="en-US" altLang="en-US"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a:t>
            </a:r>
            <a:r>
              <a:rPr lang="en-IN" altLang="en-US" dirty="0"/>
              <a:t>⨝</a:t>
            </a:r>
            <a:r>
              <a:rPr lang="en-US" altLang="en-US" baseline="-25000" dirty="0">
                <a:sym typeface="Symbol" panose="05050102010706020507" pitchFamily="18" charset="2"/>
              </a:rPr>
              <a:t> </a:t>
            </a:r>
            <a:r>
              <a:rPr lang="en-US" altLang="en-US"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     </a:t>
            </a:r>
            <a:r>
              <a:rPr lang="en-IN" dirty="0"/>
              <a:t>≡</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baseline="-46000" dirty="0">
                <a:sym typeface="Greek Symbols" pitchFamily="18" charset="2"/>
              </a:rPr>
              <a:t>1</a:t>
            </a:r>
            <a:r>
              <a:rPr lang="en-US" altLang="en-US"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a:t>
            </a:r>
            <a:r>
              <a:rPr lang="en-IN" altLang="en-US" dirty="0"/>
              <a:t> ⨝</a:t>
            </a:r>
            <a:r>
              <a:rPr lang="en-US" altLang="en-US" baseline="-25000" dirty="0">
                <a:sym typeface="Symbol" panose="05050102010706020507" pitchFamily="18" charset="2"/>
              </a:rPr>
              <a:t></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a:t>
            </a:r>
          </a:p>
        </p:txBody>
      </p:sp>
      <p:sp>
        <p:nvSpPr>
          <p:cNvPr id="2" name="TextBox 1">
            <a:extLst>
              <a:ext uri="{FF2B5EF4-FFF2-40B4-BE49-F238E27FC236}">
                <a16:creationId xmlns:a16="http://schemas.microsoft.com/office/drawing/2014/main" id="{A570DF27-FAC6-5DAE-CE3A-5C4F7D4DEFE0}"/>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3">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3DEA30-F0FC-D8E6-4036-F2F1CFCBF628}"/>
              </a:ext>
            </a:extLst>
          </p:cNvPr>
          <p:cNvSpPr>
            <a:spLocks noGrp="1"/>
          </p:cNvSpPr>
          <p:nvPr>
            <p:ph idx="1"/>
          </p:nvPr>
        </p:nvSpPr>
        <p:spPr/>
        <p:txBody>
          <a:bodyPr/>
          <a:lstStyle/>
          <a:p>
            <a:r>
              <a:rPr lang="en-US" altLang="en-US" dirty="0">
                <a:sym typeface="Symbol" panose="05050102010706020507" pitchFamily="18" charset="2"/>
              </a:rPr>
              <a:t></a:t>
            </a:r>
            <a:r>
              <a:rPr lang="en-US" altLang="en-US" baseline="-25000" dirty="0">
                <a:sym typeface="Symbol" panose="05050102010706020507" pitchFamily="18" charset="2"/>
              </a:rPr>
              <a:t></a:t>
            </a:r>
            <a:r>
              <a:rPr lang="en-US" altLang="en-US" baseline="-46000" dirty="0">
                <a:sym typeface="Greek Symbols" pitchFamily="18" charset="2"/>
              </a:rPr>
              <a:t>1</a:t>
            </a:r>
            <a:r>
              <a:rPr lang="en-US" altLang="en-US" baseline="-25000" dirty="0">
                <a:sym typeface="Symbol" panose="05050102010706020507" pitchFamily="18" charset="2"/>
              </a:rPr>
              <a:t> </a:t>
            </a:r>
            <a:r>
              <a:rPr lang="en-US" altLang="en-US" baseline="-25000" dirty="0">
                <a:sym typeface="Greek Symbols" pitchFamily="18" charset="2"/>
              </a:rPr>
              <a:t> </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baseline="-25000" dirty="0">
                <a:sym typeface="Symbol" panose="05050102010706020507" pitchFamily="18" charset="2"/>
              </a:rPr>
              <a:t> </a:t>
            </a:r>
            <a:r>
              <a:rPr lang="en-US" altLang="en-US"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a:t>
            </a:r>
            <a:r>
              <a:rPr lang="en-IN" altLang="en-US" dirty="0"/>
              <a:t>⨝</a:t>
            </a:r>
            <a:r>
              <a:rPr lang="en-US" altLang="en-US" baseline="-25000" dirty="0">
                <a:sym typeface="Symbol" panose="05050102010706020507" pitchFamily="18" charset="2"/>
              </a:rPr>
              <a:t> </a:t>
            </a:r>
            <a:r>
              <a:rPr lang="en-US" altLang="en-US"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     </a:t>
            </a:r>
            <a:r>
              <a:rPr lang="en-IN" dirty="0"/>
              <a:t>≡</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baseline="-46000" dirty="0">
                <a:sym typeface="Greek Symbols" pitchFamily="18" charset="2"/>
              </a:rPr>
              <a:t>1</a:t>
            </a:r>
            <a:r>
              <a:rPr lang="en-US" altLang="en-US"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a:t>
            </a:r>
            <a:r>
              <a:rPr lang="en-IN" altLang="en-US" dirty="0"/>
              <a:t> ⨝</a:t>
            </a:r>
            <a:r>
              <a:rPr lang="en-US" altLang="en-US" baseline="-25000" dirty="0">
                <a:sym typeface="Symbol" panose="05050102010706020507" pitchFamily="18" charset="2"/>
              </a:rPr>
              <a:t></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a:t>
            </a:r>
          </a:p>
          <a:p>
            <a:r>
              <a:rPr lang="el-GR" dirty="0"/>
              <a:t>σ </a:t>
            </a:r>
            <a:r>
              <a:rPr lang="en-US" dirty="0"/>
              <a:t>name='Zhang' ∧ </a:t>
            </a:r>
            <a:r>
              <a:rPr lang="en-US" dirty="0" err="1"/>
              <a:t>course_id</a:t>
            </a:r>
            <a:r>
              <a:rPr lang="en-US" dirty="0"/>
              <a:t>='CS-101' (student ⨝ takes)</a:t>
            </a:r>
            <a:r>
              <a:rPr lang="en-US" dirty="0">
                <a:sym typeface="Symbol" panose="05050102010706020507" pitchFamily="18" charset="2"/>
              </a:rPr>
              <a:t> is equivalent to</a:t>
            </a:r>
            <a:br>
              <a:rPr lang="en-US" dirty="0">
                <a:sym typeface="Symbol" panose="05050102010706020507" pitchFamily="18" charset="2"/>
              </a:rPr>
            </a:br>
            <a:r>
              <a:rPr lang="el-GR" dirty="0">
                <a:sym typeface="Symbol" panose="05050102010706020507" pitchFamily="18" charset="2"/>
              </a:rPr>
              <a:t>(σ </a:t>
            </a:r>
            <a:r>
              <a:rPr lang="en-US" dirty="0">
                <a:sym typeface="Symbol" panose="05050102010706020507" pitchFamily="18" charset="2"/>
              </a:rPr>
              <a:t>name='Zhang' (student)) ⨝ (</a:t>
            </a:r>
            <a:r>
              <a:rPr lang="el-GR" dirty="0">
                <a:sym typeface="Symbol" panose="05050102010706020507" pitchFamily="18" charset="2"/>
              </a:rPr>
              <a:t>σ </a:t>
            </a:r>
            <a:r>
              <a:rPr lang="en-US" dirty="0" err="1">
                <a:sym typeface="Symbol" panose="05050102010706020507" pitchFamily="18" charset="2"/>
              </a:rPr>
              <a:t>course_id</a:t>
            </a:r>
            <a:r>
              <a:rPr lang="en-US" dirty="0">
                <a:sym typeface="Symbol" panose="05050102010706020507" pitchFamily="18" charset="2"/>
              </a:rPr>
              <a:t>='CS-101' (takes))</a:t>
            </a:r>
            <a:br>
              <a:rPr lang="en-US" dirty="0">
                <a:sym typeface="Symbol" panose="05050102010706020507" pitchFamily="18" charset="2"/>
              </a:rPr>
            </a:br>
            <a:endParaRPr lang="en-US" dirty="0"/>
          </a:p>
        </p:txBody>
      </p:sp>
      <p:sp>
        <p:nvSpPr>
          <p:cNvPr id="3" name="Title 2">
            <a:extLst>
              <a:ext uri="{FF2B5EF4-FFF2-40B4-BE49-F238E27FC236}">
                <a16:creationId xmlns:a16="http://schemas.microsoft.com/office/drawing/2014/main" id="{174387DC-D45E-3FAD-B1FA-73BE7BEEB490}"/>
              </a:ext>
            </a:extLst>
          </p:cNvPr>
          <p:cNvSpPr>
            <a:spLocks noGrp="1"/>
          </p:cNvSpPr>
          <p:nvPr>
            <p:ph type="title"/>
          </p:nvPr>
        </p:nvSpPr>
        <p:spPr/>
        <p:txBody>
          <a:bodyPr/>
          <a:lstStyle/>
          <a:p>
            <a:r>
              <a:rPr lang="en-US" dirty="0"/>
              <a:t>Explanation</a:t>
            </a:r>
          </a:p>
        </p:txBody>
      </p:sp>
      <p:pic>
        <p:nvPicPr>
          <p:cNvPr id="4" name="Picture 3">
            <a:extLst>
              <a:ext uri="{FF2B5EF4-FFF2-40B4-BE49-F238E27FC236}">
                <a16:creationId xmlns:a16="http://schemas.microsoft.com/office/drawing/2014/main" id="{C1D004F3-5218-8AAA-FD62-031BD3DE9B32}"/>
              </a:ext>
            </a:extLst>
          </p:cNvPr>
          <p:cNvPicPr>
            <a:picLocks noChangeAspect="1"/>
          </p:cNvPicPr>
          <p:nvPr/>
        </p:nvPicPr>
        <p:blipFill>
          <a:blip r:embed="rId2"/>
          <a:stretch>
            <a:fillRect/>
          </a:stretch>
        </p:blipFill>
        <p:spPr>
          <a:xfrm>
            <a:off x="762000" y="2022462"/>
            <a:ext cx="3594100" cy="2171725"/>
          </a:xfrm>
          <a:prstGeom prst="rect">
            <a:avLst/>
          </a:prstGeom>
        </p:spPr>
      </p:pic>
      <p:pic>
        <p:nvPicPr>
          <p:cNvPr id="5" name="Picture 4">
            <a:extLst>
              <a:ext uri="{FF2B5EF4-FFF2-40B4-BE49-F238E27FC236}">
                <a16:creationId xmlns:a16="http://schemas.microsoft.com/office/drawing/2014/main" id="{95D486FE-B8EE-0651-A9DD-7FAF78E02D0C}"/>
              </a:ext>
            </a:extLst>
          </p:cNvPr>
          <p:cNvPicPr>
            <a:picLocks noChangeAspect="1"/>
          </p:cNvPicPr>
          <p:nvPr/>
        </p:nvPicPr>
        <p:blipFill>
          <a:blip r:embed="rId3"/>
          <a:stretch>
            <a:fillRect/>
          </a:stretch>
        </p:blipFill>
        <p:spPr>
          <a:xfrm>
            <a:off x="5260491" y="2114549"/>
            <a:ext cx="3816350" cy="1987550"/>
          </a:xfrm>
          <a:prstGeom prst="rect">
            <a:avLst/>
          </a:prstGeom>
        </p:spPr>
      </p:pic>
      <p:sp>
        <p:nvSpPr>
          <p:cNvPr id="6" name="TextBox 5">
            <a:extLst>
              <a:ext uri="{FF2B5EF4-FFF2-40B4-BE49-F238E27FC236}">
                <a16:creationId xmlns:a16="http://schemas.microsoft.com/office/drawing/2014/main" id="{5F2FC4D1-AD19-7DCF-A9C4-647B0BB8F113}"/>
              </a:ext>
            </a:extLst>
          </p:cNvPr>
          <p:cNvSpPr txBox="1"/>
          <p:nvPr/>
        </p:nvSpPr>
        <p:spPr>
          <a:xfrm>
            <a:off x="228600" y="2800350"/>
            <a:ext cx="1724190" cy="646331"/>
          </a:xfrm>
          <a:prstGeom prst="rect">
            <a:avLst/>
          </a:prstGeom>
          <a:noFill/>
        </p:spPr>
        <p:txBody>
          <a:bodyPr wrap="none" rtlCol="0">
            <a:spAutoFit/>
          </a:bodyPr>
          <a:lstStyle/>
          <a:p>
            <a:r>
              <a:rPr lang="en-US" sz="1200" dirty="0"/>
              <a:t>Simplistically, the cost is:</a:t>
            </a:r>
          </a:p>
          <a:p>
            <a:pPr marL="171450" indent="-171450">
              <a:buFont typeface="Arial" panose="020B0604020202020204" pitchFamily="34" charset="0"/>
              <a:buChar char="•"/>
            </a:pPr>
            <a:r>
              <a:rPr lang="en-US" sz="1200" dirty="0"/>
              <a:t>(Join) 13 * 22 +</a:t>
            </a:r>
          </a:p>
          <a:p>
            <a:pPr marL="171450" indent="-171450">
              <a:buFont typeface="Arial" panose="020B0604020202020204" pitchFamily="34" charset="0"/>
              <a:buChar char="•"/>
            </a:pPr>
            <a:r>
              <a:rPr lang="en-US" sz="1200" dirty="0"/>
              <a:t>(Scan) 22</a:t>
            </a:r>
          </a:p>
        </p:txBody>
      </p:sp>
      <p:sp>
        <p:nvSpPr>
          <p:cNvPr id="7" name="TextBox 6">
            <a:extLst>
              <a:ext uri="{FF2B5EF4-FFF2-40B4-BE49-F238E27FC236}">
                <a16:creationId xmlns:a16="http://schemas.microsoft.com/office/drawing/2014/main" id="{A94C2050-A19D-EE7E-495F-2413C4055398}"/>
              </a:ext>
            </a:extLst>
          </p:cNvPr>
          <p:cNvSpPr txBox="1"/>
          <p:nvPr/>
        </p:nvSpPr>
        <p:spPr>
          <a:xfrm>
            <a:off x="4477255" y="2724150"/>
            <a:ext cx="1724190" cy="646331"/>
          </a:xfrm>
          <a:prstGeom prst="rect">
            <a:avLst/>
          </a:prstGeom>
          <a:noFill/>
        </p:spPr>
        <p:txBody>
          <a:bodyPr wrap="none" rtlCol="0">
            <a:spAutoFit/>
          </a:bodyPr>
          <a:lstStyle/>
          <a:p>
            <a:r>
              <a:rPr lang="en-US" sz="1200" dirty="0"/>
              <a:t>Simplistically, the cost is:</a:t>
            </a:r>
          </a:p>
          <a:p>
            <a:pPr marL="171450" indent="-171450">
              <a:buFont typeface="Arial" panose="020B0604020202020204" pitchFamily="34" charset="0"/>
              <a:buChar char="•"/>
            </a:pPr>
            <a:r>
              <a:rPr lang="en-US" sz="1200" dirty="0"/>
              <a:t>(Two scans) 13 + 22 +</a:t>
            </a:r>
          </a:p>
          <a:p>
            <a:pPr marL="171450" indent="-171450">
              <a:buFont typeface="Arial" panose="020B0604020202020204" pitchFamily="34" charset="0"/>
              <a:buChar char="•"/>
            </a:pPr>
            <a:r>
              <a:rPr lang="en-US" sz="1200" dirty="0"/>
              <a:t>(Join) 1 * 7</a:t>
            </a:r>
          </a:p>
        </p:txBody>
      </p:sp>
      <p:sp>
        <p:nvSpPr>
          <p:cNvPr id="8" name="TextBox 7">
            <a:extLst>
              <a:ext uri="{FF2B5EF4-FFF2-40B4-BE49-F238E27FC236}">
                <a16:creationId xmlns:a16="http://schemas.microsoft.com/office/drawing/2014/main" id="{04E11414-0E48-7631-315C-9E2AAD35E814}"/>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extLst>
      <p:ext uri="{BB962C8B-B14F-4D97-AF65-F5344CB8AC3E}">
        <p14:creationId xmlns:p14="http://schemas.microsoft.com/office/powerpoint/2010/main" val="39074924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a:extLst>
              <a:ext uri="{FF2B5EF4-FFF2-40B4-BE49-F238E27FC236}">
                <a16:creationId xmlns:a16="http://schemas.microsoft.com/office/drawing/2014/main" id="{B646A50B-011F-454A-8351-8C638211E95B}"/>
              </a:ext>
            </a:extLst>
          </p:cNvPr>
          <p:cNvSpPr>
            <a:spLocks noGrp="1" noChangeArrowheads="1"/>
          </p:cNvSpPr>
          <p:nvPr>
            <p:ph idx="1"/>
          </p:nvPr>
        </p:nvSpPr>
        <p:spPr>
          <a:xfrm>
            <a:off x="1655545" y="826873"/>
            <a:ext cx="5818472" cy="4025979"/>
          </a:xfrm>
        </p:spPr>
        <p:txBody>
          <a:bodyPr/>
          <a:lstStyle/>
          <a:p>
            <a:pPr>
              <a:buNone/>
              <a:tabLst>
                <a:tab pos="2315766" algn="ctr"/>
              </a:tabLst>
            </a:pPr>
            <a:r>
              <a:rPr lang="en-US" altLang="en-US" dirty="0"/>
              <a:t>8.	The projection operation distributes over the theta join operation as follows:</a:t>
            </a:r>
          </a:p>
          <a:p>
            <a:pPr>
              <a:buNone/>
              <a:tabLst>
                <a:tab pos="2315766" algn="ctr"/>
              </a:tabLst>
            </a:pPr>
            <a:r>
              <a:rPr lang="en-US" altLang="en-US" dirty="0"/>
              <a:t>	(a) if </a:t>
            </a:r>
            <a:r>
              <a:rPr kumimoji="0" lang="en-US" altLang="en-US" dirty="0">
                <a:solidFill>
                  <a:srgbClr val="000000"/>
                </a:solidFill>
                <a:sym typeface="Symbol" panose="05050102010706020507" pitchFamily="18" charset="2"/>
              </a:rPr>
              <a:t></a:t>
            </a:r>
            <a:r>
              <a:rPr lang="en-US" altLang="en-US" dirty="0">
                <a:sym typeface="Greek Symbols" pitchFamily="18" charset="2"/>
              </a:rPr>
              <a:t> involves only attributes from </a:t>
            </a:r>
            <a:r>
              <a:rPr lang="en-US" altLang="en-US" i="1" dirty="0">
                <a:sym typeface="Greek Symbols" pitchFamily="18" charset="2"/>
              </a:rPr>
              <a:t>L</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 </a:t>
            </a:r>
            <a:r>
              <a:rPr lang="en-US" altLang="en-US" i="1" dirty="0">
                <a:sym typeface="Symbol" panose="05050102010706020507" pitchFamily="18" charset="2"/>
              </a:rPr>
              <a:t>L</a:t>
            </a:r>
            <a:r>
              <a:rPr lang="en-US" altLang="en-US" baseline="-25000" dirty="0">
                <a:sym typeface="Symbol" panose="05050102010706020507" pitchFamily="18" charset="2"/>
              </a:rPr>
              <a:t>2</a:t>
            </a:r>
            <a:r>
              <a:rPr lang="en-US" altLang="en-US" dirty="0">
                <a:sym typeface="Symbol" panose="05050102010706020507" pitchFamily="18" charset="2"/>
              </a:rPr>
              <a:t>:</a:t>
            </a:r>
            <a:br>
              <a:rPr lang="en-US" altLang="en-US" dirty="0">
                <a:sym typeface="Symbol" panose="05050102010706020507" pitchFamily="18" charset="2"/>
              </a:rPr>
            </a:br>
            <a:r>
              <a:rPr lang="en-IN" altLang="en-US" dirty="0">
                <a:sym typeface="Symbol" panose="05050102010706020507" pitchFamily="18" charset="2"/>
              </a:rPr>
              <a:t>         </a:t>
            </a:r>
            <a:r>
              <a:rPr lang="en-US" altLang="en-US" dirty="0">
                <a:solidFill>
                  <a:srgbClr val="FF0000"/>
                </a:solidFill>
                <a:ea typeface="MS PGothic" panose="020B0600070205080204" pitchFamily="34" charset="-128"/>
                <a:sym typeface="Symbol" panose="05050102010706020507" pitchFamily="18" charset="2"/>
              </a:rPr>
              <a:t> </a:t>
            </a:r>
            <a:r>
              <a:rPr lang="en-IN" baseline="-25000" dirty="0">
                <a:solidFill>
                  <a:srgbClr val="FF0000"/>
                </a:solidFill>
              </a:rPr>
              <a:t>L</a:t>
            </a:r>
            <a:r>
              <a:rPr lang="en-US" altLang="en-US" baseline="-46000" dirty="0">
                <a:solidFill>
                  <a:srgbClr val="FF0000"/>
                </a:solidFill>
                <a:sym typeface="Greek Symbols" pitchFamily="18" charset="2"/>
              </a:rPr>
              <a:t>1</a:t>
            </a:r>
            <a:r>
              <a:rPr lang="en-IN" baseline="-25000" dirty="0">
                <a:solidFill>
                  <a:srgbClr val="FF0000"/>
                </a:solidFill>
              </a:rPr>
              <a:t> </a:t>
            </a:r>
            <a:r>
              <a:rPr lang="en-US" altLang="en-US" baseline="-25000" dirty="0">
                <a:solidFill>
                  <a:srgbClr val="FF0000"/>
                </a:solidFill>
                <a:sym typeface="Symbol" panose="05050102010706020507" pitchFamily="18" charset="2"/>
              </a:rPr>
              <a:t> </a:t>
            </a:r>
            <a:r>
              <a:rPr lang="en-IN" baseline="-25000" dirty="0">
                <a:solidFill>
                  <a:srgbClr val="FF0000"/>
                </a:solidFill>
              </a:rPr>
              <a:t>L</a:t>
            </a:r>
            <a:r>
              <a:rPr lang="en-US" baseline="-46000" dirty="0">
                <a:solidFill>
                  <a:srgbClr val="FF0000"/>
                </a:solidFill>
                <a:sym typeface="Greek Symbols" pitchFamily="18" charset="2"/>
              </a:rPr>
              <a:t>2</a:t>
            </a:r>
            <a:r>
              <a:rPr lang="en-IN" dirty="0">
                <a:solidFill>
                  <a:srgbClr val="FF0000"/>
                </a:solidFill>
              </a:rPr>
              <a:t>(</a:t>
            </a:r>
            <a:r>
              <a:rPr lang="en-US" altLang="en-US" i="1" dirty="0">
                <a:solidFill>
                  <a:srgbClr val="FF0000"/>
                </a:solidFill>
              </a:rPr>
              <a:t>E</a:t>
            </a:r>
            <a:r>
              <a:rPr lang="en-US" altLang="en-US" baseline="-25000" dirty="0">
                <a:solidFill>
                  <a:srgbClr val="FF0000"/>
                </a:solidFill>
              </a:rPr>
              <a:t>1</a:t>
            </a:r>
            <a:r>
              <a:rPr lang="en-IN" altLang="en-US" dirty="0">
                <a:solidFill>
                  <a:srgbClr val="FF0000"/>
                </a:solidFill>
              </a:rPr>
              <a:t> ⨝</a:t>
            </a:r>
            <a:r>
              <a:rPr lang="en-US" altLang="en-US" baseline="-25000" dirty="0">
                <a:solidFill>
                  <a:srgbClr val="FF0000"/>
                </a:solidFill>
                <a:sym typeface="Symbol" panose="05050102010706020507" pitchFamily="18" charset="2"/>
              </a:rPr>
              <a:t></a:t>
            </a:r>
            <a:r>
              <a:rPr lang="en-US" altLang="en-US" i="1" dirty="0">
                <a:solidFill>
                  <a:srgbClr val="FF0000"/>
                </a:solidFill>
              </a:rPr>
              <a:t> </a:t>
            </a:r>
            <a:r>
              <a:rPr lang="en-US" altLang="en-US" baseline="-25000" dirty="0">
                <a:solidFill>
                  <a:srgbClr val="FF0000"/>
                </a:solidFill>
                <a:sym typeface="Symbol" panose="05050102010706020507" pitchFamily="18" charset="2"/>
              </a:rPr>
              <a:t> </a:t>
            </a:r>
            <a:r>
              <a:rPr lang="en-US" altLang="en-US" i="1" dirty="0">
                <a:solidFill>
                  <a:srgbClr val="FF0000"/>
                </a:solidFill>
              </a:rPr>
              <a:t>E</a:t>
            </a:r>
            <a:r>
              <a:rPr lang="en-US" altLang="en-US" i="1" baseline="-25000" dirty="0">
                <a:solidFill>
                  <a:srgbClr val="FF0000"/>
                </a:solidFill>
              </a:rPr>
              <a:t>2</a:t>
            </a:r>
            <a:r>
              <a:rPr lang="en-US" altLang="en-US" dirty="0">
                <a:solidFill>
                  <a:srgbClr val="FF0000"/>
                </a:solidFill>
              </a:rPr>
              <a:t>)     </a:t>
            </a:r>
            <a:r>
              <a:rPr lang="en-IN" dirty="0">
                <a:solidFill>
                  <a:srgbClr val="FF0000"/>
                </a:solidFill>
              </a:rPr>
              <a:t>≡     </a:t>
            </a:r>
            <a:r>
              <a:rPr lang="en-US" altLang="en-US" dirty="0">
                <a:solidFill>
                  <a:srgbClr val="FF0000"/>
                </a:solidFill>
                <a:ea typeface="MS PGothic" panose="020B0600070205080204" pitchFamily="34" charset="-128"/>
                <a:sym typeface="Symbol" panose="05050102010706020507" pitchFamily="18" charset="2"/>
              </a:rPr>
              <a:t> </a:t>
            </a:r>
            <a:r>
              <a:rPr lang="en-IN" baseline="-25000" dirty="0">
                <a:solidFill>
                  <a:srgbClr val="FF0000"/>
                </a:solidFill>
              </a:rPr>
              <a:t>L</a:t>
            </a:r>
            <a:r>
              <a:rPr lang="en-US" altLang="en-US" baseline="-46000" dirty="0">
                <a:solidFill>
                  <a:srgbClr val="FF0000"/>
                </a:solidFill>
                <a:sym typeface="Greek Symbols" pitchFamily="18" charset="2"/>
              </a:rPr>
              <a:t>1</a:t>
            </a:r>
            <a:r>
              <a:rPr lang="en-IN" dirty="0">
                <a:solidFill>
                  <a:srgbClr val="FF0000"/>
                </a:solidFill>
              </a:rPr>
              <a:t>(</a:t>
            </a:r>
            <a:r>
              <a:rPr lang="en-US" altLang="en-US" i="1" dirty="0">
                <a:solidFill>
                  <a:srgbClr val="FF0000"/>
                </a:solidFill>
              </a:rPr>
              <a:t>E</a:t>
            </a:r>
            <a:r>
              <a:rPr lang="en-US" altLang="en-US" baseline="-25000" dirty="0">
                <a:solidFill>
                  <a:srgbClr val="FF0000"/>
                </a:solidFill>
              </a:rPr>
              <a:t>1</a:t>
            </a:r>
            <a:r>
              <a:rPr lang="en-IN" altLang="en-US" dirty="0">
                <a:solidFill>
                  <a:srgbClr val="FF0000"/>
                </a:solidFill>
              </a:rPr>
              <a:t>) ⨝</a:t>
            </a:r>
            <a:r>
              <a:rPr lang="en-US" altLang="en-US" baseline="-25000" dirty="0">
                <a:solidFill>
                  <a:srgbClr val="FF0000"/>
                </a:solidFill>
                <a:sym typeface="Symbol" panose="05050102010706020507" pitchFamily="18" charset="2"/>
              </a:rPr>
              <a:t></a:t>
            </a:r>
            <a:r>
              <a:rPr lang="en-US" altLang="en-US" i="1" dirty="0">
                <a:solidFill>
                  <a:srgbClr val="FF0000"/>
                </a:solidFill>
              </a:rPr>
              <a:t> </a:t>
            </a:r>
            <a:r>
              <a:rPr lang="en-US" altLang="en-US" dirty="0">
                <a:solidFill>
                  <a:srgbClr val="FF0000"/>
                </a:solidFill>
                <a:ea typeface="MS PGothic" panose="020B0600070205080204" pitchFamily="34" charset="-128"/>
                <a:sym typeface="Symbol" panose="05050102010706020507" pitchFamily="18" charset="2"/>
              </a:rPr>
              <a:t> </a:t>
            </a:r>
            <a:r>
              <a:rPr lang="en-IN" baseline="-25000" dirty="0">
                <a:solidFill>
                  <a:srgbClr val="FF0000"/>
                </a:solidFill>
              </a:rPr>
              <a:t>L</a:t>
            </a:r>
            <a:r>
              <a:rPr lang="en-US" altLang="en-US" baseline="-46000" dirty="0">
                <a:solidFill>
                  <a:srgbClr val="FF0000"/>
                </a:solidFill>
                <a:sym typeface="Greek Symbols" pitchFamily="18" charset="2"/>
              </a:rPr>
              <a:t>2</a:t>
            </a:r>
            <a:r>
              <a:rPr lang="en-IN" dirty="0">
                <a:solidFill>
                  <a:srgbClr val="FF0000"/>
                </a:solidFill>
              </a:rPr>
              <a:t>(</a:t>
            </a:r>
            <a:r>
              <a:rPr lang="en-US" altLang="en-US" i="1" dirty="0">
                <a:solidFill>
                  <a:srgbClr val="FF0000"/>
                </a:solidFill>
              </a:rPr>
              <a:t>E</a:t>
            </a:r>
            <a:r>
              <a:rPr lang="en-US" altLang="en-US" i="1" baseline="-25000" dirty="0">
                <a:solidFill>
                  <a:srgbClr val="FF0000"/>
                </a:solidFill>
              </a:rPr>
              <a:t>2</a:t>
            </a:r>
            <a:r>
              <a:rPr lang="en-IN" altLang="en-US" dirty="0">
                <a:solidFill>
                  <a:srgbClr val="FF0000"/>
                </a:solidFill>
              </a:rPr>
              <a:t>)</a:t>
            </a:r>
            <a:r>
              <a:rPr lang="en-US" altLang="en-US" dirty="0">
                <a:solidFill>
                  <a:srgbClr val="FF0000"/>
                </a:solidFill>
              </a:rPr>
              <a:t> </a:t>
            </a:r>
            <a:r>
              <a:rPr lang="en-US" altLang="en-US" dirty="0">
                <a:sym typeface="Symbol" panose="05050102010706020507" pitchFamily="18" charset="2"/>
              </a:rPr>
              <a:t>	</a:t>
            </a:r>
          </a:p>
          <a:p>
            <a:pPr>
              <a:buNone/>
              <a:tabLst>
                <a:tab pos="2315766" algn="ctr"/>
              </a:tabLst>
            </a:pPr>
            <a:r>
              <a:rPr lang="en-US" altLang="en-US" dirty="0">
                <a:sym typeface="Symbol" panose="05050102010706020507" pitchFamily="18" charset="2"/>
              </a:rPr>
              <a:t>	(b) In general, consider a join </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i="1" dirty="0"/>
              <a:t> </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sym typeface="Greek Symbols" pitchFamily="18" charset="2"/>
              </a:rPr>
              <a:t>. </a:t>
            </a:r>
          </a:p>
          <a:p>
            <a:pPr lvl="1">
              <a:tabLst>
                <a:tab pos="2315766" algn="ctr"/>
              </a:tabLst>
            </a:pPr>
            <a:r>
              <a:rPr lang="en-US" altLang="en-US" dirty="0">
                <a:sym typeface="Greek Symbols" pitchFamily="18" charset="2"/>
              </a:rPr>
              <a:t> Let </a:t>
            </a:r>
            <a:r>
              <a:rPr lang="en-US" altLang="en-US" i="1" dirty="0">
                <a:sym typeface="Greek Symbols" pitchFamily="18" charset="2"/>
              </a:rPr>
              <a:t>L</a:t>
            </a:r>
            <a:r>
              <a:rPr lang="en-US" altLang="en-US" baseline="-25000" dirty="0">
                <a:sym typeface="Greek Symbols" pitchFamily="18" charset="2"/>
              </a:rPr>
              <a:t>1</a:t>
            </a:r>
            <a:r>
              <a:rPr lang="en-US" altLang="en-US" dirty="0">
                <a:sym typeface="Greek Symbols" pitchFamily="18" charset="2"/>
              </a:rPr>
              <a:t> and </a:t>
            </a:r>
            <a:r>
              <a:rPr lang="en-US" altLang="en-US" i="1" dirty="0">
                <a:sym typeface="Symbol" panose="05050102010706020507" pitchFamily="18" charset="2"/>
              </a:rPr>
              <a:t>L</a:t>
            </a:r>
            <a:r>
              <a:rPr lang="en-US" altLang="en-US" baseline="-25000" dirty="0">
                <a:sym typeface="Symbol" panose="05050102010706020507" pitchFamily="18" charset="2"/>
              </a:rPr>
              <a:t>2</a:t>
            </a:r>
            <a:r>
              <a:rPr lang="en-US" altLang="en-US" dirty="0">
                <a:sym typeface="Symbol" panose="05050102010706020507" pitchFamily="18" charset="2"/>
              </a:rPr>
              <a:t> be sets of attributes from </a:t>
            </a:r>
            <a:r>
              <a:rPr lang="en-US" altLang="en-US" i="1"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and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respectively.  </a:t>
            </a:r>
          </a:p>
          <a:p>
            <a:pPr lvl="1">
              <a:tabLst>
                <a:tab pos="2315766" algn="ctr"/>
              </a:tabLst>
            </a:pPr>
            <a:r>
              <a:rPr lang="en-US" altLang="en-US" dirty="0">
                <a:sym typeface="Greek Symbols" pitchFamily="18" charset="2"/>
              </a:rPr>
              <a:t>Let </a:t>
            </a:r>
            <a:r>
              <a:rPr lang="en-US" altLang="en-US" i="1" dirty="0">
                <a:sym typeface="Symbol" panose="05050102010706020507" pitchFamily="18" charset="2"/>
              </a:rPr>
              <a:t>L</a:t>
            </a:r>
            <a:r>
              <a:rPr lang="en-US" altLang="en-US" baseline="-25000" dirty="0">
                <a:sym typeface="Symbol" panose="05050102010706020507" pitchFamily="18" charset="2"/>
              </a:rPr>
              <a:t>3</a:t>
            </a:r>
            <a:r>
              <a:rPr lang="en-US" altLang="en-US" dirty="0">
                <a:sym typeface="Symbol" panose="05050102010706020507" pitchFamily="18" charset="2"/>
              </a:rPr>
              <a:t> be attributes of </a:t>
            </a:r>
            <a:r>
              <a:rPr lang="en-US" altLang="en-US" i="1"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that are involved in join condition </a:t>
            </a:r>
            <a:r>
              <a:rPr lang="en-US" altLang="en-US" i="1" dirty="0">
                <a:sym typeface="Greek Symbols" pitchFamily="18" charset="2"/>
              </a:rPr>
              <a:t>, </a:t>
            </a:r>
            <a:r>
              <a:rPr lang="en-US" altLang="en-US" dirty="0">
                <a:sym typeface="Greek Symbols" pitchFamily="18" charset="2"/>
              </a:rPr>
              <a:t>but are not in </a:t>
            </a:r>
            <a:r>
              <a:rPr lang="en-US" altLang="en-US" i="1" dirty="0">
                <a:sym typeface="Greek Symbols" pitchFamily="18" charset="2"/>
              </a:rPr>
              <a:t>L</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 </a:t>
            </a:r>
            <a:r>
              <a:rPr lang="en-US" altLang="en-US" i="1" dirty="0">
                <a:sym typeface="Symbol" panose="05050102010706020507" pitchFamily="18" charset="2"/>
              </a:rPr>
              <a:t>L</a:t>
            </a:r>
            <a:r>
              <a:rPr lang="en-US" altLang="en-US" baseline="-25000" dirty="0">
                <a:sym typeface="Symbol" panose="05050102010706020507" pitchFamily="18" charset="2"/>
              </a:rPr>
              <a:t>2</a:t>
            </a:r>
            <a:r>
              <a:rPr lang="en-US" altLang="en-US" dirty="0">
                <a:sym typeface="Symbol" panose="05050102010706020507" pitchFamily="18" charset="2"/>
              </a:rPr>
              <a:t>, and</a:t>
            </a:r>
          </a:p>
          <a:p>
            <a:pPr lvl="1">
              <a:tabLst>
                <a:tab pos="2315766" algn="ctr"/>
              </a:tabLst>
            </a:pPr>
            <a:r>
              <a:rPr lang="en-US" altLang="en-US" dirty="0">
                <a:sym typeface="Symbol" panose="05050102010706020507" pitchFamily="18" charset="2"/>
              </a:rPr>
              <a:t> let </a:t>
            </a:r>
            <a:r>
              <a:rPr lang="en-US" altLang="en-US" i="1" dirty="0">
                <a:sym typeface="Greek Symbols" pitchFamily="18" charset="2"/>
              </a:rPr>
              <a:t>L</a:t>
            </a:r>
            <a:r>
              <a:rPr lang="en-US" altLang="en-US" baseline="-25000" dirty="0">
                <a:sym typeface="Greek Symbols" pitchFamily="18" charset="2"/>
              </a:rPr>
              <a:t>4</a:t>
            </a:r>
            <a:r>
              <a:rPr lang="en-US" altLang="en-US" dirty="0">
                <a:sym typeface="Greek Symbols" pitchFamily="18" charset="2"/>
              </a:rPr>
              <a:t> be attributes of </a:t>
            </a:r>
            <a:r>
              <a:rPr lang="en-US" altLang="en-US" i="1" dirty="0">
                <a:sym typeface="Greek Symbols" pitchFamily="18" charset="2"/>
              </a:rPr>
              <a:t>E</a:t>
            </a:r>
            <a:r>
              <a:rPr lang="en-US" altLang="en-US" baseline="-25000" dirty="0">
                <a:sym typeface="Greek Symbols" pitchFamily="18" charset="2"/>
              </a:rPr>
              <a:t>2 </a:t>
            </a:r>
            <a:r>
              <a:rPr lang="en-US" altLang="en-US" dirty="0">
                <a:sym typeface="Greek Symbols" pitchFamily="18" charset="2"/>
              </a:rPr>
              <a:t>that are involved in join condition </a:t>
            </a:r>
            <a:r>
              <a:rPr lang="en-US" altLang="en-US" dirty="0">
                <a:sym typeface="Symbol" panose="05050102010706020507" pitchFamily="18" charset="2"/>
              </a:rPr>
              <a:t></a:t>
            </a:r>
            <a:r>
              <a:rPr lang="en-US" altLang="en-US" dirty="0">
                <a:sym typeface="Greek Symbols" pitchFamily="18" charset="2"/>
              </a:rPr>
              <a:t>, but are not in </a:t>
            </a:r>
            <a:r>
              <a:rPr lang="en-US" altLang="en-US" i="1" dirty="0">
                <a:sym typeface="Greek Symbols" pitchFamily="18" charset="2"/>
              </a:rPr>
              <a:t>L</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 </a:t>
            </a:r>
            <a:r>
              <a:rPr lang="en-US" altLang="en-US" i="1" dirty="0">
                <a:sym typeface="Symbol" panose="05050102010706020507" pitchFamily="18" charset="2"/>
              </a:rPr>
              <a:t>L</a:t>
            </a:r>
            <a:r>
              <a:rPr lang="en-US" altLang="en-US" baseline="-25000" dirty="0">
                <a:sym typeface="Symbol" panose="05050102010706020507" pitchFamily="18" charset="2"/>
              </a:rPr>
              <a:t>2</a:t>
            </a:r>
            <a:r>
              <a:rPr lang="en-US" altLang="en-US" dirty="0">
                <a:sym typeface="Symbol" panose="05050102010706020507" pitchFamily="18" charset="2"/>
              </a:rPr>
              <a:t>.</a:t>
            </a:r>
            <a:br>
              <a:rPr lang="en-US" altLang="en-US" dirty="0">
                <a:sym typeface="Symbol" panose="05050102010706020507" pitchFamily="18" charset="2"/>
              </a:rPr>
            </a:b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baseline="-25000" dirty="0"/>
              <a:t> </a:t>
            </a:r>
            <a:r>
              <a:rPr lang="en-US" altLang="en-US" baseline="-25000" dirty="0">
                <a:sym typeface="Symbol" panose="05050102010706020507" pitchFamily="18" charset="2"/>
              </a:rPr>
              <a:t> </a:t>
            </a:r>
            <a:r>
              <a:rPr lang="en-IN" baseline="-25000" dirty="0"/>
              <a:t>L</a:t>
            </a:r>
            <a:r>
              <a:rPr lang="en-US" baseline="-46000" dirty="0">
                <a:sym typeface="Greek Symbols" pitchFamily="18" charset="2"/>
              </a:rPr>
              <a:t>2</a:t>
            </a:r>
            <a:r>
              <a:rPr lang="en-IN" dirty="0"/>
              <a:t>(</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i="1" dirty="0"/>
              <a:t> </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t>)     </a:t>
            </a:r>
            <a:r>
              <a:rPr lang="en-IN" dirty="0"/>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baseline="-25000" dirty="0"/>
              <a:t> </a:t>
            </a:r>
            <a:r>
              <a:rPr lang="en-US" altLang="en-US" baseline="-25000" dirty="0">
                <a:sym typeface="Symbol" panose="05050102010706020507" pitchFamily="18" charset="2"/>
              </a:rPr>
              <a:t> </a:t>
            </a:r>
            <a:r>
              <a:rPr lang="en-IN" baseline="-25000" dirty="0"/>
              <a:t>L</a:t>
            </a:r>
            <a:r>
              <a:rPr lang="en-US" baseline="-46000" dirty="0">
                <a:sym typeface="Greek Symbols" pitchFamily="18" charset="2"/>
              </a:rPr>
              <a:t>2</a:t>
            </a:r>
            <a:r>
              <a:rPr lang="en-IN" dirty="0"/>
              <a:t>(</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baseline="-25000" dirty="0"/>
              <a:t> </a:t>
            </a:r>
            <a:r>
              <a:rPr lang="en-US" altLang="en-US" baseline="-25000" dirty="0">
                <a:sym typeface="Symbol" panose="05050102010706020507" pitchFamily="18" charset="2"/>
              </a:rPr>
              <a:t> </a:t>
            </a:r>
            <a:r>
              <a:rPr lang="en-IN" baseline="-25000" dirty="0"/>
              <a:t>L</a:t>
            </a:r>
            <a:r>
              <a:rPr lang="en-US" baseline="-46000" dirty="0">
                <a:sym typeface="Greek Symbols" pitchFamily="18" charset="2"/>
              </a:rPr>
              <a:t>3</a:t>
            </a:r>
            <a:r>
              <a:rPr lang="en-IN" dirty="0"/>
              <a:t>(</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i="1" dirty="0"/>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2</a:t>
            </a:r>
            <a:r>
              <a:rPr lang="en-IN" baseline="-25000" dirty="0"/>
              <a:t> </a:t>
            </a:r>
            <a:r>
              <a:rPr lang="en-US" altLang="en-US" baseline="-25000" dirty="0">
                <a:sym typeface="Symbol" panose="05050102010706020507" pitchFamily="18" charset="2"/>
              </a:rPr>
              <a:t> </a:t>
            </a:r>
            <a:r>
              <a:rPr lang="en-IN" baseline="-25000" dirty="0"/>
              <a:t>L</a:t>
            </a:r>
            <a:r>
              <a:rPr lang="en-US" baseline="-46000" dirty="0">
                <a:sym typeface="Greek Symbols" pitchFamily="18" charset="2"/>
              </a:rPr>
              <a:t>4</a:t>
            </a:r>
            <a:r>
              <a:rPr lang="en-IN" dirty="0"/>
              <a:t>(</a:t>
            </a:r>
            <a:r>
              <a:rPr lang="en-US" altLang="en-US" i="1" dirty="0"/>
              <a:t>E</a:t>
            </a:r>
            <a:r>
              <a:rPr lang="en-US" altLang="en-US" baseline="-25000" dirty="0"/>
              <a:t>2</a:t>
            </a:r>
            <a:r>
              <a:rPr lang="en-IN" altLang="en-US" dirty="0"/>
              <a:t>))</a:t>
            </a:r>
          </a:p>
          <a:p>
            <a:pPr lvl="1">
              <a:tabLst>
                <a:tab pos="2315766" algn="ctr"/>
              </a:tabLst>
            </a:pPr>
            <a:endParaRPr lang="en-IN" altLang="en-US" dirty="0"/>
          </a:p>
          <a:p>
            <a:pPr marL="342900" lvl="1" indent="0">
              <a:buNone/>
              <a:tabLst>
                <a:tab pos="2315766" algn="ctr"/>
              </a:tabLst>
            </a:pPr>
            <a:r>
              <a:rPr lang="en-IN" altLang="en-US" dirty="0"/>
              <a:t>Similar equivalences hold for </a:t>
            </a:r>
            <a:r>
              <a:rPr lang="en-IN" altLang="en-US" dirty="0" err="1"/>
              <a:t>outerjoin</a:t>
            </a:r>
            <a:r>
              <a:rPr lang="en-IN" altLang="en-US" dirty="0"/>
              <a:t> operations: </a:t>
            </a:r>
            <a:r>
              <a:rPr lang="en-IN" dirty="0"/>
              <a:t>⟕, ⟖, and ⟗</a:t>
            </a:r>
            <a:r>
              <a:rPr lang="en-IN" altLang="en-US" dirty="0"/>
              <a:t> </a:t>
            </a:r>
            <a:endParaRPr lang="en-US" altLang="en-US" dirty="0">
              <a:sym typeface="Symbol" panose="05050102010706020507" pitchFamily="18" charset="2"/>
            </a:endParaRPr>
          </a:p>
        </p:txBody>
      </p:sp>
      <p:sp>
        <p:nvSpPr>
          <p:cNvPr id="361474" name="Rectangle 2">
            <a:extLst>
              <a:ext uri="{FF2B5EF4-FFF2-40B4-BE49-F238E27FC236}">
                <a16:creationId xmlns:a16="http://schemas.microsoft.com/office/drawing/2014/main" id="{CC6BF4E4-7BA6-4F5E-9757-648842B6E43F}"/>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p>
        </p:txBody>
      </p:sp>
      <p:sp>
        <p:nvSpPr>
          <p:cNvPr id="2" name="TextBox 1">
            <a:extLst>
              <a:ext uri="{FF2B5EF4-FFF2-40B4-BE49-F238E27FC236}">
                <a16:creationId xmlns:a16="http://schemas.microsoft.com/office/drawing/2014/main" id="{F84298DE-F22D-1BB7-5ADF-77ACE568AD32}"/>
              </a:ext>
            </a:extLst>
          </p:cNvPr>
          <p:cNvSpPr txBox="1"/>
          <p:nvPr/>
        </p:nvSpPr>
        <p:spPr>
          <a:xfrm>
            <a:off x="304800" y="4019550"/>
            <a:ext cx="5323380" cy="738664"/>
          </a:xfrm>
          <a:prstGeom prst="rect">
            <a:avLst/>
          </a:prstGeom>
          <a:noFill/>
        </p:spPr>
        <p:txBody>
          <a:bodyPr wrap="none" rtlCol="0">
            <a:spAutoFit/>
          </a:bodyPr>
          <a:lstStyle/>
          <a:p>
            <a:r>
              <a:rPr lang="en-US" sz="1400" dirty="0">
                <a:solidFill>
                  <a:srgbClr val="FF0000"/>
                </a:solidFill>
              </a:rPr>
              <a:t>Think about this rule … …</a:t>
            </a:r>
          </a:p>
          <a:p>
            <a:pPr marL="742950" lvl="1" indent="-285750">
              <a:buFont typeface="Arial" panose="020B0604020202020204" pitchFamily="34" charset="0"/>
              <a:buChar char="•"/>
            </a:pPr>
            <a:r>
              <a:rPr lang="en-US" sz="1400" dirty="0">
                <a:solidFill>
                  <a:srgbClr val="FF0000"/>
                </a:solidFill>
              </a:rPr>
              <a:t>The project makes the buffer pool consumption smaller, and</a:t>
            </a:r>
          </a:p>
          <a:p>
            <a:pPr marL="742950" lvl="1" indent="-285750">
              <a:buFont typeface="Arial" panose="020B0604020202020204" pitchFamily="34" charset="0"/>
              <a:buChar char="•"/>
            </a:pPr>
            <a:r>
              <a:rPr lang="en-US" sz="1400" dirty="0">
                <a:solidFill>
                  <a:srgbClr val="FF0000"/>
                </a:solidFill>
              </a:rPr>
              <a:t>I can combine the rule with commutativity (from above).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651">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65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651">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6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a:extLst>
              <a:ext uri="{FF2B5EF4-FFF2-40B4-BE49-F238E27FC236}">
                <a16:creationId xmlns:a16="http://schemas.microsoft.com/office/drawing/2014/main" id="{A280E042-4593-4F00-8739-31BAD978BB0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p>
        </p:txBody>
      </p:sp>
      <mc:AlternateContent xmlns:mc="http://schemas.openxmlformats.org/markup-compatibility/2006" xmlns:a14="http://schemas.microsoft.com/office/drawing/2010/main">
        <mc:Choice Requires="a14">
          <p:sp>
            <p:nvSpPr>
              <p:cNvPr id="362499" name="Rectangle 3">
                <a:extLst>
                  <a:ext uri="{FF2B5EF4-FFF2-40B4-BE49-F238E27FC236}">
                    <a16:creationId xmlns:a16="http://schemas.microsoft.com/office/drawing/2014/main" id="{CD34A2FB-3E13-4F06-8207-CFF2D7389F2B}"/>
                  </a:ext>
                </a:extLst>
              </p:cNvPr>
              <p:cNvSpPr>
                <a:spLocks noGrp="1" noChangeArrowheads="1"/>
              </p:cNvSpPr>
              <p:nvPr>
                <p:ph idx="1"/>
              </p:nvPr>
            </p:nvSpPr>
            <p:spPr>
              <a:xfrm>
                <a:off x="1648326" y="822120"/>
                <a:ext cx="5551371" cy="3494810"/>
              </a:xfrm>
            </p:spPr>
            <p:txBody>
              <a:bodyPr/>
              <a:lstStyle/>
              <a:p>
                <a:pPr marL="0" indent="0">
                  <a:buNone/>
                  <a:tabLst>
                    <a:tab pos="1709738" algn="l"/>
                  </a:tabLst>
                </a:pPr>
                <a:r>
                  <a:rPr lang="en-US" altLang="en-US">
                    <a:solidFill>
                      <a:srgbClr val="002060"/>
                    </a:solidFill>
                  </a:rPr>
                  <a:t> 9.  </a:t>
                </a:r>
                <a:r>
                  <a:rPr lang="en-US" altLang="en-US"/>
                  <a:t>The set operations union and intersection are commutative</a:t>
                </a:r>
                <a:br>
                  <a:rPr lang="en-US" altLang="en-US"/>
                </a:br>
                <a:r>
                  <a:rPr lang="en-US" altLang="en-US"/>
                  <a:t>               </a:t>
                </a:r>
                <a:r>
                  <a:rPr lang="en-US" altLang="en-US" i="1"/>
                  <a:t>E</a:t>
                </a:r>
                <a:r>
                  <a:rPr lang="en-US" altLang="en-US" baseline="-25000"/>
                  <a:t>1</a:t>
                </a:r>
                <a:r>
                  <a:rPr lang="en-US" altLang="en-US"/>
                  <a:t> </a:t>
                </a:r>
                <a:r>
                  <a:rPr lang="en-US" altLang="en-US">
                    <a:sym typeface="Symbol" panose="05050102010706020507" pitchFamily="18" charset="2"/>
                  </a:rPr>
                  <a:t> </a:t>
                </a:r>
                <a:r>
                  <a:rPr lang="en-US" altLang="en-US" i="1">
                    <a:sym typeface="Symbol" panose="05050102010706020507" pitchFamily="18" charset="2"/>
                  </a:rPr>
                  <a:t>E</a:t>
                </a:r>
                <a:r>
                  <a:rPr lang="en-US" altLang="en-US" baseline="-25000">
                    <a:sym typeface="Symbol" panose="05050102010706020507" pitchFamily="18" charset="2"/>
                  </a:rPr>
                  <a:t>2     </a:t>
                </a:r>
                <a:r>
                  <a:rPr lang="en-IN"/>
                  <a:t>≡   </a:t>
                </a:r>
                <a:r>
                  <a:rPr lang="en-US" altLang="en-US" baseline="-25000">
                    <a:sym typeface="Symbol" panose="05050102010706020507" pitchFamily="18" charset="2"/>
                  </a:rPr>
                  <a:t> </a:t>
                </a:r>
                <a:r>
                  <a:rPr lang="en-US" altLang="en-US" i="1"/>
                  <a:t>E</a:t>
                </a:r>
                <a:r>
                  <a:rPr lang="en-US" altLang="en-US" baseline="-25000"/>
                  <a:t>2</a:t>
                </a:r>
                <a:r>
                  <a:rPr lang="en-US" altLang="en-US"/>
                  <a:t> </a:t>
                </a:r>
                <a:r>
                  <a:rPr lang="en-US" altLang="en-US">
                    <a:sym typeface="Symbol" panose="05050102010706020507" pitchFamily="18" charset="2"/>
                  </a:rPr>
                  <a:t> </a:t>
                </a:r>
                <a:r>
                  <a:rPr lang="en-US" altLang="en-US" i="1">
                    <a:sym typeface="Symbol" panose="05050102010706020507" pitchFamily="18" charset="2"/>
                  </a:rPr>
                  <a:t>E</a:t>
                </a:r>
                <a:r>
                  <a:rPr lang="en-US" altLang="en-US" baseline="-25000">
                    <a:sym typeface="Symbol" panose="05050102010706020507" pitchFamily="18" charset="2"/>
                  </a:rPr>
                  <a:t>1 </a:t>
                </a:r>
                <a:br>
                  <a:rPr lang="en-US" altLang="en-US" baseline="-25000">
                    <a:sym typeface="Symbol" panose="05050102010706020507" pitchFamily="18" charset="2"/>
                  </a:rPr>
                </a:br>
                <a:r>
                  <a:rPr lang="en-US" altLang="en-US"/>
                  <a:t>               </a:t>
                </a:r>
                <a:r>
                  <a:rPr lang="en-US" altLang="en-US" i="1" err="1"/>
                  <a:t>E</a:t>
                </a:r>
                <a:r>
                  <a:rPr lang="en-US" altLang="en-US" baseline="-25000" err="1"/>
                  <a:t>1</a:t>
                </a:r>
                <a:r>
                  <a:rPr lang="en-US" altLang="en-US"/>
                  <a:t> </a:t>
                </a:r>
                <a:r>
                  <a:rPr lang="en-US" altLang="en-US">
                    <a:sym typeface="Symbol" panose="05050102010706020507" pitchFamily="18" charset="2"/>
                  </a:rPr>
                  <a:t> </a:t>
                </a:r>
                <a:r>
                  <a:rPr lang="en-US" altLang="en-US" i="1">
                    <a:sym typeface="Symbol" panose="05050102010706020507" pitchFamily="18" charset="2"/>
                  </a:rPr>
                  <a:t>E</a:t>
                </a:r>
                <a:r>
                  <a:rPr lang="en-US" altLang="en-US" baseline="-25000">
                    <a:sym typeface="Symbol" panose="05050102010706020507" pitchFamily="18" charset="2"/>
                  </a:rPr>
                  <a:t>2     </a:t>
                </a:r>
                <a:r>
                  <a:rPr lang="en-IN"/>
                  <a:t>≡   </a:t>
                </a:r>
                <a:r>
                  <a:rPr lang="en-US" altLang="en-US" baseline="-25000">
                    <a:sym typeface="Symbol" panose="05050102010706020507" pitchFamily="18" charset="2"/>
                  </a:rPr>
                  <a:t> </a:t>
                </a:r>
                <a:r>
                  <a:rPr lang="en-US" altLang="en-US" i="1"/>
                  <a:t>E</a:t>
                </a:r>
                <a:r>
                  <a:rPr lang="en-US" altLang="en-US" baseline="-25000"/>
                  <a:t>2</a:t>
                </a:r>
                <a:r>
                  <a:rPr lang="en-US" altLang="en-US"/>
                  <a:t> </a:t>
                </a:r>
                <a:r>
                  <a:rPr lang="en-US" altLang="en-US">
                    <a:sym typeface="Symbol" panose="05050102010706020507" pitchFamily="18" charset="2"/>
                  </a:rPr>
                  <a:t> </a:t>
                </a:r>
                <a:r>
                  <a:rPr lang="en-US" altLang="en-US" i="1">
                    <a:sym typeface="Symbol" panose="05050102010706020507" pitchFamily="18" charset="2"/>
                  </a:rPr>
                  <a:t>E</a:t>
                </a:r>
                <a:r>
                  <a:rPr lang="en-US" altLang="en-US" baseline="-25000">
                    <a:sym typeface="Symbol" panose="05050102010706020507" pitchFamily="18" charset="2"/>
                  </a:rPr>
                  <a:t>1</a:t>
                </a:r>
                <a:br>
                  <a:rPr lang="en-US" altLang="en-US">
                    <a:sym typeface="Symbol" panose="05050102010706020507" pitchFamily="18" charset="2"/>
                  </a:rPr>
                </a:br>
                <a:r>
                  <a:rPr lang="en-US" altLang="en-US" i="1"/>
                  <a:t>       </a:t>
                </a:r>
                <a:r>
                  <a:rPr lang="en-US" altLang="en-US"/>
                  <a:t>(set difference is not commutative).</a:t>
                </a:r>
                <a:endParaRPr lang="en-US" altLang="en-US">
                  <a:sym typeface="Symbol" panose="05050102010706020507" pitchFamily="18" charset="2"/>
                </a:endParaRPr>
              </a:p>
              <a:p>
                <a:pPr marL="0" indent="0">
                  <a:buNone/>
                  <a:tabLst>
                    <a:tab pos="1709738" algn="l"/>
                  </a:tabLst>
                </a:pPr>
                <a:r>
                  <a:rPr lang="en-US" altLang="en-US">
                    <a:solidFill>
                      <a:srgbClr val="002060"/>
                    </a:solidFill>
                    <a:sym typeface="Symbol" panose="05050102010706020507" pitchFamily="18" charset="2"/>
                  </a:rPr>
                  <a:t>10.  </a:t>
                </a:r>
                <a:r>
                  <a:rPr lang="en-US" altLang="en-US">
                    <a:sym typeface="Symbol" panose="05050102010706020507" pitchFamily="18" charset="2"/>
                  </a:rPr>
                  <a:t>Set union and intersection are associative.</a:t>
                </a:r>
                <a:br>
                  <a:rPr lang="en-US" altLang="en-US">
                    <a:sym typeface="Symbol" panose="05050102010706020507" pitchFamily="18" charset="2"/>
                  </a:rPr>
                </a:br>
                <a:r>
                  <a:rPr lang="en-US" altLang="en-US">
                    <a:sym typeface="Symbol" panose="05050102010706020507" pitchFamily="18" charset="2"/>
                  </a:rPr>
                  <a:t>           </a:t>
                </a:r>
                <a:r>
                  <a:rPr lang="en-US" altLang="en-US"/>
                  <a:t> (</a:t>
                </a:r>
                <a:r>
                  <a:rPr lang="en-US" altLang="en-US" i="1"/>
                  <a:t>E</a:t>
                </a:r>
                <a:r>
                  <a:rPr lang="en-US" altLang="en-US" baseline="-25000"/>
                  <a:t>1</a:t>
                </a:r>
                <a:r>
                  <a:rPr lang="en-US" altLang="en-US"/>
                  <a:t> </a:t>
                </a:r>
                <a:r>
                  <a:rPr lang="en-US" altLang="en-US">
                    <a:sym typeface="Symbol" panose="05050102010706020507" pitchFamily="18" charset="2"/>
                  </a:rPr>
                  <a:t> </a:t>
                </a:r>
                <a:r>
                  <a:rPr lang="en-US" altLang="en-US" i="1">
                    <a:sym typeface="Symbol" panose="05050102010706020507" pitchFamily="18" charset="2"/>
                  </a:rPr>
                  <a:t>E</a:t>
                </a:r>
                <a:r>
                  <a:rPr lang="en-US" altLang="en-US" baseline="-25000">
                    <a:sym typeface="Symbol" panose="05050102010706020507" pitchFamily="18" charset="2"/>
                  </a:rPr>
                  <a:t>2 </a:t>
                </a:r>
                <a:r>
                  <a:rPr lang="en-IN"/>
                  <a:t>) </a:t>
                </a:r>
                <a:r>
                  <a:rPr lang="en-US" altLang="en-US">
                    <a:sym typeface="Symbol" panose="05050102010706020507" pitchFamily="18" charset="2"/>
                  </a:rPr>
                  <a:t> </a:t>
                </a:r>
                <a:r>
                  <a:rPr lang="en-US" altLang="en-US" i="1">
                    <a:sym typeface="Symbol" panose="05050102010706020507" pitchFamily="18" charset="2"/>
                  </a:rPr>
                  <a:t>E</a:t>
                </a:r>
                <a:r>
                  <a:rPr lang="en-US" altLang="en-US" baseline="-25000">
                    <a:sym typeface="Symbol" panose="05050102010706020507" pitchFamily="18" charset="2"/>
                  </a:rPr>
                  <a:t>3    </a:t>
                </a:r>
                <a:r>
                  <a:rPr lang="en-IN"/>
                  <a:t>≡</a:t>
                </a:r>
                <a:r>
                  <a:rPr lang="en-US" altLang="en-US" baseline="-25000">
                    <a:sym typeface="Symbol" panose="05050102010706020507" pitchFamily="18" charset="2"/>
                  </a:rPr>
                  <a:t>    </a:t>
                </a:r>
                <a:r>
                  <a:rPr lang="en-US" altLang="en-US" i="1"/>
                  <a:t>E</a:t>
                </a:r>
                <a:r>
                  <a:rPr lang="en-US" altLang="en-US" baseline="-25000"/>
                  <a:t>1</a:t>
                </a:r>
                <a:r>
                  <a:rPr lang="en-US" altLang="en-US"/>
                  <a:t> </a:t>
                </a:r>
                <a:r>
                  <a:rPr lang="en-US" altLang="en-US">
                    <a:sym typeface="Symbol" panose="05050102010706020507" pitchFamily="18" charset="2"/>
                  </a:rPr>
                  <a:t> </a:t>
                </a:r>
                <a:r>
                  <a:rPr lang="en-US" altLang="en-US"/>
                  <a:t>(</a:t>
                </a:r>
                <a:r>
                  <a:rPr lang="en-US" altLang="en-US" i="1">
                    <a:sym typeface="Symbol" panose="05050102010706020507" pitchFamily="18" charset="2"/>
                  </a:rPr>
                  <a:t>E</a:t>
                </a:r>
                <a:r>
                  <a:rPr lang="en-US" altLang="en-US" baseline="-25000">
                    <a:sym typeface="Symbol" panose="05050102010706020507" pitchFamily="18" charset="2"/>
                  </a:rPr>
                  <a:t>2</a:t>
                </a:r>
                <a:r>
                  <a:rPr lang="en-US" altLang="en-US">
                    <a:sym typeface="Symbol" panose="05050102010706020507" pitchFamily="18" charset="2"/>
                  </a:rPr>
                  <a:t>  </a:t>
                </a:r>
                <a:r>
                  <a:rPr lang="en-US" altLang="en-US" i="1">
                    <a:sym typeface="Symbol" panose="05050102010706020507" pitchFamily="18" charset="2"/>
                  </a:rPr>
                  <a:t>E</a:t>
                </a:r>
                <a:r>
                  <a:rPr lang="en-US" altLang="en-US" baseline="-25000">
                    <a:sym typeface="Symbol" panose="05050102010706020507" pitchFamily="18" charset="2"/>
                  </a:rPr>
                  <a:t>3</a:t>
                </a:r>
                <a:r>
                  <a:rPr lang="en-IN"/>
                  <a:t>)</a:t>
                </a:r>
                <a:r>
                  <a:rPr lang="en-US" altLang="en-US" baseline="-25000">
                    <a:sym typeface="Symbol" panose="05050102010706020507" pitchFamily="18" charset="2"/>
                  </a:rPr>
                  <a:t> </a:t>
                </a:r>
                <a:br>
                  <a:rPr lang="en-US" altLang="en-US" baseline="-25000">
                    <a:sym typeface="Symbol" panose="05050102010706020507" pitchFamily="18" charset="2"/>
                  </a:rPr>
                </a:br>
                <a:r>
                  <a:rPr lang="en-US" altLang="en-US" baseline="-25000">
                    <a:sym typeface="Symbol" panose="05050102010706020507" pitchFamily="18" charset="2"/>
                  </a:rPr>
                  <a:t>              </a:t>
                </a:r>
                <a:r>
                  <a:rPr lang="en-US" altLang="en-US">
                    <a:sym typeface="Symbol" panose="05050102010706020507" pitchFamily="18" charset="2"/>
                  </a:rPr>
                  <a:t>  </a:t>
                </a:r>
                <a:r>
                  <a:rPr lang="en-US" altLang="en-US"/>
                  <a:t> (</a:t>
                </a:r>
                <a:r>
                  <a:rPr lang="en-US" altLang="en-US" i="1"/>
                  <a:t>E</a:t>
                </a:r>
                <a:r>
                  <a:rPr lang="en-US" altLang="en-US" baseline="-25000"/>
                  <a:t>1</a:t>
                </a:r>
                <a:r>
                  <a:rPr lang="en-US" altLang="en-US"/>
                  <a:t> </a:t>
                </a:r>
                <a:r>
                  <a:rPr lang="en-US" altLang="en-US">
                    <a:sym typeface="Symbol" panose="05050102010706020507" pitchFamily="18" charset="2"/>
                  </a:rPr>
                  <a:t> </a:t>
                </a:r>
                <a:r>
                  <a:rPr lang="en-US" altLang="en-US" i="1">
                    <a:sym typeface="Symbol" panose="05050102010706020507" pitchFamily="18" charset="2"/>
                  </a:rPr>
                  <a:t>E</a:t>
                </a:r>
                <a:r>
                  <a:rPr lang="en-US" altLang="en-US" baseline="-25000">
                    <a:sym typeface="Symbol" panose="05050102010706020507" pitchFamily="18" charset="2"/>
                  </a:rPr>
                  <a:t>2 </a:t>
                </a:r>
                <a:r>
                  <a:rPr lang="en-IN"/>
                  <a:t>) </a:t>
                </a:r>
                <a:r>
                  <a:rPr lang="en-US" altLang="en-US">
                    <a:sym typeface="Symbol" panose="05050102010706020507" pitchFamily="18" charset="2"/>
                  </a:rPr>
                  <a:t> </a:t>
                </a:r>
                <a:r>
                  <a:rPr lang="en-US" altLang="en-US" i="1">
                    <a:sym typeface="Symbol" panose="05050102010706020507" pitchFamily="18" charset="2"/>
                  </a:rPr>
                  <a:t>E</a:t>
                </a:r>
                <a:r>
                  <a:rPr lang="en-US" altLang="en-US" baseline="-25000">
                    <a:sym typeface="Symbol" panose="05050102010706020507" pitchFamily="18" charset="2"/>
                  </a:rPr>
                  <a:t>3    </a:t>
                </a:r>
                <a:r>
                  <a:rPr lang="en-IN"/>
                  <a:t>≡   </a:t>
                </a:r>
                <a:r>
                  <a:rPr lang="en-US" altLang="en-US" baseline="-25000">
                    <a:sym typeface="Symbol" panose="05050102010706020507" pitchFamily="18" charset="2"/>
                  </a:rPr>
                  <a:t> </a:t>
                </a:r>
                <a:r>
                  <a:rPr lang="en-US" altLang="en-US" i="1"/>
                  <a:t>E</a:t>
                </a:r>
                <a:r>
                  <a:rPr lang="en-US" altLang="en-US" baseline="-25000"/>
                  <a:t>1</a:t>
                </a:r>
                <a:r>
                  <a:rPr lang="en-US" altLang="en-US"/>
                  <a:t> </a:t>
                </a:r>
                <a:r>
                  <a:rPr lang="en-US" altLang="en-US">
                    <a:sym typeface="Symbol" panose="05050102010706020507" pitchFamily="18" charset="2"/>
                  </a:rPr>
                  <a:t> </a:t>
                </a:r>
                <a:r>
                  <a:rPr lang="en-US" altLang="en-US"/>
                  <a:t>(</a:t>
                </a:r>
                <a:r>
                  <a:rPr lang="en-US" altLang="en-US" i="1">
                    <a:sym typeface="Symbol" panose="05050102010706020507" pitchFamily="18" charset="2"/>
                  </a:rPr>
                  <a:t>E</a:t>
                </a:r>
                <a:r>
                  <a:rPr lang="en-US" altLang="en-US" baseline="-25000">
                    <a:sym typeface="Symbol" panose="05050102010706020507" pitchFamily="18" charset="2"/>
                  </a:rPr>
                  <a:t>2</a:t>
                </a:r>
                <a:r>
                  <a:rPr lang="en-US" altLang="en-US">
                    <a:sym typeface="Symbol" panose="05050102010706020507" pitchFamily="18" charset="2"/>
                  </a:rPr>
                  <a:t>  </a:t>
                </a:r>
                <a:r>
                  <a:rPr lang="en-US" altLang="en-US" i="1">
                    <a:sym typeface="Symbol" panose="05050102010706020507" pitchFamily="18" charset="2"/>
                  </a:rPr>
                  <a:t>E</a:t>
                </a:r>
                <a:r>
                  <a:rPr lang="en-US" altLang="en-US" baseline="-25000">
                    <a:sym typeface="Symbol" panose="05050102010706020507" pitchFamily="18" charset="2"/>
                  </a:rPr>
                  <a:t>3</a:t>
                </a:r>
                <a:r>
                  <a:rPr lang="en-IN"/>
                  <a:t>)</a:t>
                </a:r>
                <a:r>
                  <a:rPr lang="en-US" altLang="en-US" baseline="-25000">
                    <a:sym typeface="Symbol" panose="05050102010706020507" pitchFamily="18" charset="2"/>
                  </a:rPr>
                  <a:t> </a:t>
                </a:r>
                <a:endParaRPr lang="en-US" altLang="en-US">
                  <a:sym typeface="Symbol" panose="05050102010706020507" pitchFamily="18" charset="2"/>
                </a:endParaRPr>
              </a:p>
              <a:p>
                <a:pPr marL="0" indent="0">
                  <a:buNone/>
                  <a:tabLst>
                    <a:tab pos="1709738" algn="l"/>
                  </a:tabLst>
                </a:pPr>
                <a:r>
                  <a:rPr lang="en-US" altLang="en-US">
                    <a:solidFill>
                      <a:srgbClr val="002060"/>
                    </a:solidFill>
                    <a:sym typeface="Symbol" panose="05050102010706020507" pitchFamily="18" charset="2"/>
                  </a:rPr>
                  <a:t>11.  </a:t>
                </a:r>
                <a:r>
                  <a:rPr lang="en-US" altLang="en-US">
                    <a:sym typeface="Symbol" panose="05050102010706020507" pitchFamily="18" charset="2"/>
                  </a:rPr>
                  <a:t>The selection operation distributes over ,  and –. </a:t>
                </a:r>
                <a:br>
                  <a:rPr lang="en-US" altLang="en-US">
                    <a:sym typeface="Symbol" panose="05050102010706020507" pitchFamily="18" charset="2"/>
                  </a:rPr>
                </a:br>
                <a:r>
                  <a:rPr lang="en-IN" altLang="en-US" i="1">
                    <a:latin typeface="Cambria Math" panose="02040503050406030204" pitchFamily="18" charset="0"/>
                  </a:rPr>
                  <a:t> </a:t>
                </a:r>
                <a14:m>
                  <m:oMath xmlns:m="http://schemas.openxmlformats.org/officeDocument/2006/math">
                    <m:r>
                      <m:rPr>
                        <m:nor/>
                      </m:rPr>
                      <a:rPr lang="en-US" altLang="en-US" dirty="0"/>
                      <m:t>	</m:t>
                    </m:r>
                  </m:oMath>
                </a14:m>
                <a:r>
                  <a:rPr lang="en-US" altLang="en-US">
                    <a:sym typeface="Symbol" panose="05050102010706020507" pitchFamily="18" charset="2"/>
                  </a:rPr>
                  <a:t>           a.  </a:t>
                </a:r>
                <a:r>
                  <a:rPr lang="en-US" altLang="en-US" i="1">
                    <a:sym typeface="Symbol" panose="05050102010706020507" pitchFamily="18" charset="2"/>
                  </a:rPr>
                  <a:t></a:t>
                </a:r>
                <a:r>
                  <a:rPr lang="en-US" altLang="en-US" baseline="-25000">
                    <a:sym typeface="Symbol" panose="05050102010706020507" pitchFamily="18" charset="2"/>
                  </a:rPr>
                  <a:t></a:t>
                </a:r>
                <a:r>
                  <a:rPr lang="en-US" altLang="en-US" i="1">
                    <a:sym typeface="Symbol" panose="05050102010706020507" pitchFamily="18" charset="2"/>
                  </a:rPr>
                  <a:t> </a:t>
                </a:r>
                <a:r>
                  <a:rPr lang="en-US" altLang="en-US">
                    <a:sym typeface="Greek Symbols" pitchFamily="18" charset="2"/>
                  </a:rPr>
                  <a:t>(</a:t>
                </a:r>
                <a:r>
                  <a:rPr lang="en-US" altLang="en-US" i="1">
                    <a:sym typeface="Greek Symbols" pitchFamily="18" charset="2"/>
                  </a:rPr>
                  <a:t>E</a:t>
                </a:r>
                <a:r>
                  <a:rPr lang="en-US" altLang="en-US" baseline="-25000">
                    <a:sym typeface="Greek Symbols" pitchFamily="18" charset="2"/>
                  </a:rPr>
                  <a:t>1</a:t>
                </a:r>
                <a:r>
                  <a:rPr lang="en-US" altLang="en-US">
                    <a:sym typeface="Greek Symbols" pitchFamily="18" charset="2"/>
                  </a:rPr>
                  <a:t> </a:t>
                </a:r>
                <a:r>
                  <a:rPr lang="en-US" altLang="en-US">
                    <a:sym typeface="Symbol" panose="05050102010706020507" pitchFamily="18" charset="2"/>
                  </a:rPr>
                  <a:t></a:t>
                </a:r>
                <a:r>
                  <a:rPr lang="en-US" altLang="en-US">
                    <a:sym typeface="Greek Symbols" pitchFamily="18" charset="2"/>
                  </a:rPr>
                  <a:t> </a:t>
                </a:r>
                <a:r>
                  <a:rPr lang="en-US" altLang="en-US" i="1">
                    <a:sym typeface="Greek Symbols" pitchFamily="18" charset="2"/>
                  </a:rPr>
                  <a:t>E</a:t>
                </a:r>
                <a:r>
                  <a:rPr lang="en-US" altLang="en-US" baseline="-25000">
                    <a:sym typeface="Greek Symbols" pitchFamily="18" charset="2"/>
                  </a:rPr>
                  <a:t>2</a:t>
                </a:r>
                <a:r>
                  <a:rPr lang="en-US" altLang="en-US">
                    <a:sym typeface="Greek Symbols" pitchFamily="18" charset="2"/>
                  </a:rPr>
                  <a:t>)    </a:t>
                </a:r>
                <a:r>
                  <a:rPr lang="en-IN"/>
                  <a:t>≡   </a:t>
                </a:r>
                <a:r>
                  <a:rPr lang="en-US" altLang="en-US">
                    <a:sym typeface="Greek Symbols" pitchFamily="18" charset="2"/>
                  </a:rPr>
                  <a:t> </a:t>
                </a:r>
                <a:r>
                  <a:rPr lang="en-US" altLang="en-US" i="1">
                    <a:sym typeface="Symbol" panose="05050102010706020507" pitchFamily="18" charset="2"/>
                  </a:rPr>
                  <a:t></a:t>
                </a:r>
                <a:r>
                  <a:rPr lang="en-US" altLang="en-US" baseline="-25000">
                    <a:sym typeface="Symbol" panose="05050102010706020507" pitchFamily="18" charset="2"/>
                  </a:rPr>
                  <a:t></a:t>
                </a:r>
                <a:r>
                  <a:rPr lang="en-US" altLang="en-US" i="1">
                    <a:sym typeface="Greek Symbols" pitchFamily="18" charset="2"/>
                  </a:rPr>
                  <a:t> </a:t>
                </a:r>
                <a:r>
                  <a:rPr lang="en-US" altLang="en-US">
                    <a:sym typeface="Greek Symbols" pitchFamily="18" charset="2"/>
                  </a:rPr>
                  <a:t>(</a:t>
                </a:r>
                <a:r>
                  <a:rPr lang="en-US" altLang="en-US" i="1">
                    <a:sym typeface="Greek Symbols" pitchFamily="18" charset="2"/>
                  </a:rPr>
                  <a:t>E</a:t>
                </a:r>
                <a:r>
                  <a:rPr lang="en-US" altLang="en-US" baseline="-25000">
                    <a:sym typeface="Greek Symbols" pitchFamily="18" charset="2"/>
                  </a:rPr>
                  <a:t>1</a:t>
                </a:r>
                <a:r>
                  <a:rPr lang="en-US" altLang="en-US">
                    <a:sym typeface="Greek Symbols" pitchFamily="18" charset="2"/>
                  </a:rPr>
                  <a:t>) </a:t>
                </a:r>
                <a:r>
                  <a:rPr lang="en-US" altLang="en-US">
                    <a:sym typeface="Symbol" panose="05050102010706020507" pitchFamily="18" charset="2"/>
                  </a:rPr>
                  <a:t></a:t>
                </a:r>
                <a:r>
                  <a:rPr lang="en-US" altLang="en-US">
                    <a:sym typeface="Greek Symbols" pitchFamily="18" charset="2"/>
                  </a:rPr>
                  <a:t> </a:t>
                </a:r>
                <a:r>
                  <a:rPr lang="en-US" altLang="en-US" i="1">
                    <a:sym typeface="Symbol" panose="05050102010706020507" pitchFamily="18" charset="2"/>
                  </a:rPr>
                  <a:t></a:t>
                </a:r>
                <a:r>
                  <a:rPr lang="en-US" altLang="en-US" baseline="-25000">
                    <a:sym typeface="Symbol" panose="05050102010706020507" pitchFamily="18" charset="2"/>
                  </a:rPr>
                  <a:t></a:t>
                </a:r>
                <a:r>
                  <a:rPr lang="en-US" altLang="en-US">
                    <a:sym typeface="Greek Symbols" pitchFamily="18" charset="2"/>
                  </a:rPr>
                  <a:t>(</a:t>
                </a:r>
                <a:r>
                  <a:rPr lang="en-US" altLang="en-US" i="1">
                    <a:sym typeface="Greek Symbols" pitchFamily="18" charset="2"/>
                  </a:rPr>
                  <a:t>E</a:t>
                </a:r>
                <a:r>
                  <a:rPr lang="en-US" altLang="en-US" baseline="-25000">
                    <a:sym typeface="Greek Symbols" pitchFamily="18" charset="2"/>
                  </a:rPr>
                  <a:t>2</a:t>
                </a:r>
                <a:r>
                  <a:rPr lang="en-US" altLang="en-US">
                    <a:sym typeface="Greek Symbols" pitchFamily="18" charset="2"/>
                  </a:rPr>
                  <a:t>)</a:t>
                </a:r>
                <a:br>
                  <a:rPr lang="en-US" altLang="en-US">
                    <a:sym typeface="Greek Symbols" pitchFamily="18" charset="2"/>
                  </a:rPr>
                </a:br>
                <a:r>
                  <a:rPr lang="en-US" altLang="en-US">
                    <a:sym typeface="Greek Symbols" pitchFamily="18" charset="2"/>
                  </a:rPr>
                  <a:t>            b.  </a:t>
                </a:r>
                <a:r>
                  <a:rPr lang="en-US" altLang="en-US" i="1">
                    <a:sym typeface="Symbol" panose="05050102010706020507" pitchFamily="18" charset="2"/>
                  </a:rPr>
                  <a:t></a:t>
                </a:r>
                <a:r>
                  <a:rPr lang="en-US" altLang="en-US" baseline="-25000">
                    <a:sym typeface="Symbol" panose="05050102010706020507" pitchFamily="18" charset="2"/>
                  </a:rPr>
                  <a:t></a:t>
                </a:r>
                <a:r>
                  <a:rPr lang="en-US" altLang="en-US" i="1">
                    <a:sym typeface="Symbol" panose="05050102010706020507" pitchFamily="18" charset="2"/>
                  </a:rPr>
                  <a:t> </a:t>
                </a:r>
                <a:r>
                  <a:rPr lang="en-US" altLang="en-US">
                    <a:sym typeface="Greek Symbols" pitchFamily="18" charset="2"/>
                  </a:rPr>
                  <a:t>(</a:t>
                </a:r>
                <a:r>
                  <a:rPr lang="en-US" altLang="en-US" i="1">
                    <a:sym typeface="Greek Symbols" pitchFamily="18" charset="2"/>
                  </a:rPr>
                  <a:t>E</a:t>
                </a:r>
                <a:r>
                  <a:rPr lang="en-US" altLang="en-US" baseline="-25000">
                    <a:sym typeface="Greek Symbols" pitchFamily="18" charset="2"/>
                  </a:rPr>
                  <a:t>1</a:t>
                </a:r>
                <a:r>
                  <a:rPr lang="en-US" altLang="en-US">
                    <a:sym typeface="Greek Symbols" pitchFamily="18" charset="2"/>
                  </a:rPr>
                  <a:t> </a:t>
                </a:r>
                <a:r>
                  <a:rPr lang="en-US" altLang="en-US">
                    <a:sym typeface="Symbol" panose="05050102010706020507" pitchFamily="18" charset="2"/>
                  </a:rPr>
                  <a:t></a:t>
                </a:r>
                <a:r>
                  <a:rPr lang="en-US" altLang="en-US">
                    <a:sym typeface="Greek Symbols" pitchFamily="18" charset="2"/>
                  </a:rPr>
                  <a:t> </a:t>
                </a:r>
                <a:r>
                  <a:rPr lang="en-US" altLang="en-US" i="1">
                    <a:sym typeface="Greek Symbols" pitchFamily="18" charset="2"/>
                  </a:rPr>
                  <a:t>E</a:t>
                </a:r>
                <a:r>
                  <a:rPr lang="en-US" altLang="en-US" baseline="-25000">
                    <a:sym typeface="Greek Symbols" pitchFamily="18" charset="2"/>
                  </a:rPr>
                  <a:t>2</a:t>
                </a:r>
                <a:r>
                  <a:rPr lang="en-US" altLang="en-US">
                    <a:sym typeface="Greek Symbols" pitchFamily="18" charset="2"/>
                  </a:rPr>
                  <a:t>)    </a:t>
                </a:r>
                <a:r>
                  <a:rPr lang="en-IN"/>
                  <a:t>≡</a:t>
                </a:r>
                <a:r>
                  <a:rPr lang="en-US" altLang="en-US">
                    <a:sym typeface="Greek Symbols" pitchFamily="18" charset="2"/>
                  </a:rPr>
                  <a:t>    </a:t>
                </a:r>
                <a:r>
                  <a:rPr lang="en-US" altLang="en-US" i="1">
                    <a:sym typeface="Symbol" panose="05050102010706020507" pitchFamily="18" charset="2"/>
                  </a:rPr>
                  <a:t></a:t>
                </a:r>
                <a:r>
                  <a:rPr lang="en-US" altLang="en-US" baseline="-25000">
                    <a:sym typeface="Symbol" panose="05050102010706020507" pitchFamily="18" charset="2"/>
                  </a:rPr>
                  <a:t></a:t>
                </a:r>
                <a:r>
                  <a:rPr lang="en-US" altLang="en-US" i="1">
                    <a:sym typeface="Greek Symbols" pitchFamily="18" charset="2"/>
                  </a:rPr>
                  <a:t> </a:t>
                </a:r>
                <a:r>
                  <a:rPr lang="en-US" altLang="en-US">
                    <a:sym typeface="Greek Symbols" pitchFamily="18" charset="2"/>
                  </a:rPr>
                  <a:t>(</a:t>
                </a:r>
                <a:r>
                  <a:rPr lang="en-US" altLang="en-US" i="1">
                    <a:sym typeface="Greek Symbols" pitchFamily="18" charset="2"/>
                  </a:rPr>
                  <a:t>E</a:t>
                </a:r>
                <a:r>
                  <a:rPr lang="en-US" altLang="en-US" baseline="-25000">
                    <a:sym typeface="Greek Symbols" pitchFamily="18" charset="2"/>
                  </a:rPr>
                  <a:t>1</a:t>
                </a:r>
                <a:r>
                  <a:rPr lang="en-US" altLang="en-US">
                    <a:sym typeface="Greek Symbols" pitchFamily="18" charset="2"/>
                  </a:rPr>
                  <a:t>) </a:t>
                </a:r>
                <a:r>
                  <a:rPr lang="en-US" altLang="en-US">
                    <a:sym typeface="Symbol" panose="05050102010706020507" pitchFamily="18" charset="2"/>
                  </a:rPr>
                  <a:t></a:t>
                </a:r>
                <a:r>
                  <a:rPr lang="en-US" altLang="en-US">
                    <a:sym typeface="Greek Symbols" pitchFamily="18" charset="2"/>
                  </a:rPr>
                  <a:t> </a:t>
                </a:r>
                <a:r>
                  <a:rPr lang="en-US" altLang="en-US" i="1">
                    <a:sym typeface="Symbol" panose="05050102010706020507" pitchFamily="18" charset="2"/>
                  </a:rPr>
                  <a:t></a:t>
                </a:r>
                <a:r>
                  <a:rPr lang="en-US" altLang="en-US" baseline="-25000">
                    <a:sym typeface="Symbol" panose="05050102010706020507" pitchFamily="18" charset="2"/>
                  </a:rPr>
                  <a:t></a:t>
                </a:r>
                <a:r>
                  <a:rPr lang="en-US" altLang="en-US">
                    <a:sym typeface="Greek Symbols" pitchFamily="18" charset="2"/>
                  </a:rPr>
                  <a:t>(</a:t>
                </a:r>
                <a:r>
                  <a:rPr lang="en-US" altLang="en-US" i="1">
                    <a:sym typeface="Greek Symbols" pitchFamily="18" charset="2"/>
                  </a:rPr>
                  <a:t>E</a:t>
                </a:r>
                <a:r>
                  <a:rPr lang="en-US" altLang="en-US" baseline="-25000">
                    <a:sym typeface="Greek Symbols" pitchFamily="18" charset="2"/>
                  </a:rPr>
                  <a:t>2</a:t>
                </a:r>
                <a:r>
                  <a:rPr lang="en-US" altLang="en-US">
                    <a:sym typeface="Greek Symbols" pitchFamily="18" charset="2"/>
                  </a:rPr>
                  <a:t>)</a:t>
                </a:r>
                <a:br>
                  <a:rPr lang="en-US" altLang="en-US">
                    <a:sym typeface="Greek Symbols" pitchFamily="18" charset="2"/>
                  </a:rPr>
                </a:br>
                <a:r>
                  <a:rPr lang="en-US" altLang="en-US">
                    <a:sym typeface="Greek Symbols" pitchFamily="18" charset="2"/>
                  </a:rPr>
                  <a:t>            c.   </a:t>
                </a:r>
                <a:r>
                  <a:rPr lang="en-US" altLang="en-US" i="1">
                    <a:sym typeface="Symbol" panose="05050102010706020507" pitchFamily="18" charset="2"/>
                  </a:rPr>
                  <a:t></a:t>
                </a:r>
                <a:r>
                  <a:rPr lang="en-US" altLang="en-US" baseline="-25000">
                    <a:sym typeface="Symbol" panose="05050102010706020507" pitchFamily="18" charset="2"/>
                  </a:rPr>
                  <a:t></a:t>
                </a:r>
                <a:r>
                  <a:rPr lang="en-US" altLang="en-US" i="1">
                    <a:sym typeface="Symbol" panose="05050102010706020507" pitchFamily="18" charset="2"/>
                  </a:rPr>
                  <a:t> </a:t>
                </a:r>
                <a:r>
                  <a:rPr lang="en-US" altLang="en-US">
                    <a:sym typeface="Greek Symbols" pitchFamily="18" charset="2"/>
                  </a:rPr>
                  <a:t>(</a:t>
                </a:r>
                <a:r>
                  <a:rPr lang="en-US" altLang="en-US" i="1">
                    <a:sym typeface="Greek Symbols" pitchFamily="18" charset="2"/>
                  </a:rPr>
                  <a:t>E</a:t>
                </a:r>
                <a:r>
                  <a:rPr lang="en-US" altLang="en-US" baseline="-25000">
                    <a:sym typeface="Greek Symbols" pitchFamily="18" charset="2"/>
                  </a:rPr>
                  <a:t>1</a:t>
                </a:r>
                <a:r>
                  <a:rPr lang="en-US" altLang="en-US">
                    <a:sym typeface="Greek Symbols" pitchFamily="18" charset="2"/>
                  </a:rPr>
                  <a:t> – </a:t>
                </a:r>
                <a:r>
                  <a:rPr lang="en-US" altLang="en-US" i="1">
                    <a:sym typeface="Greek Symbols" pitchFamily="18" charset="2"/>
                  </a:rPr>
                  <a:t>E</a:t>
                </a:r>
                <a:r>
                  <a:rPr lang="en-US" altLang="en-US" baseline="-25000">
                    <a:sym typeface="Greek Symbols" pitchFamily="18" charset="2"/>
                  </a:rPr>
                  <a:t>2</a:t>
                </a:r>
                <a:r>
                  <a:rPr lang="en-US" altLang="en-US">
                    <a:sym typeface="Greek Symbols" pitchFamily="18" charset="2"/>
                  </a:rPr>
                  <a:t>)    </a:t>
                </a:r>
                <a:r>
                  <a:rPr lang="en-IN"/>
                  <a:t>≡   </a:t>
                </a:r>
                <a:r>
                  <a:rPr lang="en-US" altLang="en-US">
                    <a:sym typeface="Greek Symbols" pitchFamily="18" charset="2"/>
                  </a:rPr>
                  <a:t> </a:t>
                </a:r>
                <a:r>
                  <a:rPr lang="en-US" altLang="en-US" i="1">
                    <a:sym typeface="Symbol" panose="05050102010706020507" pitchFamily="18" charset="2"/>
                  </a:rPr>
                  <a:t></a:t>
                </a:r>
                <a:r>
                  <a:rPr lang="en-US" altLang="en-US" baseline="-25000">
                    <a:sym typeface="Symbol" panose="05050102010706020507" pitchFamily="18" charset="2"/>
                  </a:rPr>
                  <a:t></a:t>
                </a:r>
                <a:r>
                  <a:rPr lang="en-US" altLang="en-US" i="1">
                    <a:sym typeface="Greek Symbols" pitchFamily="18" charset="2"/>
                  </a:rPr>
                  <a:t> </a:t>
                </a:r>
                <a:r>
                  <a:rPr lang="en-US" altLang="en-US">
                    <a:sym typeface="Greek Symbols" pitchFamily="18" charset="2"/>
                  </a:rPr>
                  <a:t>(</a:t>
                </a:r>
                <a:r>
                  <a:rPr lang="en-US" altLang="en-US" i="1">
                    <a:sym typeface="Greek Symbols" pitchFamily="18" charset="2"/>
                  </a:rPr>
                  <a:t>E</a:t>
                </a:r>
                <a:r>
                  <a:rPr lang="en-US" altLang="en-US" baseline="-25000">
                    <a:sym typeface="Greek Symbols" pitchFamily="18" charset="2"/>
                  </a:rPr>
                  <a:t>1</a:t>
                </a:r>
                <a:r>
                  <a:rPr lang="en-US" altLang="en-US">
                    <a:sym typeface="Greek Symbols" pitchFamily="18" charset="2"/>
                  </a:rPr>
                  <a:t>) – </a:t>
                </a:r>
                <a:r>
                  <a:rPr lang="en-US" altLang="en-US" i="1">
                    <a:sym typeface="Symbol" panose="05050102010706020507" pitchFamily="18" charset="2"/>
                  </a:rPr>
                  <a:t></a:t>
                </a:r>
                <a:r>
                  <a:rPr lang="en-US" altLang="en-US" baseline="-25000">
                    <a:sym typeface="Symbol" panose="05050102010706020507" pitchFamily="18" charset="2"/>
                  </a:rPr>
                  <a:t></a:t>
                </a:r>
                <a:r>
                  <a:rPr lang="en-US" altLang="en-US">
                    <a:sym typeface="Greek Symbols" pitchFamily="18" charset="2"/>
                  </a:rPr>
                  <a:t>(</a:t>
                </a:r>
                <a:r>
                  <a:rPr lang="en-US" altLang="en-US" i="1">
                    <a:sym typeface="Greek Symbols" pitchFamily="18" charset="2"/>
                  </a:rPr>
                  <a:t>E</a:t>
                </a:r>
                <a:r>
                  <a:rPr lang="en-US" altLang="en-US" baseline="-25000">
                    <a:sym typeface="Greek Symbols" pitchFamily="18" charset="2"/>
                  </a:rPr>
                  <a:t>2</a:t>
                </a:r>
                <a:r>
                  <a:rPr lang="en-US" altLang="en-US">
                    <a:sym typeface="Greek Symbols" pitchFamily="18" charset="2"/>
                  </a:rPr>
                  <a:t>)</a:t>
                </a:r>
                <a:br>
                  <a:rPr lang="en-US" altLang="en-US">
                    <a:sym typeface="Greek Symbols" pitchFamily="18" charset="2"/>
                  </a:rPr>
                </a:br>
                <a:r>
                  <a:rPr lang="en-US" altLang="en-US">
                    <a:sym typeface="Greek Symbols" pitchFamily="18" charset="2"/>
                  </a:rPr>
                  <a:t>            d.   </a:t>
                </a:r>
                <a:r>
                  <a:rPr lang="en-US" altLang="en-US" i="1">
                    <a:sym typeface="Symbol" panose="05050102010706020507" pitchFamily="18" charset="2"/>
                  </a:rPr>
                  <a:t></a:t>
                </a:r>
                <a:r>
                  <a:rPr lang="en-US" altLang="en-US" baseline="-25000">
                    <a:sym typeface="Symbol" panose="05050102010706020507" pitchFamily="18" charset="2"/>
                  </a:rPr>
                  <a:t></a:t>
                </a:r>
                <a:r>
                  <a:rPr lang="en-US" altLang="en-US" i="1">
                    <a:sym typeface="Greek Symbols" pitchFamily="18" charset="2"/>
                  </a:rPr>
                  <a:t> </a:t>
                </a:r>
                <a:r>
                  <a:rPr lang="en-US" altLang="en-US">
                    <a:sym typeface="Greek Symbols" pitchFamily="18" charset="2"/>
                  </a:rPr>
                  <a:t>(</a:t>
                </a:r>
                <a:r>
                  <a:rPr lang="en-US" altLang="en-US" i="1">
                    <a:sym typeface="Greek Symbols" pitchFamily="18" charset="2"/>
                  </a:rPr>
                  <a:t>E</a:t>
                </a:r>
                <a:r>
                  <a:rPr lang="en-US" altLang="en-US" baseline="-25000">
                    <a:sym typeface="Greek Symbols" pitchFamily="18" charset="2"/>
                  </a:rPr>
                  <a:t>1</a:t>
                </a:r>
                <a:r>
                  <a:rPr lang="en-US" altLang="en-US">
                    <a:sym typeface="Greek Symbols" pitchFamily="18" charset="2"/>
                  </a:rPr>
                  <a:t> </a:t>
                </a:r>
                <a:r>
                  <a:rPr lang="en-US" altLang="en-US">
                    <a:sym typeface="Symbol" panose="05050102010706020507" pitchFamily="18" charset="2"/>
                  </a:rPr>
                  <a:t></a:t>
                </a:r>
                <a:r>
                  <a:rPr lang="en-US" altLang="en-US">
                    <a:sym typeface="Greek Symbols" pitchFamily="18" charset="2"/>
                  </a:rPr>
                  <a:t> </a:t>
                </a:r>
                <a:r>
                  <a:rPr lang="en-US" altLang="en-US" i="1">
                    <a:sym typeface="Greek Symbols" pitchFamily="18" charset="2"/>
                  </a:rPr>
                  <a:t>E</a:t>
                </a:r>
                <a:r>
                  <a:rPr lang="en-US" altLang="en-US" baseline="-25000">
                    <a:sym typeface="Greek Symbols" pitchFamily="18" charset="2"/>
                  </a:rPr>
                  <a:t>2</a:t>
                </a:r>
                <a:r>
                  <a:rPr lang="en-US" altLang="en-US">
                    <a:sym typeface="Greek Symbols" pitchFamily="18" charset="2"/>
                  </a:rPr>
                  <a:t>)   </a:t>
                </a:r>
                <a:r>
                  <a:rPr lang="en-IN"/>
                  <a:t>≡</a:t>
                </a:r>
                <a:r>
                  <a:rPr lang="en-US" altLang="en-US">
                    <a:sym typeface="Greek Symbols" pitchFamily="18" charset="2"/>
                  </a:rPr>
                  <a:t>    </a:t>
                </a:r>
                <a:r>
                  <a:rPr lang="en-US" altLang="en-US" i="1">
                    <a:sym typeface="Symbol" panose="05050102010706020507" pitchFamily="18" charset="2"/>
                  </a:rPr>
                  <a:t></a:t>
                </a:r>
                <a:r>
                  <a:rPr lang="en-US" altLang="en-US" baseline="-25000">
                    <a:sym typeface="Symbol" panose="05050102010706020507" pitchFamily="18" charset="2"/>
                  </a:rPr>
                  <a:t></a:t>
                </a:r>
                <a:r>
                  <a:rPr lang="en-US" altLang="en-US">
                    <a:sym typeface="Greek Symbols" pitchFamily="18" charset="2"/>
                  </a:rPr>
                  <a:t>(</a:t>
                </a:r>
                <a:r>
                  <a:rPr lang="en-US" altLang="en-US" i="1">
                    <a:sym typeface="Greek Symbols" pitchFamily="18" charset="2"/>
                  </a:rPr>
                  <a:t>E</a:t>
                </a:r>
                <a:r>
                  <a:rPr lang="en-US" altLang="en-US" baseline="-25000">
                    <a:sym typeface="Greek Symbols" pitchFamily="18" charset="2"/>
                  </a:rPr>
                  <a:t>1</a:t>
                </a:r>
                <a:r>
                  <a:rPr lang="en-US" altLang="en-US">
                    <a:sym typeface="Greek Symbols" pitchFamily="18" charset="2"/>
                  </a:rPr>
                  <a:t>) </a:t>
                </a:r>
                <a:r>
                  <a:rPr lang="en-US" altLang="en-US">
                    <a:sym typeface="Symbol" panose="05050102010706020507" pitchFamily="18" charset="2"/>
                  </a:rPr>
                  <a:t></a:t>
                </a:r>
                <a:r>
                  <a:rPr lang="en-US" altLang="en-US">
                    <a:sym typeface="Greek Symbols" pitchFamily="18" charset="2"/>
                  </a:rPr>
                  <a:t> </a:t>
                </a:r>
                <a:r>
                  <a:rPr lang="en-US" altLang="en-US" i="1">
                    <a:sym typeface="Greek Symbols" pitchFamily="18" charset="2"/>
                  </a:rPr>
                  <a:t>E</a:t>
                </a:r>
                <a:r>
                  <a:rPr lang="en-US" altLang="en-US" baseline="-25000">
                    <a:sym typeface="Greek Symbols" pitchFamily="18" charset="2"/>
                  </a:rPr>
                  <a:t>2</a:t>
                </a:r>
                <a:br>
                  <a:rPr lang="en-US" altLang="en-US" baseline="-25000">
                    <a:sym typeface="Greek Symbols" pitchFamily="18" charset="2"/>
                  </a:rPr>
                </a:br>
                <a:r>
                  <a:rPr lang="en-US" altLang="en-US" baseline="-25000">
                    <a:sym typeface="Greek Symbols" pitchFamily="18" charset="2"/>
                  </a:rPr>
                  <a:t>                  </a:t>
                </a:r>
                <a:r>
                  <a:rPr lang="en-US" altLang="en-US">
                    <a:sym typeface="Greek Symbols" pitchFamily="18" charset="2"/>
                  </a:rPr>
                  <a:t>e.   </a:t>
                </a:r>
                <a:r>
                  <a:rPr lang="en-US" altLang="en-US" i="1">
                    <a:sym typeface="Symbol" panose="05050102010706020507" pitchFamily="18" charset="2"/>
                  </a:rPr>
                  <a:t></a:t>
                </a:r>
                <a:r>
                  <a:rPr lang="en-US" altLang="en-US" baseline="-25000">
                    <a:sym typeface="Symbol" panose="05050102010706020507" pitchFamily="18" charset="2"/>
                  </a:rPr>
                  <a:t></a:t>
                </a:r>
                <a:r>
                  <a:rPr lang="en-US" altLang="en-US" i="1">
                    <a:sym typeface="Greek Symbols" pitchFamily="18" charset="2"/>
                  </a:rPr>
                  <a:t> </a:t>
                </a:r>
                <a:r>
                  <a:rPr lang="en-US" altLang="en-US">
                    <a:sym typeface="Greek Symbols" pitchFamily="18" charset="2"/>
                  </a:rPr>
                  <a:t>(</a:t>
                </a:r>
                <a:r>
                  <a:rPr lang="en-US" altLang="en-US" i="1">
                    <a:sym typeface="Greek Symbols" pitchFamily="18" charset="2"/>
                  </a:rPr>
                  <a:t>E</a:t>
                </a:r>
                <a:r>
                  <a:rPr lang="en-US" altLang="en-US" baseline="-25000">
                    <a:sym typeface="Greek Symbols" pitchFamily="18" charset="2"/>
                  </a:rPr>
                  <a:t>1</a:t>
                </a:r>
                <a:r>
                  <a:rPr lang="en-US" altLang="en-US">
                    <a:sym typeface="Greek Symbols" pitchFamily="18" charset="2"/>
                  </a:rPr>
                  <a:t> – </a:t>
                </a:r>
                <a:r>
                  <a:rPr lang="en-US" altLang="en-US" i="1">
                    <a:sym typeface="Greek Symbols" pitchFamily="18" charset="2"/>
                  </a:rPr>
                  <a:t>E</a:t>
                </a:r>
                <a:r>
                  <a:rPr lang="en-US" altLang="en-US" baseline="-25000">
                    <a:sym typeface="Greek Symbols" pitchFamily="18" charset="2"/>
                  </a:rPr>
                  <a:t>2</a:t>
                </a:r>
                <a:r>
                  <a:rPr lang="en-US" altLang="en-US">
                    <a:sym typeface="Greek Symbols" pitchFamily="18" charset="2"/>
                  </a:rPr>
                  <a:t>)    </a:t>
                </a:r>
                <a:r>
                  <a:rPr lang="en-IN"/>
                  <a:t>≡</a:t>
                </a:r>
                <a:r>
                  <a:rPr lang="en-US" altLang="en-US">
                    <a:sym typeface="Greek Symbols" pitchFamily="18" charset="2"/>
                  </a:rPr>
                  <a:t>    </a:t>
                </a:r>
                <a:r>
                  <a:rPr lang="en-US" altLang="en-US" i="1">
                    <a:sym typeface="Symbol" panose="05050102010706020507" pitchFamily="18" charset="2"/>
                  </a:rPr>
                  <a:t></a:t>
                </a:r>
                <a:r>
                  <a:rPr lang="en-US" altLang="en-US" baseline="-25000">
                    <a:sym typeface="Symbol" panose="05050102010706020507" pitchFamily="18" charset="2"/>
                  </a:rPr>
                  <a:t></a:t>
                </a:r>
                <a:r>
                  <a:rPr lang="en-US" altLang="en-US">
                    <a:sym typeface="Greek Symbols" pitchFamily="18" charset="2"/>
                  </a:rPr>
                  <a:t>(</a:t>
                </a:r>
                <a:r>
                  <a:rPr lang="en-US" altLang="en-US" i="1">
                    <a:sym typeface="Greek Symbols" pitchFamily="18" charset="2"/>
                  </a:rPr>
                  <a:t>E</a:t>
                </a:r>
                <a:r>
                  <a:rPr lang="en-US" altLang="en-US" baseline="-25000">
                    <a:sym typeface="Greek Symbols" pitchFamily="18" charset="2"/>
                  </a:rPr>
                  <a:t>1</a:t>
                </a:r>
                <a:r>
                  <a:rPr lang="en-US" altLang="en-US">
                    <a:sym typeface="Greek Symbols" pitchFamily="18" charset="2"/>
                  </a:rPr>
                  <a:t>) – </a:t>
                </a:r>
                <a:r>
                  <a:rPr lang="en-US" altLang="en-US" i="1">
                    <a:sym typeface="Greek Symbols" pitchFamily="18" charset="2"/>
                  </a:rPr>
                  <a:t>E</a:t>
                </a:r>
                <a:r>
                  <a:rPr lang="en-US" altLang="en-US" baseline="-25000">
                    <a:sym typeface="Greek Symbols" pitchFamily="18" charset="2"/>
                  </a:rPr>
                  <a:t>2</a:t>
                </a:r>
                <a:br>
                  <a:rPr lang="en-US" altLang="en-US">
                    <a:sym typeface="Greek Symbols" pitchFamily="18" charset="2"/>
                  </a:rPr>
                </a:br>
                <a:r>
                  <a:rPr lang="en-US" altLang="en-US">
                    <a:sym typeface="Greek Symbols" pitchFamily="18" charset="2"/>
                  </a:rPr>
                  <a:t>        preceding equivalence does not hold for</a:t>
                </a:r>
                <a:r>
                  <a:rPr lang="en-US" altLang="en-US">
                    <a:sym typeface="Symbol" panose="05050102010706020507" pitchFamily="18" charset="2"/>
                  </a:rPr>
                  <a:t> </a:t>
                </a:r>
              </a:p>
              <a:p>
                <a:pPr marL="0" indent="0">
                  <a:buNone/>
                  <a:tabLst>
                    <a:tab pos="1709738" algn="l"/>
                  </a:tabLst>
                </a:pPr>
                <a:r>
                  <a:rPr lang="en-US" altLang="en-US">
                    <a:solidFill>
                      <a:srgbClr val="002060"/>
                    </a:solidFill>
                    <a:sym typeface="Greek Symbols" pitchFamily="18" charset="2"/>
                  </a:rPr>
                  <a:t>12.  </a:t>
                </a:r>
                <a:r>
                  <a:rPr lang="en-US" altLang="en-US">
                    <a:sym typeface="Greek Symbols" pitchFamily="18" charset="2"/>
                  </a:rPr>
                  <a:t>The projection operation distributes over union</a:t>
                </a:r>
                <a:br>
                  <a:rPr lang="en-US" altLang="en-US">
                    <a:sym typeface="Greek Symbols" pitchFamily="18" charset="2"/>
                  </a:rPr>
                </a:br>
                <a:r>
                  <a:rPr lang="en-US" altLang="en-US">
                    <a:sym typeface="Greek Symbols" pitchFamily="18" charset="2"/>
                  </a:rPr>
                  <a:t>        </a:t>
                </a:r>
                <a:r>
                  <a:rPr lang="en-US" altLang="en-US">
                    <a:sym typeface="Symbol" panose="05050102010706020507" pitchFamily="18" charset="2"/>
                  </a:rPr>
                  <a:t></a:t>
                </a:r>
                <a:r>
                  <a:rPr lang="en-US" altLang="en-US" baseline="-25000">
                    <a:sym typeface="Symbol" panose="05050102010706020507" pitchFamily="18" charset="2"/>
                  </a:rPr>
                  <a:t>L</a:t>
                </a:r>
                <a:r>
                  <a:rPr lang="en-US" altLang="en-US">
                    <a:sym typeface="Symbol" panose="05050102010706020507" pitchFamily="18" charset="2"/>
                  </a:rPr>
                  <a:t>(</a:t>
                </a:r>
                <a:r>
                  <a:rPr lang="en-US" altLang="en-US" i="1"/>
                  <a:t>E</a:t>
                </a:r>
                <a:r>
                  <a:rPr lang="en-US" altLang="en-US" baseline="-25000"/>
                  <a:t>1</a:t>
                </a:r>
                <a:r>
                  <a:rPr lang="en-US" altLang="en-US"/>
                  <a:t> </a:t>
                </a:r>
                <a:r>
                  <a:rPr lang="en-US" altLang="en-US">
                    <a:sym typeface="Symbol" panose="05050102010706020507" pitchFamily="18" charset="2"/>
                  </a:rPr>
                  <a:t> </a:t>
                </a:r>
                <a:r>
                  <a:rPr lang="en-US" altLang="en-US" i="1">
                    <a:sym typeface="Symbol" panose="05050102010706020507" pitchFamily="18" charset="2"/>
                  </a:rPr>
                  <a:t>E</a:t>
                </a:r>
                <a:r>
                  <a:rPr lang="en-US" altLang="en-US" baseline="-25000">
                    <a:sym typeface="Symbol" panose="05050102010706020507" pitchFamily="18" charset="2"/>
                  </a:rPr>
                  <a:t>2</a:t>
                </a:r>
                <a:r>
                  <a:rPr lang="en-US" altLang="en-US">
                    <a:sym typeface="Symbol" panose="05050102010706020507" pitchFamily="18" charset="2"/>
                  </a:rPr>
                  <a:t>)     </a:t>
                </a:r>
                <a:r>
                  <a:rPr lang="en-IN"/>
                  <a:t>≡</a:t>
                </a:r>
                <a:r>
                  <a:rPr lang="en-US" altLang="en-US">
                    <a:sym typeface="Symbol" panose="05050102010706020507" pitchFamily="18" charset="2"/>
                  </a:rPr>
                  <a:t>     (</a:t>
                </a:r>
                <a:r>
                  <a:rPr lang="en-US" altLang="en-US" baseline="-25000">
                    <a:sym typeface="Symbol" panose="05050102010706020507" pitchFamily="18" charset="2"/>
                  </a:rPr>
                  <a:t>L</a:t>
                </a:r>
                <a:r>
                  <a:rPr lang="en-US" altLang="en-US">
                    <a:sym typeface="Symbol" panose="05050102010706020507" pitchFamily="18" charset="2"/>
                  </a:rPr>
                  <a:t>(</a:t>
                </a:r>
                <a:r>
                  <a:rPr lang="en-US" altLang="en-US" i="1"/>
                  <a:t>E</a:t>
                </a:r>
                <a:r>
                  <a:rPr lang="en-US" altLang="en-US" baseline="-25000"/>
                  <a:t>1</a:t>
                </a:r>
                <a:r>
                  <a:rPr lang="en-US" altLang="en-US"/>
                  <a:t>)) </a:t>
                </a:r>
                <a:r>
                  <a:rPr lang="en-US" altLang="en-US">
                    <a:sym typeface="Symbol" panose="05050102010706020507" pitchFamily="18" charset="2"/>
                  </a:rPr>
                  <a:t> (</a:t>
                </a:r>
                <a:r>
                  <a:rPr lang="en-US" altLang="en-US" baseline="-25000">
                    <a:sym typeface="Symbol" panose="05050102010706020507" pitchFamily="18" charset="2"/>
                  </a:rPr>
                  <a:t>L</a:t>
                </a:r>
                <a:r>
                  <a:rPr lang="en-US" altLang="en-US">
                    <a:sym typeface="Symbol" panose="05050102010706020507" pitchFamily="18" charset="2"/>
                  </a:rPr>
                  <a:t>(</a:t>
                </a:r>
                <a:r>
                  <a:rPr lang="en-US" altLang="en-US" i="1"/>
                  <a:t>E</a:t>
                </a:r>
                <a:r>
                  <a:rPr lang="en-US" altLang="en-US" baseline="-25000"/>
                  <a:t>2</a:t>
                </a:r>
                <a:r>
                  <a:rPr lang="en-US" altLang="en-US"/>
                  <a:t>)) </a:t>
                </a:r>
                <a:endParaRPr lang="en-US" altLang="en-US">
                  <a:sym typeface="Greek Symbols" pitchFamily="18" charset="2"/>
                </a:endParaRPr>
              </a:p>
              <a:p>
                <a:pPr marL="303610" indent="-303610">
                  <a:buFont typeface="Monotype Sorts" pitchFamily="-65" charset="2"/>
                  <a:buAutoNum type="arabicPeriod" startAt="10"/>
                  <a:tabLst>
                    <a:tab pos="1709738" algn="l"/>
                  </a:tabLst>
                </a:pPr>
                <a:endParaRPr lang="en-US" altLang="en-US">
                  <a:sym typeface="Symbol" panose="05050102010706020507" pitchFamily="18" charset="2"/>
                </a:endParaRPr>
              </a:p>
              <a:p>
                <a:pPr marL="303610" indent="-303610">
                  <a:buNone/>
                  <a:tabLst>
                    <a:tab pos="1709738" algn="l"/>
                  </a:tabLst>
                </a:pPr>
                <a:endParaRPr lang="en-US" altLang="en-US">
                  <a:sym typeface="Symbol" panose="05050102010706020507" pitchFamily="18" charset="2"/>
                </a:endParaRPr>
              </a:p>
            </p:txBody>
          </p:sp>
        </mc:Choice>
        <mc:Fallback xmlns="">
          <p:sp>
            <p:nvSpPr>
              <p:cNvPr id="362499" name="Rectangle 3">
                <a:extLst>
                  <a:ext uri="{FF2B5EF4-FFF2-40B4-BE49-F238E27FC236}">
                    <a16:creationId xmlns:a16="http://schemas.microsoft.com/office/drawing/2014/main" id="{CD34A2FB-3E13-4F06-8207-CFF2D7389F2B}"/>
                  </a:ext>
                </a:extLst>
              </p:cNvPr>
              <p:cNvSpPr>
                <a:spLocks noGrp="1" noRot="1" noChangeAspect="1" noMove="1" noResize="1" noEditPoints="1" noAdjustHandles="1" noChangeArrowheads="1" noChangeShapeType="1" noTextEdit="1"/>
              </p:cNvSpPr>
              <p:nvPr>
                <p:ph idx="1"/>
              </p:nvPr>
            </p:nvSpPr>
            <p:spPr>
              <a:xfrm>
                <a:off x="1648326" y="822120"/>
                <a:ext cx="5551371" cy="3494810"/>
              </a:xfrm>
              <a:blipFill>
                <a:blip r:embed="rId3"/>
                <a:stretch>
                  <a:fillRect/>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360C9C2B-20A9-D4B9-90DE-D619BE72171B}"/>
              </a:ext>
            </a:extLst>
          </p:cNvPr>
          <p:cNvSpPr txBox="1"/>
          <p:nvPr/>
        </p:nvSpPr>
        <p:spPr>
          <a:xfrm>
            <a:off x="6248400" y="2876550"/>
            <a:ext cx="2105576" cy="646331"/>
          </a:xfrm>
          <a:prstGeom prst="rect">
            <a:avLst/>
          </a:prstGeom>
          <a:noFill/>
        </p:spPr>
        <p:txBody>
          <a:bodyPr wrap="none" rtlCol="0">
            <a:spAutoFit/>
          </a:bodyPr>
          <a:lstStyle/>
          <a:p>
            <a:r>
              <a:rPr lang="en-US" dirty="0">
                <a:solidFill>
                  <a:srgbClr val="FF0000"/>
                </a:solidFill>
              </a:rPr>
              <a:t>I will take their word</a:t>
            </a:r>
            <a:br>
              <a:rPr lang="en-US" dirty="0">
                <a:solidFill>
                  <a:srgbClr val="FF0000"/>
                </a:solidFill>
              </a:rPr>
            </a:br>
            <a:r>
              <a:rPr lang="en-US" dirty="0">
                <a:solidFill>
                  <a:srgbClr val="FF0000"/>
                </a:solidFill>
              </a:rPr>
              <a:t>for it.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24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24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24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a:extLst>
              <a:ext uri="{FF2B5EF4-FFF2-40B4-BE49-F238E27FC236}">
                <a16:creationId xmlns:a16="http://schemas.microsoft.com/office/drawing/2014/main" id="{A280E042-4593-4F00-8739-31BAD978BB0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p>
        </p:txBody>
      </p:sp>
      <p:sp>
        <p:nvSpPr>
          <p:cNvPr id="362499" name="Rectangle 3">
            <a:extLst>
              <a:ext uri="{FF2B5EF4-FFF2-40B4-BE49-F238E27FC236}">
                <a16:creationId xmlns:a16="http://schemas.microsoft.com/office/drawing/2014/main" id="{CD34A2FB-3E13-4F06-8207-CFF2D7389F2B}"/>
              </a:ext>
            </a:extLst>
          </p:cNvPr>
          <p:cNvSpPr>
            <a:spLocks noGrp="1" noChangeArrowheads="1"/>
          </p:cNvSpPr>
          <p:nvPr>
            <p:ph idx="1"/>
          </p:nvPr>
        </p:nvSpPr>
        <p:spPr>
          <a:xfrm>
            <a:off x="228600" y="742950"/>
            <a:ext cx="5854566" cy="4231502"/>
          </a:xfrm>
        </p:spPr>
        <p:txBody>
          <a:bodyPr/>
          <a:lstStyle/>
          <a:p>
            <a:pPr marL="0" indent="0">
              <a:buNone/>
              <a:tabLst>
                <a:tab pos="1709738" algn="l"/>
              </a:tabLst>
            </a:pPr>
            <a:r>
              <a:rPr lang="en-US" altLang="en-US" dirty="0">
                <a:solidFill>
                  <a:srgbClr val="002060"/>
                </a:solidFill>
                <a:sym typeface="Greek Symbols" pitchFamily="18" charset="2"/>
              </a:rPr>
              <a:t>13.</a:t>
            </a:r>
            <a:r>
              <a:rPr lang="en-US" altLang="en-US" dirty="0">
                <a:sym typeface="Greek Symbols" pitchFamily="18" charset="2"/>
              </a:rPr>
              <a:t>  Selection distributes over aggregation as below</a:t>
            </a:r>
            <a:br>
              <a:rPr lang="en-US" altLang="en-US" dirty="0">
                <a:sym typeface="Greek Symbols" pitchFamily="18" charset="2"/>
              </a:rPr>
            </a:b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baseline="-25000" dirty="0">
                <a:sym typeface="Greek Symbols" pitchFamily="18" charset="2"/>
              </a:rPr>
              <a:t>G</a:t>
            </a:r>
            <a:r>
              <a:rPr lang="en-IN" dirty="0"/>
              <a:t>𝛾</a:t>
            </a:r>
            <a:r>
              <a:rPr lang="en-US" altLang="en-US" baseline="-25000" dirty="0">
                <a:sym typeface="Greek Symbols" pitchFamily="18" charset="2"/>
              </a:rPr>
              <a:t>A</a:t>
            </a:r>
            <a:r>
              <a:rPr lang="en-US" altLang="en-US" dirty="0">
                <a:sym typeface="Greek Symbols" pitchFamily="18" charset="2"/>
              </a:rPr>
              <a:t>(</a:t>
            </a:r>
            <a:r>
              <a:rPr lang="en-US" altLang="en-US" i="1" dirty="0">
                <a:sym typeface="Greek Symbols" pitchFamily="18" charset="2"/>
              </a:rPr>
              <a:t>E</a:t>
            </a:r>
            <a:r>
              <a:rPr lang="en-US" altLang="en-US" dirty="0">
                <a:sym typeface="Greek Symbols" pitchFamily="18" charset="2"/>
              </a:rPr>
              <a:t>))    </a:t>
            </a:r>
            <a:r>
              <a:rPr lang="en-IN" dirty="0"/>
              <a:t>≡   </a:t>
            </a:r>
            <a:r>
              <a:rPr lang="en-US" altLang="en-US" baseline="-25000" dirty="0">
                <a:sym typeface="Greek Symbols" pitchFamily="18" charset="2"/>
              </a:rPr>
              <a:t>G</a:t>
            </a:r>
            <a:r>
              <a:rPr lang="en-IN" dirty="0"/>
              <a:t>𝛾</a:t>
            </a:r>
            <a:r>
              <a:rPr lang="en-US" altLang="en-US" baseline="-25000" dirty="0">
                <a:sym typeface="Greek Symbols" pitchFamily="18" charset="2"/>
              </a:rPr>
              <a:t>A</a:t>
            </a:r>
            <a:r>
              <a:rPr lang="en-US" altLang="en-US" dirty="0">
                <a:sym typeface="Greek Symbols" pitchFamily="18" charset="2"/>
              </a:rPr>
              <a:t>(</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i="1" dirty="0">
                <a:sym typeface="Greek Symbols" pitchFamily="18" charset="2"/>
              </a:rPr>
              <a:t>E</a:t>
            </a:r>
            <a:r>
              <a:rPr lang="en-US" altLang="en-US" dirty="0">
                <a:sym typeface="Greek Symbols" pitchFamily="18" charset="2"/>
              </a:rPr>
              <a:t>)) </a:t>
            </a:r>
            <a:br>
              <a:rPr lang="en-US" altLang="en-US" dirty="0">
                <a:sym typeface="Greek Symbols" pitchFamily="18" charset="2"/>
              </a:rPr>
            </a:br>
            <a:r>
              <a:rPr lang="en-US" altLang="en-US" dirty="0">
                <a:sym typeface="Greek Symbols" pitchFamily="18" charset="2"/>
              </a:rPr>
              <a:t>       provided </a:t>
            </a:r>
            <a:r>
              <a:rPr lang="en-US" altLang="en-US" dirty="0">
                <a:sym typeface="Symbol" panose="05050102010706020507" pitchFamily="18" charset="2"/>
              </a:rPr>
              <a:t></a:t>
            </a:r>
            <a:r>
              <a:rPr lang="en-US" altLang="en-US" dirty="0">
                <a:sym typeface="Greek Symbols" pitchFamily="18" charset="2"/>
              </a:rPr>
              <a:t> only involves attributes in G</a:t>
            </a:r>
          </a:p>
          <a:p>
            <a:pPr marL="0" indent="0">
              <a:spcBef>
                <a:spcPts val="536"/>
              </a:spcBef>
              <a:buNone/>
              <a:tabLst>
                <a:tab pos="1709738" algn="l"/>
              </a:tabLst>
            </a:pPr>
            <a:r>
              <a:rPr lang="en-US" altLang="en-US" dirty="0">
                <a:solidFill>
                  <a:srgbClr val="002060"/>
                </a:solidFill>
                <a:sym typeface="Greek Symbols" pitchFamily="18" charset="2"/>
              </a:rPr>
              <a:t>14.</a:t>
            </a:r>
            <a:r>
              <a:rPr lang="en-US" altLang="en-US" dirty="0">
                <a:sym typeface="Greek Symbols" pitchFamily="18" charset="2"/>
              </a:rPr>
              <a:t>  a. Full </a:t>
            </a:r>
            <a:r>
              <a:rPr lang="en-US" altLang="en-US" dirty="0" err="1">
                <a:sym typeface="Greek Symbols" pitchFamily="18" charset="2"/>
              </a:rPr>
              <a:t>outerjoin</a:t>
            </a:r>
            <a:r>
              <a:rPr lang="en-US" altLang="en-US" dirty="0">
                <a:sym typeface="Greek Symbols" pitchFamily="18" charset="2"/>
              </a:rPr>
              <a:t> is commutative:</a:t>
            </a:r>
            <a:br>
              <a:rPr lang="en-US" altLang="en-US" dirty="0">
                <a:sym typeface="Greek Symbols" pitchFamily="18" charset="2"/>
              </a:rPr>
            </a:br>
            <a:r>
              <a:rPr lang="en-US" altLang="en-US" dirty="0">
                <a:sym typeface="Greek Symbols" pitchFamily="18" charset="2"/>
              </a:rPr>
              <a:t>            </a:t>
            </a:r>
            <a:r>
              <a:rPr lang="en-US" altLang="en-US" i="1" dirty="0"/>
              <a:t>E</a:t>
            </a:r>
            <a:r>
              <a:rPr lang="en-US" altLang="en-US" baseline="-25000" dirty="0"/>
              <a:t>1</a:t>
            </a:r>
            <a:r>
              <a:rPr lang="en-US" altLang="en-US" dirty="0"/>
              <a:t> </a:t>
            </a:r>
            <a:r>
              <a:rPr lang="en-IN" dirty="0"/>
              <a:t>⟗</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baseline="-25000" dirty="0">
                <a:sym typeface="Symbol" panose="05050102010706020507" pitchFamily="18" charset="2"/>
              </a:rPr>
              <a:t> </a:t>
            </a:r>
            <a:r>
              <a:rPr lang="en-US" altLang="en-US" i="1" dirty="0"/>
              <a:t>E</a:t>
            </a:r>
            <a:r>
              <a:rPr lang="en-US" altLang="en-US" baseline="-25000" dirty="0"/>
              <a:t>2</a:t>
            </a:r>
            <a:r>
              <a:rPr lang="en-US" altLang="en-US" dirty="0"/>
              <a:t> </a:t>
            </a:r>
            <a:r>
              <a:rPr lang="en-IN" dirty="0"/>
              <a:t>⟗</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1 </a:t>
            </a:r>
            <a:br>
              <a:rPr lang="en-US" altLang="en-US" baseline="-25000" dirty="0">
                <a:sym typeface="Symbol" panose="05050102010706020507" pitchFamily="18" charset="2"/>
              </a:rPr>
            </a:br>
            <a:r>
              <a:rPr lang="en-US" altLang="en-US" baseline="-25000" dirty="0">
                <a:sym typeface="Symbol" panose="05050102010706020507" pitchFamily="18" charset="2"/>
              </a:rPr>
              <a:t>           </a:t>
            </a:r>
            <a:r>
              <a:rPr lang="en-US" altLang="en-US" dirty="0">
                <a:sym typeface="Symbol" panose="05050102010706020507" pitchFamily="18" charset="2"/>
              </a:rPr>
              <a:t>b. Left and right </a:t>
            </a:r>
            <a:r>
              <a:rPr lang="en-US" altLang="en-US" dirty="0" err="1">
                <a:sym typeface="Symbol" panose="05050102010706020507" pitchFamily="18" charset="2"/>
              </a:rPr>
              <a:t>outerjoin</a:t>
            </a:r>
            <a:r>
              <a:rPr lang="en-US" altLang="en-US" dirty="0">
                <a:sym typeface="Symbol" panose="05050102010706020507" pitchFamily="18" charset="2"/>
              </a:rPr>
              <a:t> are not commutative, but:</a:t>
            </a:r>
            <a:br>
              <a:rPr lang="en-US" altLang="en-US" dirty="0">
                <a:sym typeface="Symbol" panose="05050102010706020507" pitchFamily="18" charset="2"/>
              </a:rPr>
            </a:br>
            <a:r>
              <a:rPr lang="en-US" altLang="en-US" dirty="0">
                <a:sym typeface="Symbol" panose="05050102010706020507" pitchFamily="18" charset="2"/>
              </a:rPr>
              <a:t>            </a:t>
            </a:r>
            <a:r>
              <a:rPr lang="en-US" altLang="en-US" i="1" dirty="0"/>
              <a:t>E</a:t>
            </a:r>
            <a:r>
              <a:rPr lang="en-US" altLang="en-US" baseline="-25000" dirty="0"/>
              <a:t>1</a:t>
            </a:r>
            <a:r>
              <a:rPr lang="en-US" altLang="en-US" dirty="0"/>
              <a:t> </a:t>
            </a:r>
            <a:r>
              <a:rPr lang="en-IN" dirty="0"/>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baseline="-25000" dirty="0">
                <a:sym typeface="Symbol" panose="05050102010706020507" pitchFamily="18" charset="2"/>
              </a:rPr>
              <a:t> </a:t>
            </a:r>
            <a:r>
              <a:rPr lang="en-US" altLang="en-US" i="1" dirty="0"/>
              <a:t>E</a:t>
            </a:r>
            <a:r>
              <a:rPr lang="en-US" altLang="en-US" baseline="-25000" dirty="0"/>
              <a:t>2</a:t>
            </a:r>
            <a:r>
              <a:rPr lang="en-US" altLang="en-US" dirty="0"/>
              <a:t> </a:t>
            </a:r>
            <a:r>
              <a:rPr lang="en-IN" dirty="0"/>
              <a:t>⟖</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1</a:t>
            </a:r>
            <a:endParaRPr lang="en-US" altLang="en-US" dirty="0">
              <a:sym typeface="Greek Symbols" pitchFamily="18" charset="2"/>
            </a:endParaRPr>
          </a:p>
          <a:p>
            <a:pPr marL="0" indent="0">
              <a:spcBef>
                <a:spcPts val="536"/>
              </a:spcBef>
              <a:buNone/>
              <a:tabLst>
                <a:tab pos="1709738" algn="l"/>
              </a:tabLst>
            </a:pPr>
            <a:r>
              <a:rPr lang="en-US" altLang="en-US" dirty="0">
                <a:solidFill>
                  <a:srgbClr val="002060"/>
                </a:solidFill>
                <a:sym typeface="Greek Symbols" pitchFamily="18" charset="2"/>
              </a:rPr>
              <a:t>15.  </a:t>
            </a:r>
            <a:r>
              <a:rPr lang="en-US" altLang="en-US" dirty="0">
                <a:sym typeface="Greek Symbols" pitchFamily="18" charset="2"/>
              </a:rPr>
              <a:t>Selection distributes over left and right </a:t>
            </a:r>
            <a:r>
              <a:rPr lang="en-US" altLang="en-US" dirty="0" err="1">
                <a:sym typeface="Greek Symbols" pitchFamily="18" charset="2"/>
              </a:rPr>
              <a:t>outerjoins</a:t>
            </a:r>
            <a:r>
              <a:rPr lang="en-US" altLang="en-US" dirty="0">
                <a:sym typeface="Greek Symbols" pitchFamily="18" charset="2"/>
              </a:rPr>
              <a:t> as below, provided </a:t>
            </a:r>
            <a:r>
              <a:rPr lang="en-US" altLang="en-US" dirty="0">
                <a:sym typeface="Symbol" panose="05050102010706020507" pitchFamily="18" charset="2"/>
              </a:rPr>
              <a:t></a:t>
            </a:r>
            <a:r>
              <a:rPr lang="en-US" altLang="en-US" baseline="-25000" dirty="0">
                <a:sym typeface="Symbol" panose="05050102010706020507" pitchFamily="18" charset="2"/>
              </a:rPr>
              <a:t>1</a:t>
            </a:r>
            <a:r>
              <a:rPr lang="en-US" altLang="en-US" dirty="0">
                <a:sym typeface="Greek Symbols" pitchFamily="18" charset="2"/>
              </a:rPr>
              <a:t>             </a:t>
            </a:r>
          </a:p>
          <a:p>
            <a:pPr marL="0" indent="0">
              <a:spcBef>
                <a:spcPts val="0"/>
              </a:spcBef>
              <a:buNone/>
              <a:tabLst>
                <a:tab pos="1709738" algn="l"/>
              </a:tabLst>
            </a:pPr>
            <a:r>
              <a:rPr lang="en-US" altLang="en-US" dirty="0">
                <a:sym typeface="Greek Symbols" pitchFamily="18" charset="2"/>
              </a:rPr>
              <a:t>       only involves attributes of </a:t>
            </a:r>
            <a:r>
              <a:rPr lang="en-US" altLang="en-US" i="1"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a:t>
            </a:r>
            <a:br>
              <a:rPr lang="en-US" altLang="en-US" dirty="0">
                <a:sym typeface="Symbol" panose="05050102010706020507" pitchFamily="18" charset="2"/>
              </a:rPr>
            </a:br>
            <a:r>
              <a:rPr lang="en-US" altLang="en-US" dirty="0">
                <a:sym typeface="Symbol" panose="05050102010706020507" pitchFamily="18" charset="2"/>
              </a:rPr>
              <a:t>       a.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   </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br>
              <a:rPr lang="en-US" altLang="en-US" dirty="0">
                <a:sym typeface="Greek Symbols" pitchFamily="18" charset="2"/>
              </a:rPr>
            </a:br>
            <a:r>
              <a:rPr lang="en-US" altLang="en-US" dirty="0">
                <a:sym typeface="Greek Symbols" pitchFamily="18" charset="2"/>
              </a:rPr>
              <a:t>       b.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    </a:t>
            </a:r>
            <a:r>
              <a:rPr lang="en-US" altLang="en-US" i="1" dirty="0">
                <a:sym typeface="Greek Symbols" pitchFamily="18" charset="2"/>
              </a:rPr>
              <a:t>E</a:t>
            </a:r>
            <a:r>
              <a:rPr lang="en-US" altLang="en-US" baseline="-25000" dirty="0">
                <a:sym typeface="Greek Symbols" pitchFamily="18" charset="2"/>
              </a:rPr>
              <a:t>2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a:t>
            </a:r>
          </a:p>
          <a:p>
            <a:pPr marL="0" indent="0">
              <a:buNone/>
              <a:tabLst>
                <a:tab pos="1709738" algn="l"/>
              </a:tabLst>
            </a:pPr>
            <a:r>
              <a:rPr lang="en-US" altLang="en-US" dirty="0">
                <a:solidFill>
                  <a:srgbClr val="002060"/>
                </a:solidFill>
                <a:sym typeface="Greek Symbols" pitchFamily="18" charset="2"/>
              </a:rPr>
              <a:t>16.  </a:t>
            </a:r>
            <a:r>
              <a:rPr lang="en-US" altLang="en-US" dirty="0" err="1">
                <a:sym typeface="Greek Symbols" pitchFamily="18" charset="2"/>
              </a:rPr>
              <a:t>Outerjoins</a:t>
            </a:r>
            <a:r>
              <a:rPr lang="en-US" altLang="en-US" dirty="0">
                <a:sym typeface="Greek Symbols" pitchFamily="18" charset="2"/>
              </a:rPr>
              <a:t> can be replaced by inner joins under some conditions</a:t>
            </a:r>
          </a:p>
          <a:p>
            <a:pPr marL="0" indent="0">
              <a:buNone/>
              <a:tabLst>
                <a:tab pos="1709738" algn="l"/>
              </a:tabLst>
            </a:pPr>
            <a:r>
              <a:rPr lang="en-US" altLang="en-US" dirty="0">
                <a:sym typeface="Symbol" panose="05050102010706020507" pitchFamily="18" charset="2"/>
              </a:rPr>
              <a:t>        a.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   </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altLang="en-US"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br>
              <a:rPr lang="en-US" altLang="en-US" dirty="0">
                <a:sym typeface="Greek Symbols" pitchFamily="18" charset="2"/>
              </a:rPr>
            </a:br>
            <a:r>
              <a:rPr lang="en-US" altLang="en-US" dirty="0">
                <a:sym typeface="Greek Symbols" pitchFamily="18" charset="2"/>
              </a:rPr>
              <a:t>        b.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altLang="en-US"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br>
              <a:rPr lang="en-US" altLang="en-US" dirty="0">
                <a:sym typeface="Greek Symbols" pitchFamily="18" charset="2"/>
              </a:rPr>
            </a:br>
            <a:r>
              <a:rPr lang="en-US" altLang="en-US" dirty="0">
                <a:sym typeface="Greek Symbols" pitchFamily="18" charset="2"/>
              </a:rPr>
              <a:t>        provided </a:t>
            </a:r>
            <a:r>
              <a:rPr lang="en-US" altLang="en-US" dirty="0">
                <a:sym typeface="Symbol" panose="05050102010706020507" pitchFamily="18" charset="2"/>
              </a:rPr>
              <a:t></a:t>
            </a:r>
            <a:r>
              <a:rPr lang="en-US" altLang="en-US" baseline="-25000" dirty="0">
                <a:sym typeface="Symbol" panose="05050102010706020507" pitchFamily="18" charset="2"/>
              </a:rPr>
              <a:t>1</a:t>
            </a:r>
            <a:r>
              <a:rPr lang="en-US" altLang="en-US" dirty="0">
                <a:sym typeface="Symbol" panose="05050102010706020507" pitchFamily="18" charset="2"/>
              </a:rPr>
              <a:t> is null rejecting on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p>
          <a:p>
            <a:pPr marL="342900" indent="-342900">
              <a:buFont typeface="Monotype Sorts" pitchFamily="-65" charset="2"/>
              <a:buAutoNum type="arabicPeriod" startAt="13"/>
              <a:tabLst>
                <a:tab pos="1709738" algn="l"/>
              </a:tabLst>
            </a:pPr>
            <a:endParaRPr lang="en-US" altLang="en-US" dirty="0">
              <a:sym typeface="Greek Symbols" pitchFamily="18" charset="2"/>
            </a:endParaRPr>
          </a:p>
          <a:p>
            <a:pPr marL="342900" indent="-342900">
              <a:buFont typeface="Monotype Sorts" pitchFamily="-65" charset="2"/>
              <a:buAutoNum type="arabicPeriod" startAt="13"/>
              <a:tabLst>
                <a:tab pos="1709738" algn="l"/>
              </a:tabLst>
            </a:pPr>
            <a:endParaRPr lang="en-US" altLang="en-US" dirty="0">
              <a:sym typeface="Greek Symbols" pitchFamily="18" charset="2"/>
            </a:endParaRPr>
          </a:p>
          <a:p>
            <a:pPr marL="342900" indent="-342900">
              <a:buFont typeface="Monotype Sorts" pitchFamily="-65" charset="2"/>
              <a:buAutoNum type="arabicPeriod" startAt="13"/>
              <a:tabLst>
                <a:tab pos="1709738" algn="l"/>
              </a:tabLst>
            </a:pPr>
            <a:endParaRPr lang="en-US" altLang="en-US" dirty="0">
              <a:sym typeface="Greek Symbols" pitchFamily="18" charset="2"/>
            </a:endParaRPr>
          </a:p>
          <a:p>
            <a:pPr marL="303610" indent="-303610">
              <a:buNone/>
              <a:tabLst>
                <a:tab pos="1709738" algn="l"/>
              </a:tabLst>
            </a:pPr>
            <a:endParaRPr lang="en-US" altLang="en-US" dirty="0">
              <a:sym typeface="Symbol" panose="05050102010706020507" pitchFamily="18" charset="2"/>
            </a:endParaRPr>
          </a:p>
          <a:p>
            <a:pPr marL="303610" indent="-303610">
              <a:buNone/>
              <a:tabLst>
                <a:tab pos="1709738" algn="l"/>
              </a:tabLst>
            </a:pPr>
            <a:endParaRPr lang="en-US" altLang="en-US" dirty="0">
              <a:sym typeface="Symbol" panose="05050102010706020507" pitchFamily="18" charset="2"/>
            </a:endParaRPr>
          </a:p>
        </p:txBody>
      </p:sp>
      <p:pic>
        <p:nvPicPr>
          <p:cNvPr id="1026" name="Picture 2" descr="Meme Creator - Funny Will This never end? Meme Generator at MemeCreator.org!">
            <a:extLst>
              <a:ext uri="{FF2B5EF4-FFF2-40B4-BE49-F238E27FC236}">
                <a16:creationId xmlns:a16="http://schemas.microsoft.com/office/drawing/2014/main" id="{C4921495-D62D-A12A-3537-505FD38F39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1733550"/>
            <a:ext cx="2562606" cy="29972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7C80CB2-85C3-5718-BF85-68392A07FC0D}"/>
              </a:ext>
            </a:extLst>
          </p:cNvPr>
          <p:cNvSpPr txBox="1"/>
          <p:nvPr/>
        </p:nvSpPr>
        <p:spPr>
          <a:xfrm>
            <a:off x="6364807" y="1276350"/>
            <a:ext cx="2177391" cy="369332"/>
          </a:xfrm>
          <a:prstGeom prst="rect">
            <a:avLst/>
          </a:prstGeom>
          <a:noFill/>
        </p:spPr>
        <p:txBody>
          <a:bodyPr wrap="none" rtlCol="0">
            <a:spAutoFit/>
          </a:bodyPr>
          <a:lstStyle/>
          <a:p>
            <a:r>
              <a:rPr lang="en-US" dirty="0">
                <a:solidFill>
                  <a:srgbClr val="FF0000"/>
                </a:solidFill>
              </a:rPr>
              <a:t>Oh good. More rules.</a:t>
            </a:r>
          </a:p>
        </p:txBody>
      </p:sp>
    </p:spTree>
    <p:extLst>
      <p:ext uri="{BB962C8B-B14F-4D97-AF65-F5344CB8AC3E}">
        <p14:creationId xmlns:p14="http://schemas.microsoft.com/office/powerpoint/2010/main" val="8601067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24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24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24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24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24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a:extLst>
              <a:ext uri="{FF2B5EF4-FFF2-40B4-BE49-F238E27FC236}">
                <a16:creationId xmlns:a16="http://schemas.microsoft.com/office/drawing/2014/main" id="{A280E042-4593-4F00-8739-31BAD978BB0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p>
        </p:txBody>
      </p:sp>
      <p:sp>
        <p:nvSpPr>
          <p:cNvPr id="362499" name="Rectangle 3">
            <a:extLst>
              <a:ext uri="{FF2B5EF4-FFF2-40B4-BE49-F238E27FC236}">
                <a16:creationId xmlns:a16="http://schemas.microsoft.com/office/drawing/2014/main" id="{CD34A2FB-3E13-4F06-8207-CFF2D7389F2B}"/>
              </a:ext>
            </a:extLst>
          </p:cNvPr>
          <p:cNvSpPr>
            <a:spLocks noGrp="1" noChangeArrowheads="1"/>
          </p:cNvSpPr>
          <p:nvPr>
            <p:ph idx="1"/>
          </p:nvPr>
        </p:nvSpPr>
        <p:spPr>
          <a:xfrm>
            <a:off x="1655546" y="699400"/>
            <a:ext cx="5847347" cy="4231502"/>
          </a:xfrm>
        </p:spPr>
        <p:txBody>
          <a:bodyPr/>
          <a:lstStyle/>
          <a:p>
            <a:pPr marL="0" indent="0">
              <a:buNone/>
              <a:tabLst>
                <a:tab pos="1709738" algn="l"/>
              </a:tabLst>
            </a:pPr>
            <a:r>
              <a:rPr lang="en-US" altLang="en-US">
                <a:sym typeface="Greek Symbols" pitchFamily="18" charset="2"/>
              </a:rPr>
              <a:t>Note that several equivalences that hold for joins do not hold for </a:t>
            </a:r>
            <a:r>
              <a:rPr lang="en-US" altLang="en-US" err="1">
                <a:sym typeface="Greek Symbols" pitchFamily="18" charset="2"/>
              </a:rPr>
              <a:t>outerjoins</a:t>
            </a:r>
            <a:endParaRPr lang="en-US" altLang="en-US">
              <a:sym typeface="Greek Symbols" pitchFamily="18" charset="2"/>
            </a:endParaRPr>
          </a:p>
          <a:p>
            <a:pPr>
              <a:tabLst>
                <a:tab pos="1709738" algn="l"/>
              </a:tabLst>
            </a:pPr>
            <a:r>
              <a:rPr lang="en-US" altLang="en-US" i="1">
                <a:sym typeface="Symbol" panose="05050102010706020507" pitchFamily="18" charset="2"/>
              </a:rPr>
              <a:t></a:t>
            </a:r>
            <a:r>
              <a:rPr lang="en-US" altLang="en-US" baseline="-25000">
                <a:sym typeface="Symbol" panose="05050102010706020507" pitchFamily="18" charset="2"/>
              </a:rPr>
              <a:t>year=2017</a:t>
            </a:r>
            <a:r>
              <a:rPr lang="en-US" altLang="en-US">
                <a:sym typeface="Greek Symbols" pitchFamily="18" charset="2"/>
              </a:rPr>
              <a:t>(</a:t>
            </a:r>
            <a:r>
              <a:rPr lang="en-US" altLang="en-US" i="1">
                <a:sym typeface="Greek Symbols" pitchFamily="18" charset="2"/>
              </a:rPr>
              <a:t>instructor</a:t>
            </a:r>
            <a:r>
              <a:rPr lang="en-US" altLang="en-US">
                <a:sym typeface="Greek Symbols" pitchFamily="18" charset="2"/>
              </a:rPr>
              <a:t> </a:t>
            </a:r>
            <a:r>
              <a:rPr lang="en-IN"/>
              <a:t>⟕</a:t>
            </a:r>
            <a:r>
              <a:rPr lang="en-US" altLang="en-US">
                <a:sym typeface="Greek Symbols" pitchFamily="18" charset="2"/>
              </a:rPr>
              <a:t> </a:t>
            </a:r>
            <a:r>
              <a:rPr lang="en-US" altLang="en-US" i="1">
                <a:sym typeface="Greek Symbols" pitchFamily="18" charset="2"/>
              </a:rPr>
              <a:t>teaches</a:t>
            </a:r>
            <a:r>
              <a:rPr lang="en-US" altLang="en-US">
                <a:sym typeface="Greek Symbols" pitchFamily="18" charset="2"/>
              </a:rPr>
              <a:t>)  </a:t>
            </a:r>
            <a:r>
              <a:rPr lang="en-IN"/>
              <a:t>≢</a:t>
            </a:r>
            <a:r>
              <a:rPr lang="en-US" altLang="en-US">
                <a:sym typeface="Greek Symbols" pitchFamily="18" charset="2"/>
              </a:rPr>
              <a:t> </a:t>
            </a:r>
            <a:r>
              <a:rPr lang="en-US" altLang="en-US" i="1">
                <a:sym typeface="Symbol" panose="05050102010706020507" pitchFamily="18" charset="2"/>
              </a:rPr>
              <a:t></a:t>
            </a:r>
            <a:r>
              <a:rPr lang="en-US" altLang="en-US" baseline="-25000">
                <a:sym typeface="Symbol" panose="05050102010706020507" pitchFamily="18" charset="2"/>
              </a:rPr>
              <a:t>year=2017</a:t>
            </a:r>
            <a:r>
              <a:rPr lang="en-US" altLang="en-US">
                <a:sym typeface="Greek Symbols" pitchFamily="18" charset="2"/>
              </a:rPr>
              <a:t>(</a:t>
            </a:r>
            <a:r>
              <a:rPr lang="en-US" altLang="en-US" i="1">
                <a:sym typeface="Greek Symbols" pitchFamily="18" charset="2"/>
              </a:rPr>
              <a:t>instructor</a:t>
            </a:r>
            <a:r>
              <a:rPr lang="en-US" altLang="en-US">
                <a:sym typeface="Greek Symbols" pitchFamily="18" charset="2"/>
              </a:rPr>
              <a:t> </a:t>
            </a:r>
            <a:r>
              <a:rPr lang="en-IN" altLang="en-US"/>
              <a:t>⨝</a:t>
            </a:r>
            <a:r>
              <a:rPr lang="en-US" altLang="en-US">
                <a:sym typeface="Greek Symbols" pitchFamily="18" charset="2"/>
              </a:rPr>
              <a:t> </a:t>
            </a:r>
            <a:r>
              <a:rPr lang="en-US" altLang="en-US" i="1">
                <a:sym typeface="Greek Symbols" pitchFamily="18" charset="2"/>
              </a:rPr>
              <a:t>teaches</a:t>
            </a:r>
            <a:r>
              <a:rPr lang="en-US" altLang="en-US">
                <a:sym typeface="Greek Symbols" pitchFamily="18" charset="2"/>
              </a:rPr>
              <a:t>)</a:t>
            </a:r>
          </a:p>
          <a:p>
            <a:pPr>
              <a:tabLst>
                <a:tab pos="1709738" algn="l"/>
              </a:tabLst>
            </a:pPr>
            <a:r>
              <a:rPr lang="en-US" altLang="en-US" err="1">
                <a:sym typeface="Greek Symbols" pitchFamily="18" charset="2"/>
              </a:rPr>
              <a:t>Outerjoins</a:t>
            </a:r>
            <a:r>
              <a:rPr lang="en-US" altLang="en-US">
                <a:sym typeface="Greek Symbols" pitchFamily="18" charset="2"/>
              </a:rPr>
              <a:t> are not associative</a:t>
            </a:r>
            <a:br>
              <a:rPr lang="en-US" altLang="en-US">
                <a:sym typeface="Greek Symbols" pitchFamily="18" charset="2"/>
              </a:rPr>
            </a:br>
            <a:r>
              <a:rPr lang="en-US" altLang="en-US">
                <a:sym typeface="Greek Symbols" pitchFamily="18" charset="2"/>
              </a:rPr>
              <a:t>               (r </a:t>
            </a:r>
            <a:r>
              <a:rPr lang="en-IN"/>
              <a:t>⟕ s) ⟕ t     ≢     r ⟕ (s ⟕ t)</a:t>
            </a:r>
          </a:p>
          <a:p>
            <a:pPr lvl="1">
              <a:tabLst>
                <a:tab pos="1709738" algn="l"/>
              </a:tabLst>
            </a:pPr>
            <a:r>
              <a:rPr lang="en-IN" altLang="en-US">
                <a:sym typeface="Greek Symbols" pitchFamily="18" charset="2"/>
              </a:rPr>
              <a:t>e.g. with r(A,B) = {(1,1),    s(B,C) = { (1,1)},   t(A,C) = { }</a:t>
            </a:r>
            <a:endParaRPr lang="en-US" altLang="en-US">
              <a:sym typeface="Greek Symbols" pitchFamily="18" charset="2"/>
            </a:endParaRPr>
          </a:p>
          <a:p>
            <a:pPr marL="342900" indent="-342900">
              <a:buFont typeface="Monotype Sorts" pitchFamily="-65" charset="2"/>
              <a:buAutoNum type="arabicPeriod" startAt="16"/>
              <a:tabLst>
                <a:tab pos="1709738" algn="l"/>
              </a:tabLst>
            </a:pPr>
            <a:endParaRPr lang="en-US" altLang="en-US">
              <a:sym typeface="Greek Symbols" pitchFamily="18" charset="2"/>
            </a:endParaRPr>
          </a:p>
          <a:p>
            <a:pPr marL="303610" indent="-303610">
              <a:buNone/>
              <a:tabLst>
                <a:tab pos="1709738" algn="l"/>
              </a:tabLst>
            </a:pPr>
            <a:endParaRPr lang="en-US" altLang="en-US">
              <a:sym typeface="Symbol" panose="05050102010706020507" pitchFamily="18" charset="2"/>
            </a:endParaRPr>
          </a:p>
          <a:p>
            <a:pPr marL="303610" indent="-303610">
              <a:buNone/>
              <a:tabLst>
                <a:tab pos="1709738" algn="l"/>
              </a:tabLst>
            </a:pPr>
            <a:endParaRPr lang="en-US" altLang="en-US">
              <a:sym typeface="Symbol" panose="05050102010706020507" pitchFamily="18" charset="2"/>
            </a:endParaRPr>
          </a:p>
        </p:txBody>
      </p:sp>
    </p:spTree>
    <p:extLst>
      <p:ext uri="{BB962C8B-B14F-4D97-AF65-F5344CB8AC3E}">
        <p14:creationId xmlns:p14="http://schemas.microsoft.com/office/powerpoint/2010/main" val="23232109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249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24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a:extLst>
              <a:ext uri="{FF2B5EF4-FFF2-40B4-BE49-F238E27FC236}">
                <a16:creationId xmlns:a16="http://schemas.microsoft.com/office/drawing/2014/main" id="{C9AB4C80-3C53-4A22-A0BA-9A1ABBED1926}"/>
              </a:ext>
            </a:extLst>
          </p:cNvPr>
          <p:cNvSpPr>
            <a:spLocks noGrp="1" noChangeArrowheads="1"/>
          </p:cNvSpPr>
          <p:nvPr>
            <p:ph type="title"/>
          </p:nvPr>
        </p:nvSpPr>
        <p:spPr>
          <a:extLst>
            <a:ext uri="{909E8E84-426E-40dd-AFC4-6F175D3DCCD1}"/>
            <a:ext uri="{91240B29-F687-4f45-9708-019B960494DF}"/>
          </a:extLst>
        </p:spPr>
        <p:txBody>
          <a:bodyPr/>
          <a:lstStyle/>
          <a:p>
            <a:pPr>
              <a:defRPr/>
            </a:pPr>
            <a:r>
              <a:rPr lang="en-US" altLang="en-US">
                <a:effectLst>
                  <a:outerShdw blurRad="38100" dist="38100" dir="2700000" algn="tl">
                    <a:srgbClr val="C0C0C0"/>
                  </a:outerShdw>
                </a:effectLst>
              </a:rPr>
              <a:t>Transformation Example: Pushing Selections</a:t>
            </a:r>
          </a:p>
        </p:txBody>
      </p:sp>
      <p:sp>
        <p:nvSpPr>
          <p:cNvPr id="32771" name="Rectangle 3">
            <a:extLst>
              <a:ext uri="{FF2B5EF4-FFF2-40B4-BE49-F238E27FC236}">
                <a16:creationId xmlns:a16="http://schemas.microsoft.com/office/drawing/2014/main" id="{F387F6FF-70A9-4D77-9B93-3363D0FBA892}"/>
              </a:ext>
            </a:extLst>
          </p:cNvPr>
          <p:cNvSpPr>
            <a:spLocks noGrp="1" noChangeArrowheads="1"/>
          </p:cNvSpPr>
          <p:nvPr>
            <p:ph idx="1"/>
          </p:nvPr>
        </p:nvSpPr>
        <p:spPr>
          <a:xfrm>
            <a:off x="1626670" y="826873"/>
            <a:ext cx="5796815" cy="4025979"/>
          </a:xfrm>
        </p:spPr>
        <p:txBody>
          <a:bodyPr/>
          <a:lstStyle/>
          <a:p>
            <a:r>
              <a:rPr lang="en-US" altLang="en-US"/>
              <a:t>Query:  Find the names of all instructors in the Music department, along with the titles of the courses that they teach</a:t>
            </a:r>
          </a:p>
          <a:p>
            <a:pPr lvl="1"/>
            <a:r>
              <a:rPr lang="en-US" altLang="en-US">
                <a:sym typeface="Symbol" panose="05050102010706020507" pitchFamily="18" charset="2"/>
              </a:rPr>
              <a:t></a:t>
            </a:r>
            <a:r>
              <a:rPr lang="en-US" altLang="en-US" i="1" baseline="-25000">
                <a:sym typeface="Symbol" panose="05050102010706020507" pitchFamily="18" charset="2"/>
              </a:rPr>
              <a:t>name, title</a:t>
            </a:r>
            <a:r>
              <a:rPr lang="en-US" altLang="en-US">
                <a:sym typeface="Symbol" panose="05050102010706020507" pitchFamily="18" charset="2"/>
              </a:rPr>
              <a:t>(</a:t>
            </a:r>
            <a:r>
              <a:rPr lang="en-US" altLang="en-US" i="1" baseline="-25000">
                <a:sym typeface="Symbol" panose="05050102010706020507" pitchFamily="18" charset="2"/>
              </a:rPr>
              <a:t>dept_name= </a:t>
            </a:r>
            <a:r>
              <a:rPr lang="en-IN" altLang="ja-JP" i="1" baseline="-25000">
                <a:sym typeface="Symbol" panose="05050102010706020507" pitchFamily="18" charset="2"/>
              </a:rPr>
              <a:t>‘</a:t>
            </a:r>
            <a:r>
              <a:rPr lang="en-US" altLang="ja-JP" baseline="-25000">
                <a:sym typeface="Symbol" panose="05050102010706020507" pitchFamily="18" charset="2"/>
              </a:rPr>
              <a:t>Music</a:t>
            </a:r>
            <a:r>
              <a:rPr lang="en-IN" altLang="ja-JP" baseline="-25000">
                <a:sym typeface="Symbol" panose="05050102010706020507" pitchFamily="18" charset="2"/>
              </a:rPr>
              <a:t>’</a:t>
            </a:r>
            <a:br>
              <a:rPr lang="en-US" altLang="ja-JP">
                <a:sym typeface="Symbol" panose="05050102010706020507" pitchFamily="18" charset="2"/>
              </a:rPr>
            </a:br>
            <a:r>
              <a:rPr lang="en-US" altLang="ja-JP">
                <a:sym typeface="Symbol" panose="05050102010706020507" pitchFamily="18" charset="2"/>
              </a:rPr>
              <a:t>               (</a:t>
            </a:r>
            <a:r>
              <a:rPr lang="en-US" altLang="ja-JP" i="1">
                <a:sym typeface="Symbol" panose="05050102010706020507" pitchFamily="18" charset="2"/>
              </a:rPr>
              <a:t>instructor </a:t>
            </a:r>
            <a:r>
              <a:rPr lang="en-IN" altLang="en-US">
                <a:ea typeface="MS PGothic" panose="020B0600070205080204" pitchFamily="34" charset="-128"/>
              </a:rPr>
              <a:t>⨝</a:t>
            </a:r>
            <a:r>
              <a:rPr lang="en-US" altLang="en-US" i="1">
                <a:ea typeface="MS PGothic" panose="020B0600070205080204" pitchFamily="34" charset="-128"/>
              </a:rPr>
              <a:t> </a:t>
            </a:r>
            <a:r>
              <a:rPr lang="en-US" altLang="ja-JP" i="1">
                <a:sym typeface="Symbol" panose="05050102010706020507" pitchFamily="18" charset="2"/>
              </a:rPr>
              <a:t>(teaches </a:t>
            </a:r>
            <a:r>
              <a:rPr lang="en-IN" altLang="en-US">
                <a:ea typeface="MS PGothic" panose="020B0600070205080204" pitchFamily="34" charset="-128"/>
              </a:rPr>
              <a:t>⨝</a:t>
            </a:r>
            <a:r>
              <a:rPr lang="en-US" altLang="ja-JP" i="1">
                <a:sym typeface="Symbol" panose="05050102010706020507" pitchFamily="18" charset="2"/>
              </a:rPr>
              <a:t> </a:t>
            </a:r>
            <a:r>
              <a:rPr lang="en-US" altLang="ja-JP">
                <a:sym typeface="Symbol" panose="05050102010706020507" pitchFamily="18" charset="2"/>
              </a:rPr>
              <a:t></a:t>
            </a:r>
            <a:r>
              <a:rPr lang="en-US" altLang="ja-JP" i="1" baseline="-25000" err="1">
                <a:sym typeface="Symbol" panose="05050102010706020507" pitchFamily="18" charset="2"/>
              </a:rPr>
              <a:t>course_id</a:t>
            </a:r>
            <a:r>
              <a:rPr lang="en-US" altLang="ja-JP" i="1" baseline="-25000">
                <a:sym typeface="Symbol" panose="05050102010706020507" pitchFamily="18" charset="2"/>
              </a:rPr>
              <a:t>, title</a:t>
            </a:r>
            <a:r>
              <a:rPr lang="en-US" altLang="ja-JP" i="1">
                <a:sym typeface="Symbol" panose="05050102010706020507" pitchFamily="18" charset="2"/>
              </a:rPr>
              <a:t> </a:t>
            </a:r>
            <a:r>
              <a:rPr lang="en-US" altLang="ja-JP">
                <a:sym typeface="Symbol" panose="05050102010706020507" pitchFamily="18" charset="2"/>
              </a:rPr>
              <a:t>(</a:t>
            </a:r>
            <a:r>
              <a:rPr lang="en-US" altLang="ja-JP" i="1">
                <a:sym typeface="Symbol" panose="05050102010706020507" pitchFamily="18" charset="2"/>
              </a:rPr>
              <a:t>course</a:t>
            </a:r>
            <a:r>
              <a:rPr lang="en-US" altLang="ja-JP">
                <a:sym typeface="Symbol" panose="05050102010706020507" pitchFamily="18" charset="2"/>
              </a:rPr>
              <a:t>))))</a:t>
            </a:r>
          </a:p>
          <a:p>
            <a:r>
              <a:rPr lang="en-US" altLang="en-US">
                <a:sym typeface="Symbol" panose="05050102010706020507" pitchFamily="18" charset="2"/>
              </a:rPr>
              <a:t>Transformation using rule 7a.</a:t>
            </a:r>
          </a:p>
          <a:p>
            <a:pPr lvl="1"/>
            <a:r>
              <a:rPr lang="en-US" altLang="en-US">
                <a:sym typeface="Symbol" panose="05050102010706020507" pitchFamily="18" charset="2"/>
              </a:rPr>
              <a:t></a:t>
            </a:r>
            <a:r>
              <a:rPr lang="en-US" altLang="en-US" i="1" baseline="-25000">
                <a:sym typeface="Symbol" panose="05050102010706020507" pitchFamily="18" charset="2"/>
              </a:rPr>
              <a:t>name, title</a:t>
            </a:r>
            <a:r>
              <a:rPr lang="en-US" altLang="en-US">
                <a:sym typeface="Symbol" panose="05050102010706020507" pitchFamily="18" charset="2"/>
              </a:rPr>
              <a:t>((</a:t>
            </a:r>
            <a:r>
              <a:rPr lang="en-US" altLang="en-US" i="1" baseline="-25000">
                <a:sym typeface="Symbol" panose="05050102010706020507" pitchFamily="18" charset="2"/>
              </a:rPr>
              <a:t>dept_name= </a:t>
            </a:r>
            <a:r>
              <a:rPr lang="en-IN" altLang="en-US" i="1" baseline="-25000">
                <a:sym typeface="Symbol" panose="05050102010706020507" pitchFamily="18" charset="2"/>
              </a:rPr>
              <a:t>‘</a:t>
            </a:r>
            <a:r>
              <a:rPr lang="en-US" altLang="ja-JP" baseline="-25000">
                <a:sym typeface="Symbol" panose="05050102010706020507" pitchFamily="18" charset="2"/>
              </a:rPr>
              <a:t>Music</a:t>
            </a:r>
            <a:r>
              <a:rPr lang="en-IN" altLang="ja-JP" baseline="-25000">
                <a:sym typeface="Symbol" panose="05050102010706020507" pitchFamily="18" charset="2"/>
              </a:rPr>
              <a:t>’</a:t>
            </a:r>
            <a:r>
              <a:rPr lang="en-US" altLang="ja-JP">
                <a:sym typeface="Symbol" panose="05050102010706020507" pitchFamily="18" charset="2"/>
              </a:rPr>
              <a:t>(</a:t>
            </a:r>
            <a:r>
              <a:rPr lang="en-US" altLang="ja-JP" i="1">
                <a:sym typeface="Symbol" panose="05050102010706020507" pitchFamily="18" charset="2"/>
              </a:rPr>
              <a:t>instructor</a:t>
            </a:r>
            <a:r>
              <a:rPr lang="en-US" altLang="ja-JP">
                <a:sym typeface="Symbol" panose="05050102010706020507" pitchFamily="18" charset="2"/>
              </a:rPr>
              <a:t>))</a:t>
            </a:r>
            <a:r>
              <a:rPr lang="en-IN" altLang="en-US">
                <a:ea typeface="MS PGothic" panose="020B0600070205080204" pitchFamily="34" charset="-128"/>
              </a:rPr>
              <a:t> ⨝</a:t>
            </a:r>
            <a:r>
              <a:rPr lang="en-US" altLang="ja-JP" i="1">
                <a:sym typeface="Symbol" panose="05050102010706020507" pitchFamily="18" charset="2"/>
              </a:rPr>
              <a:t>   </a:t>
            </a:r>
            <a:br>
              <a:rPr lang="en-US" altLang="ja-JP" i="1">
                <a:sym typeface="Symbol" panose="05050102010706020507" pitchFamily="18" charset="2"/>
              </a:rPr>
            </a:br>
            <a:r>
              <a:rPr lang="en-US" altLang="ja-JP" i="1">
                <a:sym typeface="Symbol" panose="05050102010706020507" pitchFamily="18" charset="2"/>
              </a:rPr>
              <a:t>               (teaches </a:t>
            </a:r>
            <a:r>
              <a:rPr lang="en-IN" altLang="en-US">
                <a:ea typeface="MS PGothic" panose="020B0600070205080204" pitchFamily="34" charset="-128"/>
              </a:rPr>
              <a:t>⨝</a:t>
            </a:r>
            <a:r>
              <a:rPr lang="en-US" altLang="ja-JP" i="1">
                <a:sym typeface="Symbol" panose="05050102010706020507" pitchFamily="18" charset="2"/>
              </a:rPr>
              <a:t> </a:t>
            </a:r>
            <a:r>
              <a:rPr lang="en-US" altLang="ja-JP">
                <a:sym typeface="Symbol" panose="05050102010706020507" pitchFamily="18" charset="2"/>
              </a:rPr>
              <a:t></a:t>
            </a:r>
            <a:r>
              <a:rPr lang="en-US" altLang="ja-JP" i="1" baseline="-25000" err="1">
                <a:sym typeface="Symbol" panose="05050102010706020507" pitchFamily="18" charset="2"/>
              </a:rPr>
              <a:t>course_id</a:t>
            </a:r>
            <a:r>
              <a:rPr lang="en-US" altLang="ja-JP" i="1" baseline="-25000">
                <a:sym typeface="Symbol" panose="05050102010706020507" pitchFamily="18" charset="2"/>
              </a:rPr>
              <a:t>, title</a:t>
            </a:r>
            <a:r>
              <a:rPr lang="en-US" altLang="ja-JP" i="1">
                <a:sym typeface="Symbol" panose="05050102010706020507" pitchFamily="18" charset="2"/>
              </a:rPr>
              <a:t> </a:t>
            </a:r>
            <a:r>
              <a:rPr lang="en-US" altLang="ja-JP">
                <a:sym typeface="Symbol" panose="05050102010706020507" pitchFamily="18" charset="2"/>
              </a:rPr>
              <a:t>(</a:t>
            </a:r>
            <a:r>
              <a:rPr lang="en-US" altLang="ja-JP" i="1">
                <a:sym typeface="Symbol" panose="05050102010706020507" pitchFamily="18" charset="2"/>
              </a:rPr>
              <a:t>course</a:t>
            </a:r>
            <a:r>
              <a:rPr lang="en-US" altLang="ja-JP">
                <a:sym typeface="Symbol" panose="05050102010706020507" pitchFamily="18" charset="2"/>
              </a:rPr>
              <a:t>)))</a:t>
            </a:r>
          </a:p>
          <a:p>
            <a:r>
              <a:rPr lang="en-US" altLang="en-US">
                <a:sym typeface="Symbol" panose="05050102010706020507" pitchFamily="18" charset="2"/>
              </a:rPr>
              <a:t>Performing the selection as early as possible reduces the size of the relation to be joined. </a:t>
            </a:r>
            <a:endParaRPr lang="en-US" altLang="en-US" baseline="-25000">
              <a:sym typeface="Symbol" panose="05050102010706020507" pitchFamily="18" charset="2"/>
            </a:endParaRPr>
          </a:p>
        </p:txBody>
      </p:sp>
      <p:sp>
        <p:nvSpPr>
          <p:cNvPr id="2" name="TextBox 1">
            <a:extLst>
              <a:ext uri="{FF2B5EF4-FFF2-40B4-BE49-F238E27FC236}">
                <a16:creationId xmlns:a16="http://schemas.microsoft.com/office/drawing/2014/main" id="{E6EF1AEB-C642-20A0-6D1C-26B8B0F20366}"/>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a:extLst>
              <a:ext uri="{FF2B5EF4-FFF2-40B4-BE49-F238E27FC236}">
                <a16:creationId xmlns:a16="http://schemas.microsoft.com/office/drawing/2014/main" id="{C6E47C56-A0BE-493D-99C6-FE63BED90C4A}"/>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Ordering Example</a:t>
            </a:r>
          </a:p>
        </p:txBody>
      </p:sp>
      <p:sp>
        <p:nvSpPr>
          <p:cNvPr id="37891" name="Rectangle 3">
            <a:extLst>
              <a:ext uri="{FF2B5EF4-FFF2-40B4-BE49-F238E27FC236}">
                <a16:creationId xmlns:a16="http://schemas.microsoft.com/office/drawing/2014/main" id="{7C1CF120-E4F7-4429-B2DB-787B5E5C06E0}"/>
              </a:ext>
            </a:extLst>
          </p:cNvPr>
          <p:cNvSpPr>
            <a:spLocks noGrp="1" noChangeArrowheads="1"/>
          </p:cNvSpPr>
          <p:nvPr>
            <p:ph idx="1"/>
          </p:nvPr>
        </p:nvSpPr>
        <p:spPr>
          <a:xfrm>
            <a:off x="1641108" y="805217"/>
            <a:ext cx="5695749" cy="4025979"/>
          </a:xfrm>
        </p:spPr>
        <p:txBody>
          <a:bodyPr/>
          <a:lstStyle/>
          <a:p>
            <a:pPr>
              <a:tabLst>
                <a:tab pos="1460897" algn="l"/>
              </a:tabLst>
            </a:pPr>
            <a:r>
              <a:rPr lang="en-US" altLang="en-US" dirty="0"/>
              <a:t>For all relations </a:t>
            </a:r>
            <a:r>
              <a:rPr lang="en-US" altLang="en-US" i="1" dirty="0"/>
              <a:t>r</a:t>
            </a:r>
            <a:r>
              <a:rPr lang="en-US" altLang="en-US" baseline="-25000" dirty="0"/>
              <a:t>1, </a:t>
            </a:r>
            <a:r>
              <a:rPr lang="en-US" altLang="en-US" i="1" dirty="0"/>
              <a:t>r</a:t>
            </a:r>
            <a:r>
              <a:rPr lang="en-US" altLang="en-US" baseline="-25000" dirty="0"/>
              <a:t>2, </a:t>
            </a:r>
            <a:r>
              <a:rPr lang="en-US" altLang="en-US" dirty="0"/>
              <a:t>and </a:t>
            </a:r>
            <a:r>
              <a:rPr lang="en-US" altLang="en-US" i="1" dirty="0"/>
              <a:t>r</a:t>
            </a:r>
            <a:r>
              <a:rPr lang="en-US" altLang="en-US" baseline="-25000" dirty="0"/>
              <a:t>3</a:t>
            </a:r>
            <a:r>
              <a:rPr lang="en-US" altLang="en-US" dirty="0"/>
              <a:t>,</a:t>
            </a:r>
          </a:p>
          <a:p>
            <a:pPr>
              <a:buNone/>
              <a:tabLst>
                <a:tab pos="1460897" algn="l"/>
              </a:tabLst>
            </a:pPr>
            <a:r>
              <a:rPr lang="en-US" altLang="en-US" dirty="0"/>
              <a:t>		(</a:t>
            </a:r>
            <a:r>
              <a:rPr lang="en-US" altLang="en-US" i="1" dirty="0"/>
              <a:t>r</a:t>
            </a:r>
            <a:r>
              <a:rPr lang="en-US" altLang="en-US" baseline="-25000" dirty="0"/>
              <a:t>1</a:t>
            </a:r>
            <a:r>
              <a:rPr lang="en-IN" altLang="en-US" dirty="0">
                <a:ea typeface="MS PGothic" panose="020B0600070205080204" pitchFamily="34" charset="-128"/>
              </a:rPr>
              <a:t> ⨝</a:t>
            </a:r>
            <a:r>
              <a:rPr lang="en-US" altLang="en-US" i="1" dirty="0">
                <a:ea typeface="MS PGothic" panose="020B0600070205080204" pitchFamily="34" charset="-128"/>
              </a:rPr>
              <a:t> </a:t>
            </a:r>
            <a:r>
              <a:rPr lang="en-US" altLang="en-US" i="1" dirty="0"/>
              <a:t>r</a:t>
            </a:r>
            <a:r>
              <a:rPr lang="en-US" altLang="en-US" baseline="-25000" dirty="0"/>
              <a:t>2</a:t>
            </a:r>
            <a:r>
              <a:rPr lang="en-US" altLang="en-US" dirty="0"/>
              <a:t>)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en-US" i="1" dirty="0"/>
              <a:t>r</a:t>
            </a:r>
            <a:r>
              <a:rPr lang="en-US" altLang="en-US" baseline="-25000" dirty="0"/>
              <a:t>3  </a:t>
            </a:r>
            <a:r>
              <a:rPr lang="en-US" altLang="en-US" dirty="0"/>
              <a:t>= </a:t>
            </a:r>
            <a:r>
              <a:rPr lang="en-US" altLang="en-US" i="1" dirty="0"/>
              <a:t>r</a:t>
            </a:r>
            <a:r>
              <a:rPr lang="en-US" altLang="en-US" baseline="-25000" dirty="0"/>
              <a:t>1</a:t>
            </a:r>
            <a:r>
              <a:rPr lang="en-US" altLang="en-US" dirty="0"/>
              <a:t>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en-US" dirty="0"/>
              <a:t>(</a:t>
            </a:r>
            <a:r>
              <a:rPr lang="en-US" altLang="en-US" i="1" dirty="0"/>
              <a:t>r</a:t>
            </a:r>
            <a:r>
              <a:rPr lang="en-US" altLang="en-US" baseline="-25000" dirty="0"/>
              <a:t>2</a:t>
            </a:r>
            <a:r>
              <a:rPr lang="en-US" altLang="en-US" dirty="0"/>
              <a:t>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en-US" i="1" dirty="0"/>
              <a:t>r</a:t>
            </a:r>
            <a:r>
              <a:rPr lang="en-US" altLang="en-US" baseline="-25000" dirty="0"/>
              <a:t>3 </a:t>
            </a:r>
            <a:r>
              <a:rPr lang="en-US" altLang="en-US" dirty="0"/>
              <a:t>)</a:t>
            </a:r>
          </a:p>
          <a:p>
            <a:pPr>
              <a:buNone/>
              <a:tabLst>
                <a:tab pos="1460897" algn="l"/>
              </a:tabLst>
            </a:pPr>
            <a:r>
              <a:rPr lang="en-US" altLang="en-US" dirty="0"/>
              <a:t>	(Join Associativity)</a:t>
            </a:r>
            <a:r>
              <a:rPr lang="en-IN" altLang="en-US" dirty="0">
                <a:ea typeface="MS PGothic" panose="020B0600070205080204" pitchFamily="34" charset="-128"/>
              </a:rPr>
              <a:t> ⨝</a:t>
            </a:r>
            <a:r>
              <a:rPr lang="en-US" altLang="en-US" i="1" dirty="0">
                <a:ea typeface="MS PGothic" panose="020B0600070205080204" pitchFamily="34" charset="-128"/>
              </a:rPr>
              <a:t> </a:t>
            </a:r>
            <a:endParaRPr lang="en-US" altLang="en-US" dirty="0"/>
          </a:p>
          <a:p>
            <a:pPr>
              <a:tabLst>
                <a:tab pos="1460897" algn="l"/>
              </a:tabLst>
            </a:pPr>
            <a:r>
              <a:rPr lang="en-US" altLang="en-US" dirty="0"/>
              <a:t>If </a:t>
            </a:r>
            <a:r>
              <a:rPr lang="en-US" altLang="en-US" i="1" dirty="0"/>
              <a:t>r</a:t>
            </a:r>
            <a:r>
              <a:rPr lang="en-US" altLang="en-US" baseline="-25000" dirty="0"/>
              <a:t>2</a:t>
            </a:r>
            <a:r>
              <a:rPr lang="en-US" altLang="en-US" dirty="0"/>
              <a:t> </a:t>
            </a:r>
            <a:r>
              <a:rPr lang="en-IN" altLang="en-US" dirty="0">
                <a:ea typeface="MS PGothic" panose="020B0600070205080204" pitchFamily="34" charset="-128"/>
              </a:rPr>
              <a:t>⨝</a:t>
            </a:r>
            <a:r>
              <a:rPr lang="en-US" altLang="en-US" dirty="0"/>
              <a:t>  </a:t>
            </a:r>
            <a:r>
              <a:rPr lang="en-US" altLang="en-US" i="1" dirty="0"/>
              <a:t>r</a:t>
            </a:r>
            <a:r>
              <a:rPr lang="en-US" altLang="en-US" baseline="-25000" dirty="0"/>
              <a:t>3 </a:t>
            </a:r>
            <a:r>
              <a:rPr lang="en-US" altLang="en-US" dirty="0"/>
              <a:t> is quite large and </a:t>
            </a:r>
            <a:r>
              <a:rPr lang="en-US" altLang="en-US" i="1" dirty="0"/>
              <a:t>r</a:t>
            </a:r>
            <a:r>
              <a:rPr lang="en-US" altLang="en-US" baseline="-25000" dirty="0"/>
              <a:t>1</a:t>
            </a:r>
            <a:r>
              <a:rPr lang="en-US" altLang="en-US" dirty="0"/>
              <a:t> </a:t>
            </a:r>
            <a:r>
              <a:rPr lang="en-IN" altLang="en-US" dirty="0">
                <a:ea typeface="MS PGothic" panose="020B0600070205080204" pitchFamily="34" charset="-128"/>
              </a:rPr>
              <a:t>⨝</a:t>
            </a:r>
            <a:r>
              <a:rPr lang="en-US" altLang="en-US" dirty="0"/>
              <a:t> </a:t>
            </a:r>
            <a:r>
              <a:rPr lang="en-US" altLang="en-US" i="1" dirty="0"/>
              <a:t>r</a:t>
            </a:r>
            <a:r>
              <a:rPr lang="en-US" altLang="en-US" baseline="-25000" dirty="0"/>
              <a:t>2</a:t>
            </a:r>
            <a:r>
              <a:rPr lang="en-US" altLang="en-US" dirty="0"/>
              <a:t> is small, we choose</a:t>
            </a:r>
          </a:p>
          <a:p>
            <a:pPr>
              <a:buNone/>
              <a:tabLst>
                <a:tab pos="1460897" algn="l"/>
              </a:tabLst>
            </a:pPr>
            <a:br>
              <a:rPr lang="en-US" altLang="en-US" baseline="-25000" dirty="0"/>
            </a:br>
            <a:r>
              <a:rPr lang="en-US" altLang="en-US" baseline="-25000" dirty="0"/>
              <a:t>	 </a:t>
            </a:r>
            <a:r>
              <a:rPr lang="en-US" altLang="en-US" dirty="0"/>
              <a:t>(</a:t>
            </a:r>
            <a:r>
              <a:rPr lang="en-US" altLang="en-US" i="1" dirty="0"/>
              <a:t>r</a:t>
            </a:r>
            <a:r>
              <a:rPr lang="en-US" altLang="en-US" baseline="-25000" dirty="0"/>
              <a:t>1</a:t>
            </a:r>
            <a:r>
              <a:rPr lang="en-US" altLang="en-US" dirty="0"/>
              <a:t>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en-US" i="1" dirty="0"/>
              <a:t>r</a:t>
            </a:r>
            <a:r>
              <a:rPr lang="en-US" altLang="en-US" baseline="-25000" dirty="0"/>
              <a:t>2</a:t>
            </a:r>
            <a:r>
              <a:rPr lang="en-US" altLang="en-US" dirty="0"/>
              <a:t>) </a:t>
            </a:r>
            <a:r>
              <a:rPr lang="en-IN" altLang="en-US" dirty="0">
                <a:ea typeface="MS PGothic" panose="020B0600070205080204" pitchFamily="34" charset="-128"/>
              </a:rPr>
              <a:t>⨝</a:t>
            </a:r>
            <a:r>
              <a:rPr lang="en-US" altLang="en-US" dirty="0"/>
              <a:t> </a:t>
            </a:r>
            <a:r>
              <a:rPr lang="en-US" altLang="en-US" i="1" dirty="0"/>
              <a:t>r</a:t>
            </a:r>
            <a:r>
              <a:rPr lang="en-US" altLang="en-US" baseline="-25000" dirty="0"/>
              <a:t>3</a:t>
            </a:r>
            <a:endParaRPr lang="en-US" altLang="en-US" dirty="0"/>
          </a:p>
          <a:p>
            <a:pPr>
              <a:buNone/>
              <a:tabLst>
                <a:tab pos="1460897" algn="l"/>
              </a:tabLst>
            </a:pPr>
            <a:r>
              <a:rPr lang="en-US" altLang="en-US" dirty="0"/>
              <a:t>	so that we compute and store a smaller temporary relation.</a:t>
            </a:r>
            <a:endParaRPr lang="en-US" altLang="en-US" baseline="-25000" dirty="0"/>
          </a:p>
        </p:txBody>
      </p:sp>
      <p:sp>
        <p:nvSpPr>
          <p:cNvPr id="2" name="TextBox 1">
            <a:extLst>
              <a:ext uri="{FF2B5EF4-FFF2-40B4-BE49-F238E27FC236}">
                <a16:creationId xmlns:a16="http://schemas.microsoft.com/office/drawing/2014/main" id="{0B75F430-715D-EDF6-AF69-3BBF4D1C0C95}"/>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A7DFCF53-4E54-4048-AC08-C5BD5617B13B}"/>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Ordering Example (Cont.)</a:t>
            </a:r>
          </a:p>
        </p:txBody>
      </p:sp>
      <p:sp>
        <p:nvSpPr>
          <p:cNvPr id="39939" name="Rectangle 3">
            <a:extLst>
              <a:ext uri="{FF2B5EF4-FFF2-40B4-BE49-F238E27FC236}">
                <a16:creationId xmlns:a16="http://schemas.microsoft.com/office/drawing/2014/main" id="{FC58C06D-6BC1-4E20-A3A3-6AFD666C4DA4}"/>
              </a:ext>
            </a:extLst>
          </p:cNvPr>
          <p:cNvSpPr>
            <a:spLocks noGrp="1" noChangeArrowheads="1"/>
          </p:cNvSpPr>
          <p:nvPr>
            <p:ph idx="1"/>
          </p:nvPr>
        </p:nvSpPr>
        <p:spPr>
          <a:xfrm>
            <a:off x="1641108" y="805217"/>
            <a:ext cx="5688531" cy="4025979"/>
          </a:xfrm>
        </p:spPr>
        <p:txBody>
          <a:bodyPr/>
          <a:lstStyle/>
          <a:p>
            <a:pPr>
              <a:tabLst>
                <a:tab pos="898922" algn="l"/>
              </a:tabLst>
            </a:pPr>
            <a:r>
              <a:rPr lang="en-US" altLang="en-US"/>
              <a:t>Consider the expression</a:t>
            </a:r>
          </a:p>
          <a:p>
            <a:pPr>
              <a:buNone/>
              <a:tabLst>
                <a:tab pos="898922" algn="l"/>
              </a:tabLst>
            </a:pPr>
            <a:r>
              <a:rPr lang="en-US" altLang="en-US"/>
              <a:t>		</a:t>
            </a:r>
            <a:r>
              <a:rPr lang="en-US" altLang="en-US">
                <a:sym typeface="Symbol" panose="05050102010706020507" pitchFamily="18" charset="2"/>
              </a:rPr>
              <a:t></a:t>
            </a:r>
            <a:r>
              <a:rPr lang="en-US" altLang="en-US" i="1" baseline="-25000">
                <a:sym typeface="Symbol" panose="05050102010706020507" pitchFamily="18" charset="2"/>
              </a:rPr>
              <a:t>name, title</a:t>
            </a:r>
            <a:r>
              <a:rPr lang="en-US" altLang="en-US">
                <a:sym typeface="Symbol" panose="05050102010706020507" pitchFamily="18" charset="2"/>
              </a:rPr>
              <a:t>(</a:t>
            </a:r>
            <a:r>
              <a:rPr lang="en-US" altLang="en-US" i="1" baseline="-25000">
                <a:sym typeface="Symbol" panose="05050102010706020507" pitchFamily="18" charset="2"/>
              </a:rPr>
              <a:t>dept_name= </a:t>
            </a:r>
            <a:r>
              <a:rPr lang="ja-JP" altLang="en-US" i="1" baseline="-25000">
                <a:sym typeface="Symbol" panose="05050102010706020507" pitchFamily="18" charset="2"/>
              </a:rPr>
              <a:t>“</a:t>
            </a:r>
            <a:r>
              <a:rPr lang="en-US" altLang="ja-JP" baseline="-25000">
                <a:sym typeface="Symbol" panose="05050102010706020507" pitchFamily="18" charset="2"/>
              </a:rPr>
              <a:t>Music</a:t>
            </a:r>
            <a:r>
              <a:rPr lang="ja-JP" altLang="en-US" baseline="-25000">
                <a:sym typeface="Symbol" panose="05050102010706020507" pitchFamily="18" charset="2"/>
              </a:rPr>
              <a:t>”</a:t>
            </a:r>
            <a:r>
              <a:rPr lang="en-US" altLang="ja-JP" baseline="-25000">
                <a:sym typeface="Symbol" panose="05050102010706020507" pitchFamily="18" charset="2"/>
              </a:rPr>
              <a:t> </a:t>
            </a:r>
            <a:r>
              <a:rPr lang="en-US" altLang="ja-JP">
                <a:sym typeface="Symbol" panose="05050102010706020507" pitchFamily="18" charset="2"/>
              </a:rPr>
              <a:t>(</a:t>
            </a:r>
            <a:r>
              <a:rPr lang="en-US" altLang="ja-JP" i="1">
                <a:sym typeface="Symbol" panose="05050102010706020507" pitchFamily="18" charset="2"/>
              </a:rPr>
              <a:t>instructor)</a:t>
            </a:r>
            <a:r>
              <a:rPr lang="en-IN" altLang="en-US">
                <a:ea typeface="MS PGothic" panose="020B0600070205080204" pitchFamily="34" charset="-128"/>
              </a:rPr>
              <a:t> ⨝</a:t>
            </a:r>
            <a:r>
              <a:rPr lang="en-US" altLang="ja-JP" i="1">
                <a:sym typeface="Symbol" panose="05050102010706020507" pitchFamily="18" charset="2"/>
              </a:rPr>
              <a:t> teaches</a:t>
            </a:r>
            <a:r>
              <a:rPr lang="en-US" altLang="ja-JP">
                <a:sym typeface="Symbol" panose="05050102010706020507" pitchFamily="18" charset="2"/>
              </a:rPr>
              <a:t>) </a:t>
            </a:r>
            <a:br>
              <a:rPr lang="en-US" altLang="ja-JP" i="1">
                <a:sym typeface="Symbol" panose="05050102010706020507" pitchFamily="18" charset="2"/>
              </a:rPr>
            </a:br>
            <a:r>
              <a:rPr lang="en-US" altLang="ja-JP" i="1">
                <a:sym typeface="Symbol" panose="05050102010706020507" pitchFamily="18" charset="2"/>
              </a:rPr>
              <a:t> 			</a:t>
            </a:r>
            <a:r>
              <a:rPr lang="en-IN" altLang="en-US">
                <a:ea typeface="MS PGothic" panose="020B0600070205080204" pitchFamily="34" charset="-128"/>
              </a:rPr>
              <a:t>⨝</a:t>
            </a:r>
            <a:r>
              <a:rPr lang="en-US" altLang="ja-JP" i="1">
                <a:sym typeface="Symbol" panose="05050102010706020507" pitchFamily="18" charset="2"/>
              </a:rPr>
              <a:t>  </a:t>
            </a:r>
            <a:r>
              <a:rPr lang="en-US" altLang="ja-JP">
                <a:sym typeface="Symbol" panose="05050102010706020507" pitchFamily="18" charset="2"/>
              </a:rPr>
              <a:t></a:t>
            </a:r>
            <a:r>
              <a:rPr lang="en-US" altLang="ja-JP" i="1" baseline="-25000" err="1">
                <a:sym typeface="Symbol" panose="05050102010706020507" pitchFamily="18" charset="2"/>
              </a:rPr>
              <a:t>course_id</a:t>
            </a:r>
            <a:r>
              <a:rPr lang="en-US" altLang="ja-JP" i="1" baseline="-25000">
                <a:sym typeface="Symbol" panose="05050102010706020507" pitchFamily="18" charset="2"/>
              </a:rPr>
              <a:t>, title</a:t>
            </a:r>
            <a:r>
              <a:rPr lang="en-US" altLang="ja-JP" i="1">
                <a:sym typeface="Symbol" panose="05050102010706020507" pitchFamily="18" charset="2"/>
              </a:rPr>
              <a:t> </a:t>
            </a:r>
            <a:r>
              <a:rPr lang="en-US" altLang="ja-JP">
                <a:sym typeface="Symbol" panose="05050102010706020507" pitchFamily="18" charset="2"/>
              </a:rPr>
              <a:t>(</a:t>
            </a:r>
            <a:r>
              <a:rPr lang="en-US" altLang="ja-JP" i="1">
                <a:sym typeface="Symbol" panose="05050102010706020507" pitchFamily="18" charset="2"/>
              </a:rPr>
              <a:t>course</a:t>
            </a:r>
            <a:r>
              <a:rPr lang="en-US" altLang="ja-JP">
                <a:sym typeface="Symbol" panose="05050102010706020507" pitchFamily="18" charset="2"/>
              </a:rPr>
              <a:t>))))</a:t>
            </a:r>
          </a:p>
          <a:p>
            <a:pPr>
              <a:tabLst>
                <a:tab pos="898922" algn="l"/>
              </a:tabLst>
            </a:pPr>
            <a:r>
              <a:rPr lang="en-US" altLang="en-US"/>
              <a:t>Could compute   </a:t>
            </a:r>
            <a:r>
              <a:rPr lang="en-US" altLang="en-US" i="1"/>
              <a:t>teaches </a:t>
            </a:r>
            <a:r>
              <a:rPr lang="en-IN" altLang="en-US">
                <a:ea typeface="MS PGothic" panose="020B0600070205080204" pitchFamily="34" charset="-128"/>
              </a:rPr>
              <a:t>⨝</a:t>
            </a:r>
            <a:r>
              <a:rPr lang="en-US" altLang="en-US" i="1"/>
              <a:t> </a:t>
            </a:r>
            <a:r>
              <a:rPr lang="en-US" altLang="en-US">
                <a:sym typeface="Symbol" panose="05050102010706020507" pitchFamily="18" charset="2"/>
              </a:rPr>
              <a:t></a:t>
            </a:r>
            <a:r>
              <a:rPr lang="en-US" altLang="en-US" i="1" baseline="-25000" err="1">
                <a:sym typeface="Symbol" panose="05050102010706020507" pitchFamily="18" charset="2"/>
              </a:rPr>
              <a:t>course_id</a:t>
            </a:r>
            <a:r>
              <a:rPr lang="en-US" altLang="en-US" i="1" baseline="-25000">
                <a:sym typeface="Symbol" panose="05050102010706020507" pitchFamily="18" charset="2"/>
              </a:rPr>
              <a:t>, title</a:t>
            </a:r>
            <a:r>
              <a:rPr lang="en-US" altLang="en-US" i="1">
                <a:sym typeface="Symbol" panose="05050102010706020507" pitchFamily="18" charset="2"/>
              </a:rPr>
              <a:t> </a:t>
            </a:r>
            <a:r>
              <a:rPr lang="en-US" altLang="en-US">
                <a:sym typeface="Symbol" panose="05050102010706020507" pitchFamily="18" charset="2"/>
              </a:rPr>
              <a:t>(</a:t>
            </a:r>
            <a:r>
              <a:rPr lang="en-US" altLang="en-US" i="1">
                <a:sym typeface="Symbol" panose="05050102010706020507" pitchFamily="18" charset="2"/>
              </a:rPr>
              <a:t>course</a:t>
            </a:r>
            <a:r>
              <a:rPr lang="en-US" altLang="en-US">
                <a:sym typeface="Symbol" panose="05050102010706020507" pitchFamily="18" charset="2"/>
              </a:rPr>
              <a:t>)</a:t>
            </a:r>
            <a:r>
              <a:rPr lang="en-US" altLang="en-US" i="1"/>
              <a:t> </a:t>
            </a:r>
            <a:r>
              <a:rPr lang="en-US" altLang="en-US"/>
              <a:t>first, and join result with </a:t>
            </a:r>
            <a:br>
              <a:rPr lang="en-US" altLang="en-US"/>
            </a:br>
            <a:r>
              <a:rPr lang="en-US" altLang="en-US"/>
              <a:t>	 </a:t>
            </a:r>
            <a:r>
              <a:rPr lang="en-US" altLang="en-US">
                <a:sym typeface="Symbol" panose="05050102010706020507" pitchFamily="18" charset="2"/>
              </a:rPr>
              <a:t></a:t>
            </a:r>
            <a:r>
              <a:rPr lang="en-US" altLang="en-US" i="1" baseline="-25000">
                <a:sym typeface="Symbol" panose="05050102010706020507" pitchFamily="18" charset="2"/>
              </a:rPr>
              <a:t>dept_name= </a:t>
            </a:r>
            <a:r>
              <a:rPr lang="ja-JP" altLang="en-US" i="1" baseline="-25000">
                <a:sym typeface="Symbol" panose="05050102010706020507" pitchFamily="18" charset="2"/>
              </a:rPr>
              <a:t>“</a:t>
            </a:r>
            <a:r>
              <a:rPr lang="en-US" altLang="ja-JP" baseline="-25000">
                <a:sym typeface="Symbol" panose="05050102010706020507" pitchFamily="18" charset="2"/>
              </a:rPr>
              <a:t>Music</a:t>
            </a:r>
            <a:r>
              <a:rPr lang="ja-JP" altLang="en-US" baseline="-25000">
                <a:sym typeface="Symbol" panose="05050102010706020507" pitchFamily="18" charset="2"/>
              </a:rPr>
              <a:t>”</a:t>
            </a:r>
            <a:r>
              <a:rPr lang="en-US" altLang="ja-JP" baseline="-25000">
                <a:sym typeface="Symbol" panose="05050102010706020507" pitchFamily="18" charset="2"/>
              </a:rPr>
              <a:t> </a:t>
            </a:r>
            <a:r>
              <a:rPr lang="en-US" altLang="ja-JP">
                <a:sym typeface="Symbol" panose="05050102010706020507" pitchFamily="18" charset="2"/>
              </a:rPr>
              <a:t>(</a:t>
            </a:r>
            <a:r>
              <a:rPr lang="en-US" altLang="ja-JP" i="1">
                <a:sym typeface="Symbol" panose="05050102010706020507" pitchFamily="18" charset="2"/>
              </a:rPr>
              <a:t>instructor</a:t>
            </a:r>
            <a:r>
              <a:rPr lang="en-US" altLang="ja-JP">
                <a:sym typeface="Symbol" panose="05050102010706020507" pitchFamily="18" charset="2"/>
              </a:rPr>
              <a:t>)</a:t>
            </a:r>
            <a:r>
              <a:rPr lang="en-US" altLang="ja-JP" i="1">
                <a:sym typeface="Symbol" panose="05050102010706020507" pitchFamily="18" charset="2"/>
              </a:rPr>
              <a:t> </a:t>
            </a:r>
            <a:br>
              <a:rPr lang="en-US" altLang="ja-JP" i="1">
                <a:sym typeface="Symbol" panose="05050102010706020507" pitchFamily="18" charset="2"/>
              </a:rPr>
            </a:br>
            <a:r>
              <a:rPr lang="en-US" altLang="ja-JP">
                <a:sym typeface="Symbol" panose="05050102010706020507" pitchFamily="18" charset="2"/>
              </a:rPr>
              <a:t>but  the result of the first join</a:t>
            </a:r>
            <a:r>
              <a:rPr lang="en-US" altLang="ja-JP" i="1">
                <a:sym typeface="Symbol" panose="05050102010706020507" pitchFamily="18" charset="2"/>
              </a:rPr>
              <a:t> </a:t>
            </a:r>
            <a:r>
              <a:rPr lang="en-US" altLang="ja-JP">
                <a:sym typeface="Symbol" panose="05050102010706020507" pitchFamily="18" charset="2"/>
              </a:rPr>
              <a:t>is likely to be a large relation.</a:t>
            </a:r>
          </a:p>
          <a:p>
            <a:pPr>
              <a:tabLst>
                <a:tab pos="898922" algn="l"/>
              </a:tabLst>
            </a:pPr>
            <a:r>
              <a:rPr lang="en-US" altLang="en-US">
                <a:sym typeface="Symbol" panose="05050102010706020507" pitchFamily="18" charset="2"/>
              </a:rPr>
              <a:t>Only a small fraction of the university</a:t>
            </a:r>
            <a:r>
              <a:rPr lang="ja-JP" altLang="en-US">
                <a:sym typeface="Symbol" panose="05050102010706020507" pitchFamily="18" charset="2"/>
              </a:rPr>
              <a:t>’</a:t>
            </a:r>
            <a:r>
              <a:rPr lang="en-US" altLang="ja-JP">
                <a:sym typeface="Symbol" panose="05050102010706020507" pitchFamily="18" charset="2"/>
              </a:rPr>
              <a:t>s instructors are likely to be from the Music department</a:t>
            </a:r>
          </a:p>
          <a:p>
            <a:pPr lvl="1">
              <a:tabLst>
                <a:tab pos="898922" algn="l"/>
              </a:tabLst>
            </a:pPr>
            <a:r>
              <a:rPr lang="en-US" altLang="en-US">
                <a:sym typeface="Symbol" panose="05050102010706020507" pitchFamily="18" charset="2"/>
              </a:rPr>
              <a:t> it is better to compute</a:t>
            </a:r>
          </a:p>
          <a:p>
            <a:pPr>
              <a:buNone/>
              <a:tabLst>
                <a:tab pos="898922" algn="l"/>
              </a:tabLst>
            </a:pPr>
            <a:r>
              <a:rPr lang="en-US" altLang="en-US"/>
              <a:t>		 </a:t>
            </a:r>
            <a:r>
              <a:rPr lang="en-US" altLang="en-US">
                <a:sym typeface="Symbol" panose="05050102010706020507" pitchFamily="18" charset="2"/>
              </a:rPr>
              <a:t></a:t>
            </a:r>
            <a:r>
              <a:rPr lang="en-US" altLang="en-US" i="1" baseline="-25000">
                <a:sym typeface="Symbol" panose="05050102010706020507" pitchFamily="18" charset="2"/>
              </a:rPr>
              <a:t>dept_name= </a:t>
            </a:r>
            <a:r>
              <a:rPr lang="ja-JP" altLang="en-US" i="1" baseline="-25000">
                <a:sym typeface="Symbol" panose="05050102010706020507" pitchFamily="18" charset="2"/>
              </a:rPr>
              <a:t>“</a:t>
            </a:r>
            <a:r>
              <a:rPr lang="en-US" altLang="ja-JP" baseline="-25000">
                <a:sym typeface="Symbol" panose="05050102010706020507" pitchFamily="18" charset="2"/>
              </a:rPr>
              <a:t>Music</a:t>
            </a:r>
            <a:r>
              <a:rPr lang="ja-JP" altLang="en-US" baseline="-25000">
                <a:sym typeface="Symbol" panose="05050102010706020507" pitchFamily="18" charset="2"/>
              </a:rPr>
              <a:t>”</a:t>
            </a:r>
            <a:r>
              <a:rPr lang="en-US" altLang="ja-JP" baseline="-25000">
                <a:sym typeface="Symbol" panose="05050102010706020507" pitchFamily="18" charset="2"/>
              </a:rPr>
              <a:t> </a:t>
            </a:r>
            <a:r>
              <a:rPr lang="en-US" altLang="ja-JP">
                <a:sym typeface="Symbol" panose="05050102010706020507" pitchFamily="18" charset="2"/>
              </a:rPr>
              <a:t>(</a:t>
            </a:r>
            <a:r>
              <a:rPr lang="en-US" altLang="ja-JP" i="1">
                <a:sym typeface="Symbol" panose="05050102010706020507" pitchFamily="18" charset="2"/>
              </a:rPr>
              <a:t>instructor) </a:t>
            </a:r>
            <a:r>
              <a:rPr lang="en-IN" altLang="en-US">
                <a:ea typeface="MS PGothic" panose="020B0600070205080204" pitchFamily="34" charset="-128"/>
              </a:rPr>
              <a:t>⨝</a:t>
            </a:r>
            <a:r>
              <a:rPr lang="en-US" altLang="ja-JP" i="1">
                <a:sym typeface="Symbol" panose="05050102010706020507" pitchFamily="18" charset="2"/>
              </a:rPr>
              <a:t> teaches </a:t>
            </a:r>
          </a:p>
          <a:p>
            <a:pPr>
              <a:buNone/>
              <a:tabLst>
                <a:tab pos="898922" algn="l"/>
              </a:tabLst>
            </a:pPr>
            <a:r>
              <a:rPr lang="en-US" altLang="en-US" i="1">
                <a:sym typeface="Symbol" panose="05050102010706020507" pitchFamily="18" charset="2"/>
              </a:rPr>
              <a:t>	       </a:t>
            </a:r>
            <a:r>
              <a:rPr lang="en-US" altLang="en-US">
                <a:sym typeface="Symbol" panose="05050102010706020507" pitchFamily="18" charset="2"/>
              </a:rPr>
              <a:t>first.</a:t>
            </a:r>
            <a:r>
              <a:rPr lang="en-US" altLang="en-US"/>
              <a:t> </a:t>
            </a:r>
          </a:p>
          <a:p>
            <a:pPr>
              <a:buNone/>
              <a:tabLst>
                <a:tab pos="898922" algn="l"/>
              </a:tabLst>
            </a:pPr>
            <a:endParaRPr lang="en-US" altLang="en-US"/>
          </a:p>
        </p:txBody>
      </p:sp>
      <p:sp>
        <p:nvSpPr>
          <p:cNvPr id="2" name="TextBox 1">
            <a:extLst>
              <a:ext uri="{FF2B5EF4-FFF2-40B4-BE49-F238E27FC236}">
                <a16:creationId xmlns:a16="http://schemas.microsoft.com/office/drawing/2014/main" id="{9F4A452D-3787-3B06-430A-F0F7CC2DE681}"/>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a:extLst>
              <a:ext uri="{FF2B5EF4-FFF2-40B4-BE49-F238E27FC236}">
                <a16:creationId xmlns:a16="http://schemas.microsoft.com/office/drawing/2014/main" id="{A6C3F11C-A25B-4E42-A39E-BB138AAD9251}"/>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Enumeration of Equivalent Expressions</a:t>
            </a:r>
          </a:p>
        </p:txBody>
      </p:sp>
      <p:sp>
        <p:nvSpPr>
          <p:cNvPr id="41987" name="Rectangle 3">
            <a:extLst>
              <a:ext uri="{FF2B5EF4-FFF2-40B4-BE49-F238E27FC236}">
                <a16:creationId xmlns:a16="http://schemas.microsoft.com/office/drawing/2014/main" id="{F6C31D7E-F789-4652-9488-B1AEE7EED4D5}"/>
              </a:ext>
            </a:extLst>
          </p:cNvPr>
          <p:cNvSpPr>
            <a:spLocks noGrp="1" noChangeArrowheads="1"/>
          </p:cNvSpPr>
          <p:nvPr>
            <p:ph idx="1"/>
          </p:nvPr>
        </p:nvSpPr>
        <p:spPr>
          <a:xfrm>
            <a:off x="1648326" y="826873"/>
            <a:ext cx="5789596" cy="4025979"/>
          </a:xfrm>
        </p:spPr>
        <p:txBody>
          <a:bodyPr/>
          <a:lstStyle/>
          <a:p>
            <a:r>
              <a:rPr lang="en-US" altLang="en-US"/>
              <a:t>Query optimizers use equivalence rules to </a:t>
            </a:r>
            <a:r>
              <a:rPr lang="en-US" altLang="en-US" b="1"/>
              <a:t>systematically</a:t>
            </a:r>
            <a:r>
              <a:rPr lang="en-US" altLang="en-US"/>
              <a:t> generate expressions equivalent to the given expression</a:t>
            </a:r>
          </a:p>
          <a:p>
            <a:r>
              <a:rPr lang="en-US" altLang="en-US"/>
              <a:t>Can generate all equivalent expressions as follows: </a:t>
            </a:r>
          </a:p>
          <a:p>
            <a:pPr lvl="1"/>
            <a:r>
              <a:rPr lang="en-US" altLang="en-US"/>
              <a:t> Repeat</a:t>
            </a:r>
          </a:p>
          <a:p>
            <a:pPr lvl="2"/>
            <a:r>
              <a:rPr lang="en-US" altLang="en-US"/>
              <a:t>apply all applicable equivalence  rules on every subexpression of every equivalent expression found so far</a:t>
            </a:r>
          </a:p>
          <a:p>
            <a:pPr lvl="2"/>
            <a:r>
              <a:rPr lang="en-US" altLang="en-US"/>
              <a:t>add newly generated expressions to the set of equivalent expressions </a:t>
            </a:r>
          </a:p>
          <a:p>
            <a:pPr lvl="2">
              <a:buFont typeface="Webdings" panose="05030102010509060703" pitchFamily="18" charset="2"/>
              <a:buNone/>
            </a:pPr>
            <a:r>
              <a:rPr lang="en-US" altLang="en-US"/>
              <a:t>Until no new equivalent expressions are generated above</a:t>
            </a:r>
          </a:p>
          <a:p>
            <a:r>
              <a:rPr lang="en-US" altLang="en-US"/>
              <a:t>The above approach is very expensive in space and time</a:t>
            </a:r>
          </a:p>
          <a:p>
            <a:pPr lvl="1"/>
            <a:r>
              <a:rPr lang="en-US" altLang="en-US"/>
              <a:t>Two approaches</a:t>
            </a:r>
          </a:p>
          <a:p>
            <a:pPr lvl="2"/>
            <a:r>
              <a:rPr lang="en-US" altLang="en-US"/>
              <a:t>Optimized plan generation based on transformation rules</a:t>
            </a:r>
          </a:p>
          <a:p>
            <a:pPr lvl="2"/>
            <a:r>
              <a:rPr lang="en-US" altLang="en-US"/>
              <a:t>Special case approach for queries with only selections, projections and joins</a:t>
            </a:r>
          </a:p>
          <a:p>
            <a:pPr>
              <a:buFont typeface="Monotype Sorts" pitchFamily="-65" charset="2"/>
              <a:buNone/>
            </a:pPr>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a:extLst>
              <a:ext uri="{FF2B5EF4-FFF2-40B4-BE49-F238E27FC236}">
                <a16:creationId xmlns:a16="http://schemas.microsoft.com/office/drawing/2014/main" id="{A841BFC6-44BE-4C9F-A1AF-2D2B70137654}"/>
              </a:ext>
            </a:extLst>
          </p:cNvPr>
          <p:cNvSpPr>
            <a:spLocks noGrp="1" noChangeArrowheads="1"/>
          </p:cNvSpPr>
          <p:nvPr>
            <p:ph type="title"/>
          </p:nvPr>
        </p:nvSpPr>
        <p:spPr>
          <a:xfrm>
            <a:off x="1555267" y="88055"/>
            <a:ext cx="6520277" cy="522821"/>
          </a:xfrm>
        </p:spPr>
        <p:txBody>
          <a:bodyPr/>
          <a:lstStyle/>
          <a:p>
            <a:pPr>
              <a:defRPr/>
            </a:pPr>
            <a:r>
              <a:rPr lang="en-US" altLang="en-US" sz="1950">
                <a:effectLst>
                  <a:outerShdw blurRad="38100" dist="38100" dir="2700000" algn="tl">
                    <a:srgbClr val="C0C0C0"/>
                  </a:outerShdw>
                </a:effectLst>
              </a:rPr>
              <a:t>Implementing Transformation Based Optimization</a:t>
            </a:r>
          </a:p>
        </p:txBody>
      </p:sp>
      <p:sp>
        <p:nvSpPr>
          <p:cNvPr id="44035" name="Rectangle 3">
            <a:extLst>
              <a:ext uri="{FF2B5EF4-FFF2-40B4-BE49-F238E27FC236}">
                <a16:creationId xmlns:a16="http://schemas.microsoft.com/office/drawing/2014/main" id="{5EC7FF5E-BA26-4F49-881B-EBC2A8B4FA47}"/>
              </a:ext>
            </a:extLst>
          </p:cNvPr>
          <p:cNvSpPr>
            <a:spLocks noGrp="1" noChangeArrowheads="1"/>
          </p:cNvSpPr>
          <p:nvPr>
            <p:ph idx="1"/>
          </p:nvPr>
        </p:nvSpPr>
        <p:spPr>
          <a:xfrm>
            <a:off x="228600" y="895350"/>
            <a:ext cx="5869004" cy="4025979"/>
          </a:xfrm>
        </p:spPr>
        <p:txBody>
          <a:bodyPr/>
          <a:lstStyle/>
          <a:p>
            <a:r>
              <a:rPr lang="en-US" altLang="en-US" dirty="0"/>
              <a:t>Space requirements reduced by sharing common sub-expressions:</a:t>
            </a:r>
          </a:p>
          <a:p>
            <a:pPr lvl="1"/>
            <a:r>
              <a:rPr lang="en-US" altLang="en-US" dirty="0"/>
              <a:t>when E1 is generated from E2 by an equivalence rule, usually only the top level of the two are different, subtrees below are the same and can be shared using pointers</a:t>
            </a:r>
          </a:p>
          <a:p>
            <a:pPr lvl="2"/>
            <a:r>
              <a:rPr lang="en-US" altLang="en-US" dirty="0"/>
              <a:t>E.g., when applying join commutativity</a:t>
            </a:r>
          </a:p>
          <a:p>
            <a:pPr lvl="2">
              <a:buFont typeface="Webdings" panose="05030102010509060703" pitchFamily="18" charset="2"/>
              <a:buNone/>
            </a:pPr>
            <a:br>
              <a:rPr lang="en-US" altLang="en-US" dirty="0"/>
            </a:br>
            <a:br>
              <a:rPr lang="en-US" altLang="en-US" dirty="0"/>
            </a:br>
            <a:br>
              <a:rPr lang="en-US" altLang="en-US" dirty="0"/>
            </a:br>
            <a:br>
              <a:rPr lang="en-US" altLang="en-US" dirty="0"/>
            </a:br>
            <a:br>
              <a:rPr lang="en-US" altLang="en-US" dirty="0"/>
            </a:br>
            <a:endParaRPr lang="en-US" altLang="en-US" dirty="0"/>
          </a:p>
          <a:p>
            <a:pPr lvl="1"/>
            <a:r>
              <a:rPr lang="en-US" altLang="en-US" dirty="0"/>
              <a:t>Same sub-expression may get generated multiple times</a:t>
            </a:r>
          </a:p>
          <a:p>
            <a:pPr lvl="2"/>
            <a:r>
              <a:rPr lang="en-US" altLang="en-US" dirty="0"/>
              <a:t>Detect duplicate sub-expressions and share one copy</a:t>
            </a:r>
          </a:p>
          <a:p>
            <a:r>
              <a:rPr lang="en-US" altLang="en-US" dirty="0"/>
              <a:t>Time requirements are reduced by not generating all expressions</a:t>
            </a:r>
          </a:p>
          <a:p>
            <a:pPr lvl="1"/>
            <a:r>
              <a:rPr lang="en-US" altLang="en-US" dirty="0"/>
              <a:t>Dynamic programming</a:t>
            </a:r>
          </a:p>
          <a:p>
            <a:pPr lvl="2"/>
            <a:r>
              <a:rPr lang="en-US" altLang="en-US" dirty="0"/>
              <a:t>We will study only the special case of dynamic programming for join order optimization</a:t>
            </a:r>
          </a:p>
        </p:txBody>
      </p:sp>
      <p:pic>
        <p:nvPicPr>
          <p:cNvPr id="2" name="Picture 1"/>
          <p:cNvPicPr>
            <a:picLocks noChangeAspect="1"/>
          </p:cNvPicPr>
          <p:nvPr/>
        </p:nvPicPr>
        <p:blipFill>
          <a:blip r:embed="rId3"/>
          <a:stretch>
            <a:fillRect/>
          </a:stretch>
        </p:blipFill>
        <p:spPr>
          <a:xfrm>
            <a:off x="1371600" y="2190750"/>
            <a:ext cx="1966550" cy="978824"/>
          </a:xfrm>
          <a:prstGeom prst="rect">
            <a:avLst/>
          </a:prstGeom>
        </p:spPr>
      </p:pic>
      <p:pic>
        <p:nvPicPr>
          <p:cNvPr id="2050" name="Picture 2" descr="You're very smart. Shut up. - Imgflip">
            <a:extLst>
              <a:ext uri="{FF2B5EF4-FFF2-40B4-BE49-F238E27FC236}">
                <a16:creationId xmlns:a16="http://schemas.microsoft.com/office/drawing/2014/main" id="{B39498E1-ABEA-F54B-7FCC-3EEF6D6A6B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1866528"/>
            <a:ext cx="2895600" cy="16272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a:extLst>
              <a:ext uri="{FF2B5EF4-FFF2-40B4-BE49-F238E27FC236}">
                <a16:creationId xmlns:a16="http://schemas.microsoft.com/office/drawing/2014/main" id="{CD7419F5-FE92-4159-9AAF-687033F9013B}"/>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Cost Estimation</a:t>
            </a:r>
          </a:p>
        </p:txBody>
      </p:sp>
      <p:sp>
        <p:nvSpPr>
          <p:cNvPr id="46083" name="Rectangle 3">
            <a:extLst>
              <a:ext uri="{FF2B5EF4-FFF2-40B4-BE49-F238E27FC236}">
                <a16:creationId xmlns:a16="http://schemas.microsoft.com/office/drawing/2014/main" id="{6F513389-B461-4AFD-8659-5598A25B6340}"/>
              </a:ext>
            </a:extLst>
          </p:cNvPr>
          <p:cNvSpPr>
            <a:spLocks noGrp="1" noChangeArrowheads="1"/>
          </p:cNvSpPr>
          <p:nvPr>
            <p:ph idx="1"/>
          </p:nvPr>
        </p:nvSpPr>
        <p:spPr>
          <a:xfrm>
            <a:off x="1648326" y="826873"/>
            <a:ext cx="6128837" cy="4025979"/>
          </a:xfrm>
        </p:spPr>
        <p:txBody>
          <a:bodyPr/>
          <a:lstStyle/>
          <a:p>
            <a:r>
              <a:rPr lang="en-US" altLang="en-US" dirty="0"/>
              <a:t>Cost of each operator computer as described in Chapter 15</a:t>
            </a:r>
          </a:p>
          <a:p>
            <a:pPr lvl="1"/>
            <a:r>
              <a:rPr lang="en-US" altLang="en-US" dirty="0"/>
              <a:t>Need statistics of input relations</a:t>
            </a:r>
          </a:p>
          <a:p>
            <a:pPr lvl="2"/>
            <a:r>
              <a:rPr lang="en-US" altLang="en-US" dirty="0"/>
              <a:t>E.g., number of tuples, sizes of tuples</a:t>
            </a:r>
          </a:p>
          <a:p>
            <a:r>
              <a:rPr lang="en-US" altLang="en-US" dirty="0"/>
              <a:t>Inputs can be results of sub-expressions</a:t>
            </a:r>
          </a:p>
          <a:p>
            <a:pPr lvl="1"/>
            <a:r>
              <a:rPr lang="en-US" altLang="en-US" dirty="0"/>
              <a:t>Need to estimate statistics of expression results</a:t>
            </a:r>
          </a:p>
          <a:p>
            <a:pPr lvl="1"/>
            <a:r>
              <a:rPr lang="en-US" altLang="en-US" dirty="0"/>
              <a:t>To do so, we require additional statistics</a:t>
            </a:r>
          </a:p>
          <a:p>
            <a:pPr lvl="2"/>
            <a:r>
              <a:rPr lang="en-US" altLang="en-US" dirty="0"/>
              <a:t>E.g., number of distinct values for an attribute</a:t>
            </a:r>
          </a:p>
          <a:p>
            <a:r>
              <a:rPr lang="en-US" altLang="en-US" dirty="0"/>
              <a:t>More on cost estimation later</a:t>
            </a:r>
          </a:p>
        </p:txBody>
      </p:sp>
      <p:sp>
        <p:nvSpPr>
          <p:cNvPr id="2" name="TextBox 1">
            <a:extLst>
              <a:ext uri="{FF2B5EF4-FFF2-40B4-BE49-F238E27FC236}">
                <a16:creationId xmlns:a16="http://schemas.microsoft.com/office/drawing/2014/main" id="{52846EB1-7A2F-EF14-259A-A01B7AB23829}"/>
              </a:ext>
            </a:extLst>
          </p:cNvPr>
          <p:cNvSpPr txBox="1"/>
          <p:nvPr/>
        </p:nvSpPr>
        <p:spPr>
          <a:xfrm>
            <a:off x="6477000" y="1123950"/>
            <a:ext cx="2184381" cy="1200329"/>
          </a:xfrm>
          <a:prstGeom prst="rect">
            <a:avLst/>
          </a:prstGeom>
          <a:noFill/>
        </p:spPr>
        <p:txBody>
          <a:bodyPr wrap="none" rtlCol="0">
            <a:spAutoFit/>
          </a:bodyPr>
          <a:lstStyle/>
          <a:p>
            <a:r>
              <a:rPr lang="en-US" dirty="0">
                <a:solidFill>
                  <a:srgbClr val="FF0000"/>
                </a:solidFill>
              </a:rPr>
              <a:t>Remember algorithm</a:t>
            </a:r>
            <a:br>
              <a:rPr lang="en-US" dirty="0">
                <a:solidFill>
                  <a:srgbClr val="FF0000"/>
                </a:solidFill>
              </a:rPr>
            </a:br>
            <a:r>
              <a:rPr lang="en-US" dirty="0">
                <a:solidFill>
                  <a:srgbClr val="FF0000"/>
                </a:solidFill>
              </a:rPr>
              <a:t>selection applies to</a:t>
            </a:r>
            <a:br>
              <a:rPr lang="en-US" dirty="0">
                <a:solidFill>
                  <a:srgbClr val="FF0000"/>
                </a:solidFill>
              </a:rPr>
            </a:br>
            <a:r>
              <a:rPr lang="en-US" dirty="0">
                <a:solidFill>
                  <a:srgbClr val="FF0000"/>
                </a:solidFill>
              </a:rPr>
              <a:t>the operators in each</a:t>
            </a:r>
            <a:br>
              <a:rPr lang="en-US" dirty="0">
                <a:solidFill>
                  <a:srgbClr val="FF0000"/>
                </a:solidFill>
              </a:rPr>
            </a:br>
            <a:r>
              <a:rPr lang="en-US" dirty="0">
                <a:solidFill>
                  <a:srgbClr val="FF0000"/>
                </a:solidFill>
              </a:rPr>
              <a:t>of the possible trees.</a:t>
            </a:r>
          </a:p>
        </p:txBody>
      </p:sp>
      <p:sp>
        <p:nvSpPr>
          <p:cNvPr id="3" name="TextBox 2">
            <a:extLst>
              <a:ext uri="{FF2B5EF4-FFF2-40B4-BE49-F238E27FC236}">
                <a16:creationId xmlns:a16="http://schemas.microsoft.com/office/drawing/2014/main" id="{887D29B4-CE51-286C-268A-092CB4563019}"/>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a:extLst>
              <a:ext uri="{FF2B5EF4-FFF2-40B4-BE49-F238E27FC236}">
                <a16:creationId xmlns:a16="http://schemas.microsoft.com/office/drawing/2014/main" id="{64326744-9FBF-4DBD-9453-5D70A30DDC0A}"/>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Choice of Evaluation Plans</a:t>
            </a:r>
          </a:p>
        </p:txBody>
      </p:sp>
      <p:sp>
        <p:nvSpPr>
          <p:cNvPr id="48131" name="Rectangle 3">
            <a:extLst>
              <a:ext uri="{FF2B5EF4-FFF2-40B4-BE49-F238E27FC236}">
                <a16:creationId xmlns:a16="http://schemas.microsoft.com/office/drawing/2014/main" id="{EFE03035-031F-48FD-B68D-7BF85E78CE40}"/>
              </a:ext>
            </a:extLst>
          </p:cNvPr>
          <p:cNvSpPr>
            <a:spLocks noGrp="1" noChangeArrowheads="1"/>
          </p:cNvSpPr>
          <p:nvPr>
            <p:ph idx="1"/>
          </p:nvPr>
        </p:nvSpPr>
        <p:spPr>
          <a:xfrm>
            <a:off x="1648326" y="826873"/>
            <a:ext cx="5847348" cy="4025979"/>
          </a:xfrm>
        </p:spPr>
        <p:txBody>
          <a:bodyPr/>
          <a:lstStyle/>
          <a:p>
            <a:r>
              <a:rPr lang="en-US" altLang="en-US" dirty="0"/>
              <a:t>Must consider the interaction of evaluation techniques when choosing evaluation plans</a:t>
            </a:r>
          </a:p>
          <a:p>
            <a:pPr lvl="1"/>
            <a:r>
              <a:rPr lang="en-US" altLang="en-US" dirty="0"/>
              <a:t>choosing the cheapest algorithm for each operation independently may not yield best overall algorithm.  E.g.</a:t>
            </a:r>
          </a:p>
          <a:p>
            <a:pPr lvl="2"/>
            <a:r>
              <a:rPr lang="en-US" altLang="en-US" dirty="0"/>
              <a:t>merge-join may be costlier than hash-join, but may provide a sorted output which reduces the cost for an outer level aggregation.</a:t>
            </a:r>
          </a:p>
          <a:p>
            <a:pPr lvl="2"/>
            <a:r>
              <a:rPr lang="en-US" altLang="en-US" dirty="0"/>
              <a:t>nested-loop join may provide opportunity for pipelining</a:t>
            </a:r>
          </a:p>
          <a:p>
            <a:r>
              <a:rPr lang="en-US" altLang="en-US" dirty="0"/>
              <a:t>Practical query optimizers incorporate elements of the following two broad approaches:</a:t>
            </a:r>
          </a:p>
          <a:p>
            <a:pPr lvl="1">
              <a:buFont typeface="Monotype Sorts" pitchFamily="-65" charset="2"/>
              <a:buNone/>
            </a:pPr>
            <a:r>
              <a:rPr lang="en-US" altLang="en-US" dirty="0"/>
              <a:t>1.	Search all the plans and choose the best plan in a </a:t>
            </a:r>
            <a:br>
              <a:rPr lang="en-US" altLang="en-US" dirty="0"/>
            </a:br>
            <a:r>
              <a:rPr lang="en-US" altLang="en-US" dirty="0"/>
              <a:t>cost-based fashion.</a:t>
            </a:r>
          </a:p>
          <a:p>
            <a:pPr lvl="1">
              <a:buFont typeface="Monotype Sorts" pitchFamily="-65" charset="2"/>
              <a:buNone/>
            </a:pPr>
            <a:r>
              <a:rPr lang="en-US" altLang="en-US" dirty="0"/>
              <a:t>2. Uses heuristics to choose a plan.</a:t>
            </a:r>
          </a:p>
        </p:txBody>
      </p:sp>
      <p:sp>
        <p:nvSpPr>
          <p:cNvPr id="2" name="TextBox 1">
            <a:extLst>
              <a:ext uri="{FF2B5EF4-FFF2-40B4-BE49-F238E27FC236}">
                <a16:creationId xmlns:a16="http://schemas.microsoft.com/office/drawing/2014/main" id="{307AEAC3-1505-099C-3B8D-6B28A8027AE0}"/>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a:extLst>
              <a:ext uri="{FF2B5EF4-FFF2-40B4-BE49-F238E27FC236}">
                <a16:creationId xmlns:a16="http://schemas.microsoft.com/office/drawing/2014/main" id="{70AC9EB8-145F-44FE-83DE-591A653E71C4}"/>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Order Optimization Algorithm</a:t>
            </a:r>
          </a:p>
        </p:txBody>
      </p:sp>
      <p:sp>
        <p:nvSpPr>
          <p:cNvPr id="54275" name="Rectangle 3">
            <a:extLst>
              <a:ext uri="{FF2B5EF4-FFF2-40B4-BE49-F238E27FC236}">
                <a16:creationId xmlns:a16="http://schemas.microsoft.com/office/drawing/2014/main" id="{9EF63D08-E132-4508-BDD9-45B4691EBB73}"/>
              </a:ext>
            </a:extLst>
          </p:cNvPr>
          <p:cNvSpPr>
            <a:spLocks noGrp="1" noChangeArrowheads="1"/>
          </p:cNvSpPr>
          <p:nvPr>
            <p:ph idx="1"/>
          </p:nvPr>
        </p:nvSpPr>
        <p:spPr>
          <a:xfrm>
            <a:off x="152400" y="819150"/>
            <a:ext cx="6240755" cy="3657600"/>
          </a:xfrm>
          <a:prstGeom prst="rect">
            <a:avLst/>
          </a:prstGeom>
        </p:spPr>
        <p:txBody>
          <a:bodyPr/>
          <a:lstStyle/>
          <a:p>
            <a:pPr>
              <a:buFont typeface="Monotype Sorts" pitchFamily="-65" charset="2"/>
              <a:buNone/>
            </a:pPr>
            <a:r>
              <a:rPr lang="en-US" altLang="en-US" b="1" dirty="0"/>
              <a:t>procedure</a:t>
            </a:r>
            <a:r>
              <a:rPr lang="en-US" altLang="en-US" dirty="0"/>
              <a:t> </a:t>
            </a:r>
            <a:r>
              <a:rPr lang="en-US" altLang="en-US" dirty="0" err="1"/>
              <a:t>findbestplan</a:t>
            </a:r>
            <a:r>
              <a:rPr lang="en-US" altLang="en-US" dirty="0"/>
              <a:t>(</a:t>
            </a:r>
            <a:r>
              <a:rPr lang="en-US" altLang="en-US" i="1" dirty="0"/>
              <a:t>S</a:t>
            </a:r>
            <a:r>
              <a:rPr lang="en-US" altLang="en-US" dirty="0"/>
              <a:t>)</a:t>
            </a:r>
            <a:br>
              <a:rPr lang="en-US" altLang="en-US" dirty="0"/>
            </a:br>
            <a:r>
              <a:rPr lang="en-US" altLang="en-US" b="1" dirty="0"/>
              <a:t>if</a:t>
            </a:r>
            <a:r>
              <a:rPr lang="en-US" altLang="en-US" dirty="0"/>
              <a:t> (</a:t>
            </a:r>
            <a:r>
              <a:rPr lang="en-US" altLang="en-US" i="1" dirty="0" err="1"/>
              <a:t>bestplan</a:t>
            </a:r>
            <a:r>
              <a:rPr lang="en-US" altLang="en-US" dirty="0"/>
              <a:t>[</a:t>
            </a:r>
            <a:r>
              <a:rPr lang="en-US" altLang="en-US" i="1" dirty="0"/>
              <a:t>S</a:t>
            </a:r>
            <a:r>
              <a:rPr lang="en-US" altLang="en-US" dirty="0"/>
              <a:t>].</a:t>
            </a:r>
            <a:r>
              <a:rPr lang="en-US" altLang="en-US" i="1" dirty="0"/>
              <a:t>cost </a:t>
            </a:r>
            <a:r>
              <a:rPr lang="en-US" altLang="en-US" dirty="0">
                <a:sym typeface="Symbol" panose="05050102010706020507" pitchFamily="18" charset="2"/>
              </a:rPr>
              <a:t> )</a:t>
            </a:r>
            <a:br>
              <a:rPr lang="en-US" altLang="en-US" dirty="0">
                <a:sym typeface="Symbol" panose="05050102010706020507" pitchFamily="18" charset="2"/>
              </a:rPr>
            </a:br>
            <a:r>
              <a:rPr lang="en-US" altLang="en-US" dirty="0">
                <a:sym typeface="Symbol" panose="05050102010706020507" pitchFamily="18" charset="2"/>
              </a:rPr>
              <a:t>	</a:t>
            </a:r>
            <a:r>
              <a:rPr lang="en-US" altLang="en-US" b="1" dirty="0">
                <a:sym typeface="Symbol" panose="05050102010706020507" pitchFamily="18" charset="2"/>
              </a:rPr>
              <a:t>return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a:t>
            </a:r>
            <a:br>
              <a:rPr lang="en-US" altLang="en-US" dirty="0">
                <a:sym typeface="Symbol" panose="05050102010706020507" pitchFamily="18" charset="2"/>
              </a:rPr>
            </a:br>
            <a:r>
              <a:rPr lang="en-US" altLang="en-US" dirty="0">
                <a:sym typeface="Symbol" panose="05050102010706020507" pitchFamily="18" charset="2"/>
              </a:rPr>
              <a:t>// else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 has not been computed earlier, compute it now</a:t>
            </a:r>
            <a:br>
              <a:rPr lang="en-US" altLang="en-US" dirty="0">
                <a:sym typeface="Symbol" panose="05050102010706020507" pitchFamily="18" charset="2"/>
              </a:rPr>
            </a:br>
            <a:r>
              <a:rPr lang="en-US" altLang="en-US" b="1" dirty="0">
                <a:sym typeface="Symbol" panose="05050102010706020507" pitchFamily="18" charset="2"/>
              </a:rPr>
              <a:t>if</a:t>
            </a:r>
            <a:r>
              <a:rPr lang="en-US" altLang="en-US" dirty="0">
                <a:sym typeface="Symbol" panose="05050102010706020507" pitchFamily="18" charset="2"/>
              </a:rPr>
              <a:t> (</a:t>
            </a:r>
            <a:r>
              <a:rPr lang="en-US" altLang="en-US" i="1" dirty="0">
                <a:sym typeface="Symbol" panose="05050102010706020507" pitchFamily="18" charset="2"/>
              </a:rPr>
              <a:t>S</a:t>
            </a:r>
            <a:r>
              <a:rPr lang="en-US" altLang="en-US" dirty="0">
                <a:sym typeface="Symbol" panose="05050102010706020507" pitchFamily="18" charset="2"/>
              </a:rPr>
              <a:t> contains only 1 relation)</a:t>
            </a:r>
            <a:br>
              <a:rPr lang="en-US" altLang="en-US" dirty="0">
                <a:sym typeface="Symbol" panose="05050102010706020507" pitchFamily="18" charset="2"/>
              </a:rPr>
            </a:br>
            <a:r>
              <a:rPr lang="en-US" altLang="en-US" dirty="0">
                <a:sym typeface="Symbol" panose="05050102010706020507" pitchFamily="18" charset="2"/>
              </a:rPr>
              <a:t>    set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a:t>
            </a:r>
            <a:r>
              <a:rPr lang="en-US" altLang="en-US" i="1" dirty="0">
                <a:sym typeface="Symbol" panose="05050102010706020507" pitchFamily="18" charset="2"/>
              </a:rPr>
              <a:t>plan</a:t>
            </a:r>
            <a:r>
              <a:rPr lang="en-US" altLang="en-US" dirty="0">
                <a:sym typeface="Symbol" panose="05050102010706020507" pitchFamily="18" charset="2"/>
              </a:rPr>
              <a:t> and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a:t>
            </a:r>
            <a:r>
              <a:rPr lang="en-US" altLang="en-US" i="1" dirty="0">
                <a:sym typeface="Symbol" panose="05050102010706020507" pitchFamily="18" charset="2"/>
              </a:rPr>
              <a:t>cost</a:t>
            </a:r>
            <a:r>
              <a:rPr lang="en-US" altLang="en-US" dirty="0">
                <a:sym typeface="Symbol" panose="05050102010706020507" pitchFamily="18" charset="2"/>
              </a:rPr>
              <a:t> based on the best way </a:t>
            </a:r>
            <a:br>
              <a:rPr lang="en-US" altLang="en-US" dirty="0">
                <a:sym typeface="Symbol" panose="05050102010706020507" pitchFamily="18" charset="2"/>
              </a:rPr>
            </a:br>
            <a:r>
              <a:rPr lang="en-US" altLang="en-US" dirty="0">
                <a:sym typeface="Symbol" panose="05050102010706020507" pitchFamily="18" charset="2"/>
              </a:rPr>
              <a:t>    of accessing </a:t>
            </a:r>
            <a:r>
              <a:rPr lang="en-US" altLang="en-US" i="1" dirty="0">
                <a:sym typeface="Symbol" panose="05050102010706020507" pitchFamily="18" charset="2"/>
              </a:rPr>
              <a:t>S</a:t>
            </a:r>
            <a:r>
              <a:rPr lang="en-US" altLang="en-US" dirty="0">
                <a:sym typeface="Symbol" panose="05050102010706020507" pitchFamily="18" charset="2"/>
              </a:rPr>
              <a:t>  using selections on </a:t>
            </a:r>
            <a:r>
              <a:rPr lang="en-US" altLang="en-US" i="1" dirty="0">
                <a:sym typeface="Symbol" panose="05050102010706020507" pitchFamily="18" charset="2"/>
              </a:rPr>
              <a:t>S</a:t>
            </a:r>
            <a:r>
              <a:rPr lang="en-US" altLang="en-US" dirty="0">
                <a:sym typeface="Symbol" panose="05050102010706020507" pitchFamily="18" charset="2"/>
              </a:rPr>
              <a:t> and indices (if any) on S </a:t>
            </a:r>
            <a:r>
              <a:rPr lang="en-US" altLang="en-US" b="1" dirty="0">
                <a:sym typeface="Symbol" panose="05050102010706020507" pitchFamily="18" charset="2"/>
              </a:rPr>
              <a:t>else for each </a:t>
            </a:r>
            <a:r>
              <a:rPr lang="en-US" altLang="en-US" dirty="0">
                <a:sym typeface="Symbol" panose="05050102010706020507" pitchFamily="18" charset="2"/>
              </a:rPr>
              <a:t>non-empty subset </a:t>
            </a:r>
            <a:r>
              <a:rPr lang="en-US" altLang="en-US" i="1" dirty="0">
                <a:sym typeface="Symbol" panose="05050102010706020507" pitchFamily="18" charset="2"/>
              </a:rPr>
              <a:t>S1</a:t>
            </a:r>
            <a:r>
              <a:rPr lang="en-US" altLang="en-US" dirty="0">
                <a:sym typeface="Symbol" panose="05050102010706020507" pitchFamily="18" charset="2"/>
              </a:rPr>
              <a:t> of </a:t>
            </a:r>
            <a:r>
              <a:rPr lang="en-US" altLang="en-US" i="1" dirty="0">
                <a:sym typeface="Symbol" panose="05050102010706020507" pitchFamily="18" charset="2"/>
              </a:rPr>
              <a:t>S </a:t>
            </a:r>
            <a:r>
              <a:rPr lang="en-US" altLang="en-US" dirty="0">
                <a:sym typeface="Symbol" panose="05050102010706020507" pitchFamily="18" charset="2"/>
              </a:rPr>
              <a:t>such that </a:t>
            </a:r>
            <a:r>
              <a:rPr lang="en-US" altLang="en-US" i="1" dirty="0">
                <a:sym typeface="Symbol" panose="05050102010706020507" pitchFamily="18" charset="2"/>
              </a:rPr>
              <a:t>S</a:t>
            </a:r>
            <a:r>
              <a:rPr lang="en-US" altLang="en-US" dirty="0">
                <a:sym typeface="Symbol" panose="05050102010706020507" pitchFamily="18" charset="2"/>
              </a:rPr>
              <a:t>1  </a:t>
            </a:r>
            <a:r>
              <a:rPr lang="en-US" altLang="en-US" i="1" dirty="0">
                <a:sym typeface="Symbol" panose="05050102010706020507" pitchFamily="18" charset="2"/>
              </a:rPr>
              <a:t>S</a:t>
            </a:r>
            <a:br>
              <a:rPr lang="en-US" altLang="en-US" i="1" dirty="0">
                <a:sym typeface="Symbol" panose="05050102010706020507" pitchFamily="18" charset="2"/>
              </a:rPr>
            </a:br>
            <a:r>
              <a:rPr lang="en-US" altLang="en-US" i="1" dirty="0">
                <a:sym typeface="Symbol" panose="05050102010706020507" pitchFamily="18" charset="2"/>
              </a:rPr>
              <a:t>	</a:t>
            </a:r>
            <a:r>
              <a:rPr lang="en-US" altLang="en-US" dirty="0">
                <a:sym typeface="Symbol" panose="05050102010706020507" pitchFamily="18" charset="2"/>
              </a:rPr>
              <a:t>P1= </a:t>
            </a:r>
            <a:r>
              <a:rPr lang="en-US" altLang="en-US" dirty="0" err="1">
                <a:sym typeface="Symbol" panose="05050102010706020507" pitchFamily="18" charset="2"/>
              </a:rPr>
              <a:t>findbestplan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1)</a:t>
            </a:r>
            <a:br>
              <a:rPr lang="en-US" altLang="en-US" dirty="0">
                <a:sym typeface="Symbol" panose="05050102010706020507" pitchFamily="18" charset="2"/>
              </a:rPr>
            </a:br>
            <a:r>
              <a:rPr lang="en-US" altLang="en-US" dirty="0">
                <a:sym typeface="Symbol" panose="05050102010706020507" pitchFamily="18" charset="2"/>
              </a:rPr>
              <a:t>	P2= </a:t>
            </a:r>
            <a:r>
              <a:rPr lang="en-US" altLang="en-US" dirty="0" err="1">
                <a:sym typeface="Symbol" panose="05050102010706020507" pitchFamily="18" charset="2"/>
              </a:rPr>
              <a:t>findbestplan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 - </a:t>
            </a:r>
            <a:r>
              <a:rPr lang="en-US" altLang="en-US" i="1" dirty="0">
                <a:sym typeface="Symbol" panose="05050102010706020507" pitchFamily="18" charset="2"/>
              </a:rPr>
              <a:t>S</a:t>
            </a:r>
            <a:r>
              <a:rPr lang="en-US" altLang="en-US" dirty="0">
                <a:sym typeface="Symbol" panose="05050102010706020507" pitchFamily="18" charset="2"/>
              </a:rPr>
              <a:t>1)</a:t>
            </a:r>
            <a:br>
              <a:rPr lang="en-US" altLang="en-US" dirty="0">
                <a:sym typeface="Symbol" panose="05050102010706020507" pitchFamily="18" charset="2"/>
              </a:rPr>
            </a:br>
            <a:r>
              <a:rPr lang="en-US" altLang="en-US" dirty="0">
                <a:sym typeface="Symbol" panose="05050102010706020507" pitchFamily="18" charset="2"/>
              </a:rPr>
              <a:t>	</a:t>
            </a:r>
            <a:r>
              <a:rPr lang="en-US" altLang="en-US" b="1" dirty="0">
                <a:sym typeface="Symbol" panose="05050102010706020507" pitchFamily="18" charset="2"/>
              </a:rPr>
              <a:t>for each </a:t>
            </a:r>
            <a:r>
              <a:rPr lang="en-IN" altLang="en-US" dirty="0">
                <a:ea typeface="MS PGothic" panose="020B0600070205080204" pitchFamily="34" charset="-128"/>
                <a:sym typeface="Symbol" panose="05050102010706020507" pitchFamily="18" charset="2"/>
              </a:rPr>
              <a:t>algorithm A for joining results </a:t>
            </a:r>
            <a:r>
              <a:rPr lang="en-US" altLang="en-US" dirty="0">
                <a:sym typeface="Symbol" panose="05050102010706020507" pitchFamily="18" charset="2"/>
              </a:rPr>
              <a:t>of </a:t>
            </a:r>
            <a:r>
              <a:rPr lang="en-US" altLang="en-US" i="1" dirty="0">
                <a:sym typeface="Symbol" panose="05050102010706020507" pitchFamily="18" charset="2"/>
              </a:rPr>
              <a:t>P</a:t>
            </a:r>
            <a:r>
              <a:rPr lang="en-US" altLang="en-US" dirty="0">
                <a:sym typeface="Symbol" panose="05050102010706020507" pitchFamily="18" charset="2"/>
              </a:rPr>
              <a:t>1 and </a:t>
            </a:r>
            <a:r>
              <a:rPr lang="en-US" altLang="en-US" i="1" dirty="0">
                <a:sym typeface="Symbol" panose="05050102010706020507" pitchFamily="18" charset="2"/>
              </a:rPr>
              <a:t>P</a:t>
            </a:r>
            <a:r>
              <a:rPr lang="en-US" altLang="en-US" dirty="0">
                <a:sym typeface="Symbol" panose="05050102010706020507" pitchFamily="18" charset="2"/>
              </a:rPr>
              <a:t>2</a:t>
            </a:r>
            <a:br>
              <a:rPr lang="en-US" altLang="en-US" dirty="0">
                <a:sym typeface="Symbol" panose="05050102010706020507" pitchFamily="18" charset="2"/>
              </a:rPr>
            </a:br>
            <a:r>
              <a:rPr lang="en-US" altLang="en-US" dirty="0">
                <a:sym typeface="Symbol" panose="05050102010706020507" pitchFamily="18" charset="2"/>
              </a:rPr>
              <a:t>             </a:t>
            </a:r>
            <a:r>
              <a:rPr lang="en-US" altLang="en-US" b="1" i="1" dirty="0">
                <a:sym typeface="Symbol" panose="05050102010706020507" pitchFamily="18" charset="2"/>
              </a:rPr>
              <a:t>… compute plan and cost of using A (see next page) ..</a:t>
            </a:r>
            <a:br>
              <a:rPr lang="en-US" altLang="en-US" i="1" dirty="0">
                <a:sym typeface="Symbol" panose="05050102010706020507" pitchFamily="18" charset="2"/>
              </a:rPr>
            </a:br>
            <a:r>
              <a:rPr lang="en-US" altLang="en-US" dirty="0">
                <a:sym typeface="Symbol" panose="05050102010706020507" pitchFamily="18" charset="2"/>
              </a:rPr>
              <a:t>  	     </a:t>
            </a:r>
            <a:r>
              <a:rPr lang="en-US" altLang="en-US" b="1" dirty="0">
                <a:sym typeface="Symbol" panose="05050102010706020507" pitchFamily="18" charset="2"/>
              </a:rPr>
              <a:t>if </a:t>
            </a:r>
            <a:r>
              <a:rPr lang="en-US" altLang="en-US" i="1" dirty="0">
                <a:sym typeface="Symbol" panose="05050102010706020507" pitchFamily="18" charset="2"/>
              </a:rPr>
              <a:t>cost </a:t>
            </a:r>
            <a:r>
              <a:rPr lang="en-US" altLang="en-US" dirty="0">
                <a:sym typeface="Symbol" panose="05050102010706020507" pitchFamily="18" charset="2"/>
              </a:rPr>
              <a:t>&lt;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a:t>
            </a:r>
            <a:r>
              <a:rPr lang="en-US" altLang="en-US" i="1" dirty="0">
                <a:sym typeface="Symbol" panose="05050102010706020507" pitchFamily="18" charset="2"/>
              </a:rPr>
              <a:t>cost </a:t>
            </a:r>
            <a:br>
              <a:rPr lang="en-US" altLang="en-US" dirty="0">
                <a:sym typeface="Symbol" panose="05050102010706020507" pitchFamily="18" charset="2"/>
              </a:rPr>
            </a:br>
            <a:r>
              <a:rPr lang="en-US" altLang="en-US" dirty="0">
                <a:sym typeface="Symbol" panose="05050102010706020507" pitchFamily="18" charset="2"/>
              </a:rPr>
              <a:t>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a:t>
            </a:r>
            <a:r>
              <a:rPr lang="en-US" altLang="en-US" i="1" dirty="0">
                <a:sym typeface="Symbol" panose="05050102010706020507" pitchFamily="18" charset="2"/>
              </a:rPr>
              <a:t>cost </a:t>
            </a:r>
            <a:r>
              <a:rPr lang="en-US" altLang="en-US" dirty="0">
                <a:sym typeface="Symbol" panose="05050102010706020507" pitchFamily="18" charset="2"/>
              </a:rPr>
              <a:t>= cost</a:t>
            </a:r>
            <a:br>
              <a:rPr lang="en-US" altLang="en-US" dirty="0">
                <a:sym typeface="Symbol" panose="05050102010706020507" pitchFamily="18" charset="2"/>
              </a:rPr>
            </a:br>
            <a:r>
              <a:rPr lang="en-US" altLang="en-US" dirty="0">
                <a:sym typeface="Symbol" panose="05050102010706020507" pitchFamily="18" charset="2"/>
              </a:rPr>
              <a:t>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a:t>
            </a:r>
            <a:r>
              <a:rPr lang="en-US" altLang="en-US" i="1" dirty="0">
                <a:sym typeface="Symbol" panose="05050102010706020507" pitchFamily="18" charset="2"/>
              </a:rPr>
              <a:t>plan </a:t>
            </a:r>
            <a:r>
              <a:rPr lang="en-US" altLang="en-US" dirty="0">
                <a:sym typeface="Symbol" panose="05050102010706020507" pitchFamily="18" charset="2"/>
              </a:rPr>
              <a:t>= </a:t>
            </a:r>
            <a:r>
              <a:rPr lang="en-US" altLang="ja-JP" i="1" dirty="0">
                <a:sym typeface="Symbol" panose="05050102010706020507" pitchFamily="18" charset="2"/>
              </a:rPr>
              <a:t>plan</a:t>
            </a:r>
            <a:r>
              <a:rPr lang="en-US" altLang="ja-JP" dirty="0">
                <a:sym typeface="Symbol" panose="05050102010706020507" pitchFamily="18" charset="2"/>
              </a:rPr>
              <a:t>;</a:t>
            </a:r>
            <a:br>
              <a:rPr lang="en-US" altLang="ja-JP" dirty="0">
                <a:sym typeface="Symbol" panose="05050102010706020507" pitchFamily="18" charset="2"/>
              </a:rPr>
            </a:br>
            <a:r>
              <a:rPr lang="en-US" altLang="ja-JP" b="1" dirty="0">
                <a:sym typeface="Symbol" panose="05050102010706020507" pitchFamily="18" charset="2"/>
              </a:rPr>
              <a:t>return</a:t>
            </a:r>
            <a:r>
              <a:rPr lang="en-US" altLang="ja-JP" dirty="0">
                <a:sym typeface="Symbol" panose="05050102010706020507" pitchFamily="18" charset="2"/>
              </a:rPr>
              <a:t> </a:t>
            </a:r>
            <a:r>
              <a:rPr lang="en-US" altLang="ja-JP" i="1" dirty="0" err="1">
                <a:sym typeface="Symbol" panose="05050102010706020507" pitchFamily="18" charset="2"/>
              </a:rPr>
              <a:t>bestplan</a:t>
            </a:r>
            <a:r>
              <a:rPr lang="en-US" altLang="ja-JP" dirty="0">
                <a:sym typeface="Symbol" panose="05050102010706020507" pitchFamily="18" charset="2"/>
              </a:rPr>
              <a:t>[</a:t>
            </a:r>
            <a:r>
              <a:rPr lang="en-US" altLang="ja-JP" i="1" dirty="0">
                <a:sym typeface="Symbol" panose="05050102010706020507" pitchFamily="18" charset="2"/>
              </a:rPr>
              <a:t>S</a:t>
            </a:r>
            <a:r>
              <a:rPr lang="en-US" altLang="ja-JP" dirty="0">
                <a:sym typeface="Symbol" panose="05050102010706020507" pitchFamily="18" charset="2"/>
              </a:rPr>
              <a:t>]</a:t>
            </a:r>
            <a:endParaRPr lang="en-US" altLang="en-US" dirty="0">
              <a:sym typeface="Symbol" panose="05050102010706020507" pitchFamily="18" charset="2"/>
            </a:endParaRPr>
          </a:p>
        </p:txBody>
      </p:sp>
      <p:pic>
        <p:nvPicPr>
          <p:cNvPr id="3074" name="Picture 2" descr="DO NOT EVEN try i have not had my coffee yet - Darth Vader Meme Generator">
            <a:extLst>
              <a:ext uri="{FF2B5EF4-FFF2-40B4-BE49-F238E27FC236}">
                <a16:creationId xmlns:a16="http://schemas.microsoft.com/office/drawing/2014/main" id="{BF79EA10-267A-512D-1AF5-6A94661816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1047750"/>
            <a:ext cx="2683669" cy="2571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40" name="Rectangle 4">
            <a:extLst>
              <a:ext uri="{FF2B5EF4-FFF2-40B4-BE49-F238E27FC236}">
                <a16:creationId xmlns:a16="http://schemas.microsoft.com/office/drawing/2014/main" id="{F5A1028D-FABF-4146-86C5-A7019337527A}"/>
              </a:ext>
            </a:extLst>
          </p:cNvPr>
          <p:cNvSpPr>
            <a:spLocks noGrp="1" noChangeArrowheads="1"/>
          </p:cNvSpPr>
          <p:nvPr>
            <p:ph type="ctrTitle"/>
          </p:nvPr>
        </p:nvSpPr>
        <p:spPr/>
        <p:txBody>
          <a:bodyPr/>
          <a:lstStyle/>
          <a:p>
            <a:pPr>
              <a:defRPr/>
            </a:pPr>
            <a:r>
              <a:rPr lang="en-US" altLang="en-US">
                <a:effectLst>
                  <a:outerShdw blurRad="38100" dist="38100" dir="2700000" algn="tl">
                    <a:srgbClr val="C0C0C0"/>
                  </a:outerShdw>
                </a:effectLst>
              </a:rPr>
              <a:t>Statistics for Cost Estimation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a:extLst>
              <a:ext uri="{FF2B5EF4-FFF2-40B4-BE49-F238E27FC236}">
                <a16:creationId xmlns:a16="http://schemas.microsoft.com/office/drawing/2014/main" id="{252523AE-0431-4C86-991C-4ADEC5581564}"/>
              </a:ext>
            </a:extLst>
          </p:cNvPr>
          <p:cNvSpPr>
            <a:spLocks noGrp="1" noChangeArrowheads="1"/>
          </p:cNvSpPr>
          <p:nvPr>
            <p:ph type="title"/>
          </p:nvPr>
        </p:nvSpPr>
        <p:spPr>
          <a:xfrm>
            <a:off x="1719262" y="88106"/>
            <a:ext cx="6281738" cy="503749"/>
          </a:xfrm>
        </p:spPr>
        <p:txBody>
          <a:bodyPr/>
          <a:lstStyle/>
          <a:p>
            <a:pPr>
              <a:defRPr/>
            </a:pPr>
            <a:r>
              <a:rPr lang="en-US" altLang="en-US">
                <a:effectLst>
                  <a:outerShdw blurRad="38100" dist="38100" dir="2700000" algn="tl">
                    <a:srgbClr val="C0C0C0"/>
                  </a:outerShdw>
                </a:effectLst>
              </a:rPr>
              <a:t>Statistical Information for Cost Estimation</a:t>
            </a:r>
          </a:p>
        </p:txBody>
      </p:sp>
      <p:sp>
        <p:nvSpPr>
          <p:cNvPr id="71683" name="Rectangle 3">
            <a:extLst>
              <a:ext uri="{FF2B5EF4-FFF2-40B4-BE49-F238E27FC236}">
                <a16:creationId xmlns:a16="http://schemas.microsoft.com/office/drawing/2014/main" id="{47BD364A-03AF-4F06-BA7E-96341C7F433E}"/>
              </a:ext>
            </a:extLst>
          </p:cNvPr>
          <p:cNvSpPr>
            <a:spLocks noGrp="1" noChangeArrowheads="1"/>
          </p:cNvSpPr>
          <p:nvPr>
            <p:ph idx="1"/>
          </p:nvPr>
        </p:nvSpPr>
        <p:spPr>
          <a:xfrm>
            <a:off x="1633889" y="826873"/>
            <a:ext cx="5854566" cy="4025979"/>
          </a:xfrm>
        </p:spPr>
        <p:txBody>
          <a:bodyPr/>
          <a:lstStyle/>
          <a:p>
            <a:r>
              <a:rPr lang="en-US" altLang="en-US" i="1" err="1"/>
              <a:t>n</a:t>
            </a:r>
            <a:r>
              <a:rPr lang="en-US" altLang="en-US" i="1" baseline="-25000" err="1"/>
              <a:t>r</a:t>
            </a:r>
            <a:r>
              <a:rPr lang="en-US" altLang="en-US" i="1"/>
              <a:t>:  </a:t>
            </a:r>
            <a:r>
              <a:rPr lang="en-US" altLang="en-US"/>
              <a:t>number of tuples in a relation </a:t>
            </a:r>
            <a:r>
              <a:rPr lang="en-US" altLang="en-US" i="1"/>
              <a:t>r.</a:t>
            </a:r>
            <a:endParaRPr lang="en-US" altLang="en-US"/>
          </a:p>
          <a:p>
            <a:r>
              <a:rPr lang="en-US" altLang="en-US" i="1" err="1"/>
              <a:t>b</a:t>
            </a:r>
            <a:r>
              <a:rPr lang="en-US" altLang="en-US" i="1" baseline="-25000" err="1"/>
              <a:t>r</a:t>
            </a:r>
            <a:r>
              <a:rPr lang="en-US" altLang="en-US"/>
              <a:t>: number of blocks containing tuples of </a:t>
            </a:r>
            <a:r>
              <a:rPr lang="en-US" altLang="en-US" i="1"/>
              <a:t>r.</a:t>
            </a:r>
            <a:endParaRPr lang="en-US" altLang="en-US"/>
          </a:p>
          <a:p>
            <a:r>
              <a:rPr lang="en-US" altLang="en-US" i="1" err="1"/>
              <a:t>l</a:t>
            </a:r>
            <a:r>
              <a:rPr lang="en-US" altLang="en-US" i="1" baseline="-25000" err="1"/>
              <a:t>r</a:t>
            </a:r>
            <a:r>
              <a:rPr lang="en-US" altLang="en-US"/>
              <a:t>: size of a tuple of </a:t>
            </a:r>
            <a:r>
              <a:rPr lang="en-US" altLang="en-US" i="1"/>
              <a:t>r.</a:t>
            </a:r>
          </a:p>
          <a:p>
            <a:r>
              <a:rPr lang="en-US" altLang="en-US" i="1" err="1"/>
              <a:t>f</a:t>
            </a:r>
            <a:r>
              <a:rPr lang="en-US" altLang="en-US" i="1" baseline="-25000" err="1"/>
              <a:t>r</a:t>
            </a:r>
            <a:r>
              <a:rPr lang="en-US" altLang="en-US" i="1"/>
              <a:t>: </a:t>
            </a:r>
            <a:r>
              <a:rPr lang="en-US" altLang="en-US"/>
              <a:t>blocking factor of </a:t>
            </a:r>
            <a:r>
              <a:rPr lang="en-US" altLang="en-US" i="1"/>
              <a:t>r</a:t>
            </a:r>
            <a:r>
              <a:rPr lang="en-US" altLang="en-US"/>
              <a:t> — i.e., the number of tuples of </a:t>
            </a:r>
            <a:r>
              <a:rPr lang="en-US" altLang="en-US" i="1"/>
              <a:t>r </a:t>
            </a:r>
            <a:r>
              <a:rPr lang="en-US" altLang="en-US"/>
              <a:t>that fit into one block.</a:t>
            </a:r>
          </a:p>
          <a:p>
            <a:r>
              <a:rPr lang="en-US" altLang="en-US" i="1"/>
              <a:t>V(A, r):</a:t>
            </a:r>
            <a:r>
              <a:rPr lang="en-US" altLang="en-US"/>
              <a:t> number of distinct values that appear in </a:t>
            </a:r>
            <a:r>
              <a:rPr lang="en-US" altLang="en-US" i="1"/>
              <a:t>r</a:t>
            </a:r>
            <a:r>
              <a:rPr lang="en-US" altLang="en-US"/>
              <a:t> for attribute </a:t>
            </a:r>
            <a:r>
              <a:rPr lang="en-US" altLang="en-US" i="1"/>
              <a:t>A; </a:t>
            </a:r>
            <a:r>
              <a:rPr lang="en-US" altLang="en-US"/>
              <a:t>same as the size of </a:t>
            </a:r>
            <a:r>
              <a:rPr lang="en-US" altLang="en-US">
                <a:sym typeface="Symbol" panose="05050102010706020507" pitchFamily="18" charset="2"/>
              </a:rPr>
              <a:t></a:t>
            </a:r>
            <a:r>
              <a:rPr lang="en-US" altLang="en-US" i="1" baseline="-25000">
                <a:sym typeface="Symbol" panose="05050102010706020507" pitchFamily="18" charset="2"/>
              </a:rPr>
              <a:t>A</a:t>
            </a:r>
            <a:r>
              <a:rPr lang="en-US" altLang="en-US">
                <a:sym typeface="Symbol" panose="05050102010706020507" pitchFamily="18" charset="2"/>
              </a:rPr>
              <a:t>(</a:t>
            </a:r>
            <a:r>
              <a:rPr lang="en-US" altLang="en-US" i="1">
                <a:sym typeface="Symbol" panose="05050102010706020507" pitchFamily="18" charset="2"/>
              </a:rPr>
              <a:t>r</a:t>
            </a:r>
            <a:r>
              <a:rPr lang="en-US" altLang="en-US">
                <a:sym typeface="Symbol" panose="05050102010706020507" pitchFamily="18" charset="2"/>
              </a:rPr>
              <a:t>).</a:t>
            </a:r>
          </a:p>
          <a:p>
            <a:r>
              <a:rPr lang="en-US" altLang="en-US">
                <a:sym typeface="Symbol" panose="05050102010706020507" pitchFamily="18" charset="2"/>
              </a:rPr>
              <a:t>If tuples of </a:t>
            </a:r>
            <a:r>
              <a:rPr lang="en-US" altLang="en-US" i="1">
                <a:sym typeface="Symbol" panose="05050102010706020507" pitchFamily="18" charset="2"/>
              </a:rPr>
              <a:t>r</a:t>
            </a:r>
            <a:r>
              <a:rPr lang="en-US" altLang="en-US">
                <a:sym typeface="Symbol" panose="05050102010706020507" pitchFamily="18" charset="2"/>
              </a:rPr>
              <a:t> are stored together physically in a file, then: </a:t>
            </a:r>
            <a:br>
              <a:rPr lang="en-US" altLang="en-US">
                <a:sym typeface="Symbol" panose="05050102010706020507" pitchFamily="18" charset="2"/>
              </a:rPr>
            </a:br>
            <a:br>
              <a:rPr lang="en-US" altLang="en-US">
                <a:sym typeface="Symbol" panose="05050102010706020507" pitchFamily="18" charset="2"/>
              </a:rPr>
            </a:br>
            <a:br>
              <a:rPr lang="en-US" altLang="en-US">
                <a:sym typeface="Symbol" panose="05050102010706020507" pitchFamily="18" charset="2"/>
              </a:rPr>
            </a:br>
            <a:br>
              <a:rPr lang="en-US" altLang="en-US">
                <a:sym typeface="Symbol" panose="05050102010706020507" pitchFamily="18" charset="2"/>
              </a:rPr>
            </a:br>
            <a:endParaRPr lang="en-US" altLang="en-US">
              <a:sym typeface="Symbol" panose="05050102010706020507" pitchFamily="18" charset="2"/>
            </a:endParaRPr>
          </a:p>
        </p:txBody>
      </p:sp>
      <p:graphicFrame>
        <p:nvGraphicFramePr>
          <p:cNvPr id="71684" name="Object 2">
            <a:extLst>
              <a:ext uri="{FF2B5EF4-FFF2-40B4-BE49-F238E27FC236}">
                <a16:creationId xmlns:a16="http://schemas.microsoft.com/office/drawing/2014/main" id="{55A18B11-A2C4-4B33-91D7-440CA2606202}"/>
              </a:ext>
            </a:extLst>
          </p:cNvPr>
          <p:cNvGraphicFramePr>
            <a:graphicFrameLocks noChangeAspect="1"/>
          </p:cNvGraphicFramePr>
          <p:nvPr/>
        </p:nvGraphicFramePr>
        <p:xfrm>
          <a:off x="3835982" y="2768453"/>
          <a:ext cx="666750" cy="495300"/>
        </p:xfrm>
        <a:graphic>
          <a:graphicData uri="http://schemas.openxmlformats.org/presentationml/2006/ole">
            <mc:AlternateContent xmlns:mc="http://schemas.openxmlformats.org/markup-compatibility/2006">
              <mc:Choice xmlns:v="urn:schemas-microsoft-com:vml" Requires="v">
                <p:oleObj name="Equation" r:id="rId3" imgW="889000" imgH="660400" progId="Equation.3">
                  <p:embed/>
                </p:oleObj>
              </mc:Choice>
              <mc:Fallback>
                <p:oleObj name="Equation" r:id="rId3" imgW="889000" imgH="660400" progId="Equation.3">
                  <p:embed/>
                  <p:pic>
                    <p:nvPicPr>
                      <p:cNvPr id="71684" name="Object 2">
                        <a:extLst>
                          <a:ext uri="{FF2B5EF4-FFF2-40B4-BE49-F238E27FC236}">
                            <a16:creationId xmlns:a16="http://schemas.microsoft.com/office/drawing/2014/main" id="{55A18B11-A2C4-4B33-91D7-440CA26062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5982" y="2768453"/>
                        <a:ext cx="66675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a:extLst>
              <a:ext uri="{FF2B5EF4-FFF2-40B4-BE49-F238E27FC236}">
                <a16:creationId xmlns:a16="http://schemas.microsoft.com/office/drawing/2014/main" id="{4CBB64EA-64A3-40D7-A007-B17EF0C9D10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Histograms</a:t>
            </a:r>
          </a:p>
        </p:txBody>
      </p:sp>
      <p:sp>
        <p:nvSpPr>
          <p:cNvPr id="73731" name="Rectangle 3">
            <a:extLst>
              <a:ext uri="{FF2B5EF4-FFF2-40B4-BE49-F238E27FC236}">
                <a16:creationId xmlns:a16="http://schemas.microsoft.com/office/drawing/2014/main" id="{8BCD9F34-1091-43A5-8EC9-11FA4902746E}"/>
              </a:ext>
            </a:extLst>
          </p:cNvPr>
          <p:cNvSpPr>
            <a:spLocks noGrp="1" noChangeArrowheads="1"/>
          </p:cNvSpPr>
          <p:nvPr>
            <p:ph idx="1"/>
          </p:nvPr>
        </p:nvSpPr>
        <p:spPr>
          <a:xfrm>
            <a:off x="1641107" y="826873"/>
            <a:ext cx="5782378" cy="4025979"/>
          </a:xfrm>
        </p:spPr>
        <p:txBody>
          <a:bodyPr/>
          <a:lstStyle/>
          <a:p>
            <a:r>
              <a:rPr lang="en-US" altLang="en-US"/>
              <a:t>Histogram on attribute </a:t>
            </a:r>
            <a:r>
              <a:rPr lang="en-US" altLang="en-US" i="1"/>
              <a:t>age</a:t>
            </a:r>
            <a:r>
              <a:rPr lang="en-US" altLang="en-US"/>
              <a:t> of relation </a:t>
            </a:r>
            <a:r>
              <a:rPr lang="en-US" altLang="en-US" i="1"/>
              <a:t>person</a:t>
            </a:r>
            <a:br>
              <a:rPr lang="en-US" altLang="en-US"/>
            </a:br>
            <a:br>
              <a:rPr lang="en-US" altLang="en-US"/>
            </a:br>
            <a:br>
              <a:rPr lang="en-US" altLang="en-US"/>
            </a:br>
            <a:br>
              <a:rPr lang="en-US" altLang="en-US"/>
            </a:br>
            <a:br>
              <a:rPr lang="en-US" altLang="en-US"/>
            </a:br>
            <a:br>
              <a:rPr lang="en-US" altLang="en-US"/>
            </a:br>
            <a:endParaRPr lang="en-US" altLang="en-US"/>
          </a:p>
          <a:p>
            <a:pPr marL="0" indent="0">
              <a:buNone/>
            </a:pPr>
            <a:endParaRPr lang="en-US" altLang="en-US"/>
          </a:p>
          <a:p>
            <a:pPr marL="0" indent="0">
              <a:buNone/>
            </a:pPr>
            <a:br>
              <a:rPr lang="en-US" altLang="en-US"/>
            </a:br>
            <a:br>
              <a:rPr lang="en-US" altLang="en-US"/>
            </a:br>
            <a:endParaRPr lang="en-US" altLang="en-US"/>
          </a:p>
          <a:p>
            <a:r>
              <a:rPr lang="en-US" altLang="en-US" b="1" err="1">
                <a:solidFill>
                  <a:srgbClr val="002060"/>
                </a:solidFill>
              </a:rPr>
              <a:t>Equi</a:t>
            </a:r>
            <a:r>
              <a:rPr lang="en-US" altLang="en-US" b="1">
                <a:solidFill>
                  <a:srgbClr val="002060"/>
                </a:solidFill>
              </a:rPr>
              <a:t>-width</a:t>
            </a:r>
            <a:r>
              <a:rPr lang="en-US" altLang="en-US"/>
              <a:t> histograms</a:t>
            </a:r>
          </a:p>
          <a:p>
            <a:r>
              <a:rPr lang="en-US" altLang="en-US" b="1" err="1">
                <a:solidFill>
                  <a:srgbClr val="002060"/>
                </a:solidFill>
              </a:rPr>
              <a:t>Equi</a:t>
            </a:r>
            <a:r>
              <a:rPr lang="en-US" altLang="en-US" b="1">
                <a:solidFill>
                  <a:srgbClr val="002060"/>
                </a:solidFill>
              </a:rPr>
              <a:t>-depth</a:t>
            </a:r>
            <a:r>
              <a:rPr lang="en-US" altLang="en-US"/>
              <a:t> histograms break up range such that each range has (approximately) the same number of tuples</a:t>
            </a:r>
          </a:p>
          <a:p>
            <a:pPr lvl="1"/>
            <a:r>
              <a:rPr lang="en-US" altLang="en-US"/>
              <a:t>E.g. (4, 8, 14, 19) </a:t>
            </a:r>
          </a:p>
          <a:p>
            <a:r>
              <a:rPr lang="en-US" altLang="en-US"/>
              <a:t>Many databases also store </a:t>
            </a:r>
            <a:r>
              <a:rPr lang="en-US" altLang="en-US" i="1"/>
              <a:t>n </a:t>
            </a:r>
            <a:r>
              <a:rPr lang="en-US" altLang="en-US" b="1">
                <a:solidFill>
                  <a:srgbClr val="002060"/>
                </a:solidFill>
              </a:rPr>
              <a:t>most-frequent values </a:t>
            </a:r>
            <a:r>
              <a:rPr lang="en-US" altLang="en-US"/>
              <a:t>and their counts</a:t>
            </a:r>
          </a:p>
          <a:p>
            <a:pPr lvl="1"/>
            <a:r>
              <a:rPr lang="en-US" altLang="en-US"/>
              <a:t>Histogram is built on remaining values only</a:t>
            </a:r>
          </a:p>
        </p:txBody>
      </p:sp>
      <p:pic>
        <p:nvPicPr>
          <p:cNvPr id="73732" name="Picture 5">
            <a:extLst>
              <a:ext uri="{FF2B5EF4-FFF2-40B4-BE49-F238E27FC236}">
                <a16:creationId xmlns:a16="http://schemas.microsoft.com/office/drawing/2014/main" id="{A3C2BFE6-D0A1-4BB1-AFE8-7CD8B81AB1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2193" y="1250001"/>
            <a:ext cx="3069431" cy="2162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70F08-A4D6-4755-A428-3ABB81B56E0B}"/>
              </a:ext>
            </a:extLst>
          </p:cNvPr>
          <p:cNvSpPr>
            <a:spLocks noGrp="1"/>
          </p:cNvSpPr>
          <p:nvPr>
            <p:ph type="title"/>
          </p:nvPr>
        </p:nvSpPr>
        <p:spPr/>
        <p:txBody>
          <a:bodyPr/>
          <a:lstStyle/>
          <a:p>
            <a:r>
              <a:rPr lang="en-IN"/>
              <a:t>Histograms (cont.)</a:t>
            </a:r>
          </a:p>
        </p:txBody>
      </p:sp>
      <p:sp>
        <p:nvSpPr>
          <p:cNvPr id="3" name="Content Placeholder 2">
            <a:extLst>
              <a:ext uri="{FF2B5EF4-FFF2-40B4-BE49-F238E27FC236}">
                <a16:creationId xmlns:a16="http://schemas.microsoft.com/office/drawing/2014/main" id="{5AEBEAC6-9925-40BC-B05B-1DDF59AB9CC4}"/>
              </a:ext>
            </a:extLst>
          </p:cNvPr>
          <p:cNvSpPr>
            <a:spLocks noGrp="1"/>
          </p:cNvSpPr>
          <p:nvPr>
            <p:ph idx="1"/>
          </p:nvPr>
        </p:nvSpPr>
        <p:spPr>
          <a:xfrm>
            <a:off x="1633889" y="826873"/>
            <a:ext cx="5811253" cy="4025979"/>
          </a:xfrm>
        </p:spPr>
        <p:txBody>
          <a:bodyPr/>
          <a:lstStyle/>
          <a:p>
            <a:r>
              <a:rPr lang="en-IN"/>
              <a:t>Histograms and other statistics usually computed based on a </a:t>
            </a:r>
            <a:r>
              <a:rPr lang="en-IN" b="1">
                <a:solidFill>
                  <a:srgbClr val="002060"/>
                </a:solidFill>
              </a:rPr>
              <a:t>random  sample</a:t>
            </a:r>
          </a:p>
          <a:p>
            <a:r>
              <a:rPr lang="en-IN"/>
              <a:t>Statistics may be out of date</a:t>
            </a:r>
          </a:p>
          <a:p>
            <a:pPr lvl="1"/>
            <a:r>
              <a:rPr lang="en-IN"/>
              <a:t>Some database require a </a:t>
            </a:r>
            <a:r>
              <a:rPr lang="en-IN" b="1" err="1"/>
              <a:t>analyze</a:t>
            </a:r>
            <a:r>
              <a:rPr lang="en-IN" b="1"/>
              <a:t> </a:t>
            </a:r>
            <a:r>
              <a:rPr lang="en-IN"/>
              <a:t> command to be executed to update statistics</a:t>
            </a:r>
          </a:p>
          <a:p>
            <a:pPr lvl="1"/>
            <a:r>
              <a:rPr lang="en-IN"/>
              <a:t>Others automatically recompute statistics </a:t>
            </a:r>
          </a:p>
          <a:p>
            <a:pPr lvl="2"/>
            <a:r>
              <a:rPr lang="en-IN"/>
              <a:t>e.g., when number of tuples in a relation changes by some percentage</a:t>
            </a:r>
          </a:p>
        </p:txBody>
      </p:sp>
    </p:spTree>
    <p:extLst>
      <p:ext uri="{BB962C8B-B14F-4D97-AF65-F5344CB8AC3E}">
        <p14:creationId xmlns:p14="http://schemas.microsoft.com/office/powerpoint/2010/main" val="13278617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a:extLst>
              <a:ext uri="{FF2B5EF4-FFF2-40B4-BE49-F238E27FC236}">
                <a16:creationId xmlns:a16="http://schemas.microsoft.com/office/drawing/2014/main" id="{A902C18D-987A-402C-B20E-660F1DA6FA13}"/>
              </a:ext>
            </a:extLst>
          </p:cNvPr>
          <p:cNvSpPr>
            <a:spLocks noGrp="1" noChangeArrowheads="1"/>
          </p:cNvSpPr>
          <p:nvPr>
            <p:ph type="body" sz="half" idx="4294967295"/>
          </p:nvPr>
        </p:nvSpPr>
        <p:spPr>
          <a:xfrm>
            <a:off x="1633889" y="819596"/>
            <a:ext cx="5882822" cy="3677840"/>
          </a:xfrm>
          <a:prstGeom prst="rect">
            <a:avLst/>
          </a:prstGeom>
        </p:spPr>
        <p:txBody>
          <a:bodyPr/>
          <a:lstStyle/>
          <a:p>
            <a:pPr>
              <a:buSzPct val="110000"/>
              <a:buFont typeface="Wingdings" panose="05000000000000000000" pitchFamily="2" charset="2"/>
              <a:buChar char="§"/>
            </a:pPr>
            <a:r>
              <a:rPr lang="en-US" altLang="en-US" b="1" dirty="0">
                <a:sym typeface="Symbol" panose="05050102010706020507" pitchFamily="18" charset="2"/>
              </a:rPr>
              <a:t></a:t>
            </a:r>
            <a:r>
              <a:rPr lang="en-US" altLang="en-US" b="1" i="1" baseline="-25000" dirty="0">
                <a:sym typeface="Symbol" panose="05050102010706020507" pitchFamily="18" charset="2"/>
              </a:rPr>
              <a:t>A=v</a:t>
            </a:r>
            <a:r>
              <a:rPr lang="en-US" altLang="en-US" b="1" dirty="0">
                <a:sym typeface="Symbol" panose="05050102010706020507" pitchFamily="18" charset="2"/>
              </a:rPr>
              <a:t>(</a:t>
            </a:r>
            <a:r>
              <a:rPr lang="en-US" altLang="en-US" b="1" i="1" dirty="0">
                <a:sym typeface="Symbol" panose="05050102010706020507" pitchFamily="18" charset="2"/>
              </a:rPr>
              <a:t>r</a:t>
            </a:r>
            <a:r>
              <a:rPr lang="en-US" altLang="en-US" b="1" dirty="0">
                <a:sym typeface="Symbol" panose="05050102010706020507" pitchFamily="18" charset="2"/>
              </a:rPr>
              <a:t>)</a:t>
            </a:r>
            <a:endParaRPr lang="en-US" altLang="en-US" dirty="0"/>
          </a:p>
          <a:p>
            <a:pPr lvl="1">
              <a:buSzPct val="110000"/>
              <a:buFont typeface="Arial" panose="020B0604020202020204" pitchFamily="34" charset="0"/>
              <a:buChar char="•"/>
            </a:pPr>
            <a:r>
              <a:rPr lang="en-US" altLang="en-US" i="1" dirty="0">
                <a:sym typeface="Symbol" panose="05050102010706020507" pitchFamily="18" charset="2"/>
              </a:rPr>
              <a:t>n</a:t>
            </a:r>
            <a:r>
              <a:rPr lang="en-US" altLang="en-US" i="1" baseline="-25000" dirty="0">
                <a:sym typeface="Symbol" panose="05050102010706020507" pitchFamily="18" charset="2"/>
              </a:rPr>
              <a:t>r</a:t>
            </a:r>
            <a:r>
              <a:rPr lang="en-US" altLang="en-US" i="1" dirty="0">
                <a:sym typeface="Symbol" panose="05050102010706020507" pitchFamily="18" charset="2"/>
              </a:rPr>
              <a:t> / V(</a:t>
            </a:r>
            <a:r>
              <a:rPr lang="en-US" altLang="en-US" i="1" dirty="0" err="1">
                <a:sym typeface="Symbol" panose="05050102010706020507" pitchFamily="18" charset="2"/>
              </a:rPr>
              <a:t>A,r</a:t>
            </a:r>
            <a:r>
              <a:rPr lang="en-US" altLang="en-US" i="1" dirty="0">
                <a:sym typeface="Symbol" panose="05050102010706020507" pitchFamily="18" charset="2"/>
              </a:rPr>
              <a:t>) </a:t>
            </a:r>
            <a:r>
              <a:rPr lang="en-US" altLang="en-US" dirty="0">
                <a:sym typeface="Symbol" panose="05050102010706020507" pitchFamily="18" charset="2"/>
              </a:rPr>
              <a:t>: number of records that will satisfy the selection</a:t>
            </a:r>
          </a:p>
          <a:p>
            <a:pPr lvl="1">
              <a:buSzPct val="110000"/>
              <a:buFont typeface="Arial" panose="020B0604020202020204" pitchFamily="34" charset="0"/>
              <a:buChar char="•"/>
            </a:pPr>
            <a:r>
              <a:rPr lang="en-US" altLang="en-US" dirty="0">
                <a:sym typeface="Symbol" panose="05050102010706020507" pitchFamily="18" charset="2"/>
              </a:rPr>
              <a:t>Equality condition on a key attribute:</a:t>
            </a:r>
            <a:r>
              <a:rPr lang="en-US" altLang="en-US" i="1" dirty="0">
                <a:sym typeface="Symbol" panose="05050102010706020507" pitchFamily="18" charset="2"/>
              </a:rPr>
              <a:t> size estimate = </a:t>
            </a:r>
            <a:r>
              <a:rPr lang="en-US" altLang="en-US" dirty="0">
                <a:sym typeface="Symbol" panose="05050102010706020507" pitchFamily="18" charset="2"/>
              </a:rPr>
              <a:t>1</a:t>
            </a:r>
          </a:p>
          <a:p>
            <a:pPr>
              <a:buSzPct val="110000"/>
              <a:buFont typeface="Wingdings" panose="05000000000000000000" pitchFamily="2" charset="2"/>
              <a:buChar char="§"/>
            </a:pPr>
            <a:r>
              <a:rPr kumimoji="0" lang="en-US" altLang="en-US" dirty="0">
                <a:sym typeface="Symbol" panose="05050102010706020507" pitchFamily="18" charset="2"/>
              </a:rPr>
              <a:t></a:t>
            </a:r>
            <a:r>
              <a:rPr kumimoji="0" lang="en-US" altLang="en-US" i="1" baseline="-25000" dirty="0">
                <a:sym typeface="Symbol" panose="05050102010706020507" pitchFamily="18" charset="2"/>
              </a:rPr>
              <a:t>A</a:t>
            </a:r>
            <a:r>
              <a:rPr kumimoji="0" lang="en-US" altLang="en-US" baseline="-25000" dirty="0">
                <a:sym typeface="Symbol" panose="05050102010706020507" pitchFamily="18" charset="2"/>
              </a:rPr>
              <a:t></a:t>
            </a:r>
            <a:r>
              <a:rPr kumimoji="0" lang="en-US" altLang="en-US" i="1" baseline="-25000" dirty="0">
                <a:sym typeface="Symbol" panose="05050102010706020507" pitchFamily="18" charset="2"/>
              </a:rPr>
              <a:t>V</a:t>
            </a:r>
            <a:r>
              <a:rPr kumimoji="0" lang="en-US" altLang="en-US" dirty="0">
                <a:sym typeface="Symbol" panose="05050102010706020507" pitchFamily="18" charset="2"/>
              </a:rPr>
              <a:t>(</a:t>
            </a:r>
            <a:r>
              <a:rPr kumimoji="0" lang="en-US" altLang="en-US" i="1" dirty="0">
                <a:sym typeface="Symbol" panose="05050102010706020507" pitchFamily="18" charset="2"/>
              </a:rPr>
              <a:t>r</a:t>
            </a:r>
            <a:r>
              <a:rPr kumimoji="0" lang="en-US" altLang="en-US" dirty="0">
                <a:sym typeface="Symbol" panose="05050102010706020507" pitchFamily="18" charset="2"/>
              </a:rPr>
              <a:t>) (case of </a:t>
            </a:r>
            <a:r>
              <a:rPr kumimoji="0" lang="en-US" altLang="en-US" i="1" baseline="-25000" dirty="0">
                <a:sym typeface="Symbol" panose="05050102010706020507" pitchFamily="18" charset="2"/>
              </a:rPr>
              <a:t>A </a:t>
            </a:r>
            <a:r>
              <a:rPr kumimoji="0" lang="en-US" altLang="en-US" baseline="-25000" dirty="0">
                <a:sym typeface="Symbol" panose="05050102010706020507" pitchFamily="18" charset="2"/>
              </a:rPr>
              <a:t> </a:t>
            </a:r>
            <a:r>
              <a:rPr kumimoji="0" lang="en-US" altLang="en-US" i="1" baseline="-25000" dirty="0">
                <a:sym typeface="Symbol" panose="05050102010706020507" pitchFamily="18" charset="2"/>
              </a:rPr>
              <a:t>V</a:t>
            </a:r>
            <a:r>
              <a:rPr kumimoji="0" lang="en-US" altLang="en-US" dirty="0">
                <a:sym typeface="Symbol" panose="05050102010706020507" pitchFamily="18" charset="2"/>
              </a:rPr>
              <a:t>(</a:t>
            </a:r>
            <a:r>
              <a:rPr kumimoji="0" lang="en-US" altLang="en-US" i="1" dirty="0">
                <a:sym typeface="Symbol" panose="05050102010706020507" pitchFamily="18" charset="2"/>
              </a:rPr>
              <a:t>r</a:t>
            </a:r>
            <a:r>
              <a:rPr kumimoji="0" lang="en-US" altLang="en-US" dirty="0">
                <a:sym typeface="Symbol" panose="05050102010706020507" pitchFamily="18" charset="2"/>
              </a:rPr>
              <a:t>) is symmetric)</a:t>
            </a:r>
            <a:endParaRPr lang="en-US" altLang="en-US" dirty="0"/>
          </a:p>
          <a:p>
            <a:pPr lvl="1">
              <a:buSzPct val="110000"/>
              <a:buFont typeface="Arial" panose="020B0604020202020204" pitchFamily="34" charset="0"/>
              <a:buChar char="•"/>
            </a:pPr>
            <a:r>
              <a:rPr lang="en-US" altLang="en-US" dirty="0"/>
              <a:t>Let c denote  the estimated number of tuples satisfying the condition. </a:t>
            </a:r>
          </a:p>
          <a:p>
            <a:pPr lvl="1">
              <a:buSzPct val="110000"/>
              <a:buFont typeface="Arial" panose="020B0604020202020204" pitchFamily="34" charset="0"/>
              <a:buChar char="•"/>
            </a:pPr>
            <a:r>
              <a:rPr lang="en-US" altLang="en-US" dirty="0">
                <a:sym typeface="Symbol" panose="05050102010706020507" pitchFamily="18" charset="2"/>
              </a:rPr>
              <a:t>If min(</a:t>
            </a:r>
            <a:r>
              <a:rPr lang="en-US" altLang="en-US" dirty="0" err="1">
                <a:sym typeface="Symbol" panose="05050102010706020507" pitchFamily="18" charset="2"/>
              </a:rPr>
              <a:t>A,r</a:t>
            </a:r>
            <a:r>
              <a:rPr lang="en-US" altLang="en-US" dirty="0">
                <a:sym typeface="Symbol" panose="05050102010706020507" pitchFamily="18" charset="2"/>
              </a:rPr>
              <a:t>) and max(</a:t>
            </a:r>
            <a:r>
              <a:rPr lang="en-US" altLang="en-US" dirty="0" err="1">
                <a:sym typeface="Symbol" panose="05050102010706020507" pitchFamily="18" charset="2"/>
              </a:rPr>
              <a:t>A,r</a:t>
            </a:r>
            <a:r>
              <a:rPr lang="en-US" altLang="en-US" dirty="0">
                <a:sym typeface="Symbol" panose="05050102010706020507" pitchFamily="18" charset="2"/>
              </a:rPr>
              <a:t>) are available in catalog</a:t>
            </a:r>
          </a:p>
          <a:p>
            <a:pPr lvl="2">
              <a:buFont typeface="Wingdings" panose="05000000000000000000" pitchFamily="2" charset="2"/>
              <a:buChar char="§"/>
            </a:pPr>
            <a:r>
              <a:rPr lang="en-US" altLang="en-US" dirty="0"/>
              <a:t>c = 0 if v &lt; min(</a:t>
            </a:r>
            <a:r>
              <a:rPr lang="en-US" altLang="en-US" dirty="0" err="1"/>
              <a:t>A,r</a:t>
            </a:r>
            <a:r>
              <a:rPr lang="en-US" altLang="en-US" dirty="0"/>
              <a:t>)</a:t>
            </a:r>
            <a:br>
              <a:rPr lang="en-US" altLang="en-US" dirty="0"/>
            </a:br>
            <a:endParaRPr lang="en-US" altLang="en-US" dirty="0"/>
          </a:p>
          <a:p>
            <a:pPr lvl="2">
              <a:buFont typeface="Wingdings" panose="05000000000000000000" pitchFamily="2" charset="2"/>
              <a:buChar char="§"/>
            </a:pPr>
            <a:r>
              <a:rPr lang="en-US" altLang="en-US" dirty="0"/>
              <a:t>c =</a:t>
            </a:r>
            <a:br>
              <a:rPr lang="en-US" altLang="en-US" dirty="0"/>
            </a:br>
            <a:endParaRPr lang="en-US" altLang="en-US" dirty="0"/>
          </a:p>
          <a:p>
            <a:pPr lvl="1">
              <a:buSzPct val="110000"/>
              <a:buFont typeface="Arial" panose="020B0604020202020204" pitchFamily="34" charset="0"/>
              <a:buChar char="•"/>
            </a:pPr>
            <a:r>
              <a:rPr lang="en-US" altLang="en-US" dirty="0"/>
              <a:t> If histograms available, can refine above estimate</a:t>
            </a:r>
          </a:p>
          <a:p>
            <a:pPr lvl="1">
              <a:buSzPct val="110000"/>
              <a:buFont typeface="Arial" panose="020B0604020202020204" pitchFamily="34" charset="0"/>
              <a:buChar char="•"/>
            </a:pPr>
            <a:r>
              <a:rPr lang="en-US" altLang="en-US" dirty="0"/>
              <a:t>In absence of statistical information</a:t>
            </a:r>
            <a:r>
              <a:rPr lang="en-US" altLang="en-US" i="1" dirty="0"/>
              <a:t> c </a:t>
            </a:r>
            <a:r>
              <a:rPr lang="en-US" altLang="en-US" dirty="0"/>
              <a:t>is assumed to be</a:t>
            </a:r>
            <a:r>
              <a:rPr lang="en-US" altLang="en-US" i="1" dirty="0"/>
              <a:t> </a:t>
            </a:r>
            <a:r>
              <a:rPr lang="en-US" altLang="en-US" i="1" dirty="0">
                <a:sym typeface="Symbol" panose="05050102010706020507" pitchFamily="18" charset="2"/>
              </a:rPr>
              <a:t>n</a:t>
            </a:r>
            <a:r>
              <a:rPr lang="en-US" altLang="en-US" i="1" baseline="-25000" dirty="0">
                <a:sym typeface="Symbol" panose="05050102010706020507" pitchFamily="18" charset="2"/>
              </a:rPr>
              <a:t>r </a:t>
            </a:r>
            <a:r>
              <a:rPr lang="en-US" altLang="en-US" i="1" dirty="0">
                <a:sym typeface="Symbol" panose="05050102010706020507" pitchFamily="18" charset="2"/>
              </a:rPr>
              <a:t>/ </a:t>
            </a:r>
            <a:r>
              <a:rPr lang="en-US" altLang="en-US" dirty="0">
                <a:sym typeface="Symbol" panose="05050102010706020507" pitchFamily="18" charset="2"/>
              </a:rPr>
              <a:t>2.</a:t>
            </a:r>
          </a:p>
          <a:p>
            <a:pPr lvl="2"/>
            <a:endParaRPr lang="en-US" altLang="en-US" sz="1200" dirty="0">
              <a:sym typeface="Symbol" panose="05050102010706020507" pitchFamily="18" charset="2"/>
            </a:endParaRPr>
          </a:p>
        </p:txBody>
      </p:sp>
      <p:sp>
        <p:nvSpPr>
          <p:cNvPr id="499714" name="Rectangle 2">
            <a:extLst>
              <a:ext uri="{FF2B5EF4-FFF2-40B4-BE49-F238E27FC236}">
                <a16:creationId xmlns:a16="http://schemas.microsoft.com/office/drawing/2014/main" id="{C897B721-DA5B-48DB-89C5-0ECC40E42EE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Selection Size Estimation</a:t>
            </a:r>
          </a:p>
        </p:txBody>
      </p:sp>
      <p:graphicFrame>
        <p:nvGraphicFramePr>
          <p:cNvPr id="75780" name="Object 2">
            <a:extLst>
              <a:ext uri="{FF2B5EF4-FFF2-40B4-BE49-F238E27FC236}">
                <a16:creationId xmlns:a16="http://schemas.microsoft.com/office/drawing/2014/main" id="{51A7D16A-0EF1-42C9-84D1-BB8084DBD575}"/>
              </a:ext>
            </a:extLst>
          </p:cNvPr>
          <p:cNvGraphicFramePr>
            <a:graphicFrameLocks noGrp="1" noChangeAspect="1"/>
          </p:cNvGraphicFramePr>
          <p:nvPr>
            <p:ph idx="1"/>
          </p:nvPr>
        </p:nvGraphicFramePr>
        <p:xfrm>
          <a:off x="2805764" y="2775860"/>
          <a:ext cx="1625318" cy="447923"/>
        </p:xfrm>
        <a:graphic>
          <a:graphicData uri="http://schemas.openxmlformats.org/presentationml/2006/ole">
            <mc:AlternateContent xmlns:mc="http://schemas.openxmlformats.org/markup-compatibility/2006">
              <mc:Choice xmlns:v="urn:schemas-microsoft-com:vml" Requires="v">
                <p:oleObj name="Equation" r:id="rId3" imgW="1612900" imgH="444500" progId="Equation.3">
                  <p:embed/>
                </p:oleObj>
              </mc:Choice>
              <mc:Fallback>
                <p:oleObj name="Equation" r:id="rId3" imgW="1612900" imgH="444500" progId="Equation.3">
                  <p:embed/>
                  <p:pic>
                    <p:nvPicPr>
                      <p:cNvPr id="75780" name="Object 2">
                        <a:extLst>
                          <a:ext uri="{FF2B5EF4-FFF2-40B4-BE49-F238E27FC236}">
                            <a16:creationId xmlns:a16="http://schemas.microsoft.com/office/drawing/2014/main" id="{51A7D16A-0EF1-42C9-84D1-BB8084DBD5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5764" y="2775860"/>
                        <a:ext cx="1625318" cy="447923"/>
                      </a:xfrm>
                      <a:prstGeom prst="rect">
                        <a:avLst/>
                      </a:prstGeom>
                      <a:noFill/>
                      <a:ln>
                        <a:noFill/>
                      </a:ln>
                      <a:effectLst/>
                    </p:spPr>
                  </p:pic>
                </p:oleObj>
              </mc:Fallback>
            </mc:AlternateContent>
          </a:graphicData>
        </a:graphic>
      </p:graphicFrame>
      <p:sp>
        <p:nvSpPr>
          <p:cNvPr id="2" name="TextBox 1">
            <a:extLst>
              <a:ext uri="{FF2B5EF4-FFF2-40B4-BE49-F238E27FC236}">
                <a16:creationId xmlns:a16="http://schemas.microsoft.com/office/drawing/2014/main" id="{B332DC9D-E794-442F-F469-5F860B45E12B}"/>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a:extLst>
              <a:ext uri="{FF2B5EF4-FFF2-40B4-BE49-F238E27FC236}">
                <a16:creationId xmlns:a16="http://schemas.microsoft.com/office/drawing/2014/main" id="{25B34E41-68A0-4111-B5A3-5964468F8F7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Size Estimation of Complex Selections</a:t>
            </a:r>
          </a:p>
        </p:txBody>
      </p:sp>
      <p:sp>
        <p:nvSpPr>
          <p:cNvPr id="77827" name="Rectangle 3">
            <a:extLst>
              <a:ext uri="{FF2B5EF4-FFF2-40B4-BE49-F238E27FC236}">
                <a16:creationId xmlns:a16="http://schemas.microsoft.com/office/drawing/2014/main" id="{2F37CA3D-1CFA-4DD3-8583-A2203BB9D122}"/>
              </a:ext>
            </a:extLst>
          </p:cNvPr>
          <p:cNvSpPr>
            <a:spLocks noGrp="1" noChangeArrowheads="1"/>
          </p:cNvSpPr>
          <p:nvPr>
            <p:ph idx="1"/>
          </p:nvPr>
        </p:nvSpPr>
        <p:spPr>
          <a:xfrm>
            <a:off x="1655546" y="826873"/>
            <a:ext cx="5789596" cy="4025979"/>
          </a:xfrm>
        </p:spPr>
        <p:txBody>
          <a:bodyPr/>
          <a:lstStyle/>
          <a:p>
            <a:pPr>
              <a:tabLst>
                <a:tab pos="1753791" algn="l"/>
              </a:tabLst>
            </a:pPr>
            <a:r>
              <a:rPr lang="en-US" altLang="en-US" dirty="0"/>
              <a:t>The </a:t>
            </a:r>
            <a:r>
              <a:rPr lang="en-US" altLang="en-US" b="1" dirty="0">
                <a:solidFill>
                  <a:srgbClr val="002060"/>
                </a:solidFill>
              </a:rPr>
              <a:t>selectivity </a:t>
            </a:r>
            <a:r>
              <a:rPr lang="en-US" altLang="en-US" dirty="0"/>
              <a:t>of a condition </a:t>
            </a:r>
            <a:r>
              <a:rPr lang="en-US" altLang="en-US" sz="1500" dirty="0">
                <a:sym typeface="Symbol" panose="05050102010706020507" pitchFamily="18" charset="2"/>
              </a:rPr>
              <a:t></a:t>
            </a:r>
            <a:r>
              <a:rPr lang="en-US" altLang="en-US" i="1" baseline="-25000" dirty="0" err="1">
                <a:sym typeface="Greek Symbols" pitchFamily="18" charset="2"/>
              </a:rPr>
              <a:t>i</a:t>
            </a:r>
            <a:r>
              <a:rPr lang="en-US" altLang="en-US" dirty="0">
                <a:sym typeface="Greek Symbols" pitchFamily="18" charset="2"/>
              </a:rPr>
              <a:t> is the probability that a tuple in the relation </a:t>
            </a:r>
            <a:r>
              <a:rPr lang="en-US" altLang="en-US" i="1" dirty="0">
                <a:sym typeface="Greek Symbols" pitchFamily="18" charset="2"/>
              </a:rPr>
              <a:t>r</a:t>
            </a:r>
            <a:r>
              <a:rPr lang="en-US" altLang="en-US" dirty="0">
                <a:sym typeface="Greek Symbols" pitchFamily="18" charset="2"/>
              </a:rPr>
              <a:t> satisfies </a:t>
            </a:r>
            <a:r>
              <a:rPr lang="en-US" altLang="en-US" sz="1500" dirty="0">
                <a:sym typeface="Symbol" panose="05050102010706020507" pitchFamily="18" charset="2"/>
              </a:rPr>
              <a:t></a:t>
            </a:r>
            <a:r>
              <a:rPr lang="en-US" altLang="en-US" i="1" baseline="-25000" dirty="0" err="1">
                <a:sym typeface="Greek Symbols" pitchFamily="18" charset="2"/>
              </a:rPr>
              <a:t>i</a:t>
            </a:r>
            <a:r>
              <a:rPr lang="en-US" altLang="en-US" dirty="0">
                <a:sym typeface="Greek Symbols" pitchFamily="18" charset="2"/>
              </a:rPr>
              <a:t> . </a:t>
            </a:r>
          </a:p>
          <a:p>
            <a:pPr lvl="1">
              <a:tabLst>
                <a:tab pos="1753791" algn="l"/>
              </a:tabLst>
            </a:pPr>
            <a:r>
              <a:rPr lang="en-US" altLang="en-US" dirty="0">
                <a:sym typeface="Greek Symbols" pitchFamily="18" charset="2"/>
              </a:rPr>
              <a:t> If </a:t>
            </a:r>
            <a:r>
              <a:rPr lang="en-US" altLang="en-US" i="1" dirty="0" err="1">
                <a:sym typeface="Greek Symbols" pitchFamily="18" charset="2"/>
              </a:rPr>
              <a:t>s</a:t>
            </a:r>
            <a:r>
              <a:rPr lang="en-US" altLang="en-US" i="1" baseline="-25000" dirty="0" err="1">
                <a:sym typeface="Greek Symbols" pitchFamily="18" charset="2"/>
              </a:rPr>
              <a:t>i</a:t>
            </a:r>
            <a:r>
              <a:rPr lang="en-US" altLang="en-US" i="1" dirty="0">
                <a:sym typeface="Greek Symbols" pitchFamily="18" charset="2"/>
              </a:rPr>
              <a:t> </a:t>
            </a:r>
            <a:r>
              <a:rPr lang="en-US" altLang="en-US" dirty="0">
                <a:sym typeface="Greek Symbols" pitchFamily="18" charset="2"/>
              </a:rPr>
              <a:t> is the number of satisfying tuples in </a:t>
            </a:r>
            <a:r>
              <a:rPr lang="en-US" altLang="en-US" i="1" dirty="0">
                <a:sym typeface="Greek Symbols" pitchFamily="18" charset="2"/>
              </a:rPr>
              <a:t>r, </a:t>
            </a:r>
            <a:r>
              <a:rPr lang="en-US" altLang="en-US" dirty="0">
                <a:sym typeface="Greek Symbols" pitchFamily="18" charset="2"/>
              </a:rPr>
              <a:t>the selectivity of </a:t>
            </a:r>
            <a:r>
              <a:rPr lang="en-US" altLang="en-US" i="1" dirty="0">
                <a:sym typeface="Greek Symbols" pitchFamily="18" charset="2"/>
              </a:rPr>
              <a:t> </a:t>
            </a:r>
            <a:r>
              <a:rPr lang="en-US" altLang="en-US" sz="1500" dirty="0">
                <a:sym typeface="Symbol" panose="05050102010706020507" pitchFamily="18" charset="2"/>
              </a:rPr>
              <a:t></a:t>
            </a:r>
            <a:r>
              <a:rPr lang="en-US" altLang="en-US" i="1" baseline="-25000" dirty="0" err="1">
                <a:sym typeface="Greek Symbols" pitchFamily="18" charset="2"/>
              </a:rPr>
              <a:t>i</a:t>
            </a:r>
            <a:r>
              <a:rPr lang="en-US" altLang="en-US" dirty="0">
                <a:sym typeface="Greek Symbols" pitchFamily="18" charset="2"/>
              </a:rPr>
              <a:t> is given by </a:t>
            </a:r>
            <a:r>
              <a:rPr lang="en-US" altLang="en-US" i="1" dirty="0" err="1">
                <a:sym typeface="Greek Symbols" pitchFamily="18" charset="2"/>
              </a:rPr>
              <a:t>s</a:t>
            </a:r>
            <a:r>
              <a:rPr lang="en-US" altLang="en-US" i="1" baseline="-25000" dirty="0" err="1">
                <a:sym typeface="Greek Symbols" pitchFamily="18" charset="2"/>
              </a:rPr>
              <a:t>i</a:t>
            </a:r>
            <a:r>
              <a:rPr lang="en-US" altLang="en-US" i="1" dirty="0">
                <a:sym typeface="Greek Symbols" pitchFamily="18" charset="2"/>
              </a:rPr>
              <a:t> /n</a:t>
            </a:r>
            <a:r>
              <a:rPr lang="en-US" altLang="en-US" i="1" baseline="-25000" dirty="0">
                <a:sym typeface="Greek Symbols" pitchFamily="18" charset="2"/>
              </a:rPr>
              <a:t>r</a:t>
            </a:r>
            <a:r>
              <a:rPr lang="en-US" altLang="en-US" i="1" dirty="0">
                <a:sym typeface="Greek Symbols" pitchFamily="18" charset="2"/>
              </a:rPr>
              <a:t>.</a:t>
            </a:r>
            <a:endParaRPr lang="en-US" altLang="en-US" dirty="0">
              <a:sym typeface="Greek Symbols" pitchFamily="18" charset="2"/>
            </a:endParaRPr>
          </a:p>
          <a:p>
            <a:pPr>
              <a:tabLst>
                <a:tab pos="1753791" algn="l"/>
              </a:tabLst>
            </a:pPr>
            <a:r>
              <a:rPr lang="en-US" altLang="en-US" b="1" strike="sngStrike" dirty="0">
                <a:sym typeface="Greek Symbols" pitchFamily="18" charset="2"/>
              </a:rPr>
              <a:t>Conjunction:  </a:t>
            </a:r>
            <a:r>
              <a:rPr lang="en-US" altLang="en-US" sz="1500" i="1" strike="sngStrike" dirty="0">
                <a:sym typeface="Symbol" panose="05050102010706020507" pitchFamily="18" charset="2"/>
              </a:rPr>
              <a:t></a:t>
            </a:r>
            <a:r>
              <a:rPr lang="en-US" altLang="en-US" sz="1800" strike="sngStrike" baseline="-25000" dirty="0">
                <a:sym typeface="Symbol" panose="05050102010706020507" pitchFamily="18" charset="2"/>
              </a:rPr>
              <a:t></a:t>
            </a:r>
            <a:r>
              <a:rPr lang="en-US" altLang="en-US" sz="1500" strike="sngStrike" baseline="-25000" dirty="0">
                <a:sym typeface="Greek Symbols" pitchFamily="18" charset="2"/>
              </a:rPr>
              <a:t>1</a:t>
            </a:r>
            <a:r>
              <a:rPr lang="en-US" altLang="en-US" sz="1500" strike="sngStrike" baseline="-25000" dirty="0">
                <a:sym typeface="Symbol" panose="05050102010706020507" pitchFamily="18" charset="2"/>
              </a:rPr>
              <a:t> </a:t>
            </a:r>
            <a:r>
              <a:rPr lang="en-US" altLang="en-US" sz="1800" strike="sngStrike" baseline="-25000" dirty="0">
                <a:sym typeface="Symbol" panose="05050102010706020507" pitchFamily="18" charset="2"/>
              </a:rPr>
              <a:t></a:t>
            </a:r>
            <a:r>
              <a:rPr lang="en-US" altLang="en-US" sz="1500" strike="sngStrike" baseline="-25000" dirty="0">
                <a:sym typeface="Greek Symbols" pitchFamily="18" charset="2"/>
              </a:rPr>
              <a:t>2</a:t>
            </a:r>
            <a:r>
              <a:rPr lang="en-US" altLang="en-US" sz="1500" strike="sngStrike" baseline="-25000" dirty="0">
                <a:sym typeface="Symbol" panose="05050102010706020507" pitchFamily="18" charset="2"/>
              </a:rPr>
              <a:t>. . .  </a:t>
            </a:r>
            <a:r>
              <a:rPr lang="en-US" altLang="en-US" sz="1800" strike="sngStrike" baseline="-25000" dirty="0">
                <a:sym typeface="Symbol" panose="05050102010706020507" pitchFamily="18" charset="2"/>
              </a:rPr>
              <a:t></a:t>
            </a:r>
            <a:r>
              <a:rPr lang="en-US" altLang="en-US" sz="1500" i="1" strike="sngStrike" baseline="-25000" dirty="0">
                <a:sym typeface="Greek Symbols" pitchFamily="18" charset="2"/>
              </a:rPr>
              <a:t>n</a:t>
            </a:r>
            <a:r>
              <a:rPr lang="en-US" altLang="en-US" sz="1500" strike="sngStrike" dirty="0">
                <a:sym typeface="Symbol" panose="05050102010706020507" pitchFamily="18" charset="2"/>
              </a:rPr>
              <a:t> (</a:t>
            </a:r>
            <a:r>
              <a:rPr lang="en-US" altLang="en-US" i="1" strike="sngStrike" dirty="0">
                <a:sym typeface="Symbol" panose="05050102010706020507" pitchFamily="18" charset="2"/>
              </a:rPr>
              <a:t>r).  Assuming independence, </a:t>
            </a:r>
            <a:r>
              <a:rPr lang="en-US" altLang="en-US" strike="sngStrike" dirty="0">
                <a:sym typeface="Symbol" panose="05050102010706020507" pitchFamily="18" charset="2"/>
              </a:rPr>
              <a:t>estimate of</a:t>
            </a:r>
            <a:r>
              <a:rPr lang="en-US" altLang="en-US" sz="1500" strike="sngStrike" dirty="0">
                <a:sym typeface="Symbol" panose="05050102010706020507" pitchFamily="18" charset="2"/>
              </a:rPr>
              <a:t> </a:t>
            </a:r>
            <a:br>
              <a:rPr lang="en-US" altLang="en-US" sz="1500" strike="sngStrike" dirty="0">
                <a:sym typeface="Symbol" panose="05050102010706020507" pitchFamily="18" charset="2"/>
              </a:rPr>
            </a:br>
            <a:r>
              <a:rPr lang="en-US" altLang="en-US" sz="1500" strike="sngStrike" dirty="0">
                <a:sym typeface="Symbol" panose="05050102010706020507" pitchFamily="18" charset="2"/>
              </a:rPr>
              <a:t> </a:t>
            </a:r>
            <a:br>
              <a:rPr lang="en-US" altLang="en-US" sz="1500" strike="sngStrike" dirty="0">
                <a:sym typeface="Symbol" panose="05050102010706020507" pitchFamily="18" charset="2"/>
              </a:rPr>
            </a:br>
            <a:r>
              <a:rPr lang="en-US" altLang="en-US" strike="sngStrike" dirty="0">
                <a:sym typeface="Symbol" panose="05050102010706020507" pitchFamily="18" charset="2"/>
              </a:rPr>
              <a:t>tuples in the</a:t>
            </a:r>
            <a:r>
              <a:rPr lang="en-US" altLang="en-US" sz="1800" strike="sngStrike" dirty="0">
                <a:sym typeface="Symbol" panose="05050102010706020507" pitchFamily="18" charset="2"/>
              </a:rPr>
              <a:t> </a:t>
            </a:r>
            <a:r>
              <a:rPr lang="en-US" altLang="en-US" strike="sngStrike" dirty="0">
                <a:sym typeface="Symbol" panose="05050102010706020507" pitchFamily="18" charset="2"/>
              </a:rPr>
              <a:t>result is:</a:t>
            </a:r>
            <a:br>
              <a:rPr lang="en-US" altLang="en-US" sz="2100" strike="sngStrike" dirty="0">
                <a:sym typeface="Symbol" panose="05050102010706020507" pitchFamily="18" charset="2"/>
              </a:rPr>
            </a:br>
            <a:endParaRPr lang="en-US" altLang="en-US" strike="sngStrike" dirty="0">
              <a:sym typeface="Symbol" panose="05050102010706020507" pitchFamily="18" charset="2"/>
            </a:endParaRPr>
          </a:p>
          <a:p>
            <a:pPr>
              <a:tabLst>
                <a:tab pos="1753791" algn="l"/>
              </a:tabLst>
            </a:pPr>
            <a:r>
              <a:rPr lang="en-US" altLang="en-US" b="1" strike="sngStrike" dirty="0">
                <a:sym typeface="Symbol" panose="05050102010706020507" pitchFamily="18" charset="2"/>
              </a:rPr>
              <a:t>Disjunction:</a:t>
            </a:r>
            <a:r>
              <a:rPr lang="en-US" altLang="en-US" i="1" strike="sngStrike" dirty="0">
                <a:sym typeface="Symbol" panose="05050102010706020507" pitchFamily="18" charset="2"/>
              </a:rPr>
              <a:t></a:t>
            </a:r>
            <a:r>
              <a:rPr lang="en-US" altLang="en-US" sz="1800" strike="sngStrike" baseline="-25000" dirty="0">
                <a:sym typeface="Symbol" panose="05050102010706020507" pitchFamily="18" charset="2"/>
              </a:rPr>
              <a:t></a:t>
            </a:r>
            <a:r>
              <a:rPr lang="en-US" altLang="en-US" strike="sngStrike" baseline="-25000" dirty="0">
                <a:sym typeface="Greek Symbols" pitchFamily="18" charset="2"/>
              </a:rPr>
              <a:t>1</a:t>
            </a:r>
            <a:r>
              <a:rPr lang="en-US" altLang="en-US" strike="sngStrike" baseline="-25000" dirty="0">
                <a:sym typeface="Symbol" panose="05050102010706020507" pitchFamily="18" charset="2"/>
              </a:rPr>
              <a:t></a:t>
            </a:r>
            <a:r>
              <a:rPr lang="en-US" altLang="en-US" strike="sngStrike" dirty="0">
                <a:sym typeface="Symbol" panose="05050102010706020507" pitchFamily="18" charset="2"/>
              </a:rPr>
              <a:t> </a:t>
            </a:r>
            <a:r>
              <a:rPr lang="en-US" altLang="en-US" sz="1800" strike="sngStrike" baseline="-25000" dirty="0">
                <a:sym typeface="Symbol" panose="05050102010706020507" pitchFamily="18" charset="2"/>
              </a:rPr>
              <a:t></a:t>
            </a:r>
            <a:r>
              <a:rPr lang="en-US" altLang="en-US" strike="sngStrike" baseline="-25000" dirty="0">
                <a:sym typeface="Greek Symbols" pitchFamily="18" charset="2"/>
              </a:rPr>
              <a:t>2</a:t>
            </a:r>
            <a:r>
              <a:rPr lang="en-US" altLang="en-US" sz="1050" strike="sngStrike" baseline="-25000" dirty="0">
                <a:sym typeface="Greek Symbols" pitchFamily="18" charset="2"/>
              </a:rPr>
              <a:t> </a:t>
            </a:r>
            <a:r>
              <a:rPr lang="en-US" altLang="en-US" strike="sngStrike" baseline="-25000" dirty="0">
                <a:sym typeface="Symbol" panose="05050102010706020507" pitchFamily="18" charset="2"/>
              </a:rPr>
              <a:t>. . . </a:t>
            </a:r>
            <a:r>
              <a:rPr lang="en-US" altLang="en-US" strike="sngStrike" dirty="0">
                <a:sym typeface="Symbol" panose="05050102010706020507" pitchFamily="18" charset="2"/>
              </a:rPr>
              <a:t> </a:t>
            </a:r>
            <a:r>
              <a:rPr lang="en-US" altLang="en-US" sz="1800" strike="sngStrike" baseline="-25000" dirty="0">
                <a:sym typeface="Symbol" panose="05050102010706020507" pitchFamily="18" charset="2"/>
              </a:rPr>
              <a:t></a:t>
            </a:r>
            <a:r>
              <a:rPr lang="en-US" altLang="en-US" i="1" strike="sngStrike" baseline="-25000" dirty="0">
                <a:sym typeface="Greek Symbols" pitchFamily="18" charset="2"/>
              </a:rPr>
              <a:t>n </a:t>
            </a:r>
            <a:r>
              <a:rPr lang="en-US" altLang="en-US" strike="sngStrike" dirty="0">
                <a:sym typeface="Symbol" panose="05050102010706020507" pitchFamily="18" charset="2"/>
              </a:rPr>
              <a:t>(</a:t>
            </a:r>
            <a:r>
              <a:rPr lang="en-US" altLang="en-US" i="1" strike="sngStrike" dirty="0">
                <a:sym typeface="Symbol" panose="05050102010706020507" pitchFamily="18" charset="2"/>
              </a:rPr>
              <a:t>r). </a:t>
            </a:r>
            <a:r>
              <a:rPr lang="en-US" altLang="en-US" strike="sngStrike" dirty="0">
                <a:sym typeface="Symbol" panose="05050102010706020507" pitchFamily="18" charset="2"/>
              </a:rPr>
              <a:t>  Estimated number of tuples:</a:t>
            </a:r>
            <a:br>
              <a:rPr lang="en-US" altLang="en-US" strike="sngStrike" dirty="0">
                <a:sym typeface="Symbol" panose="05050102010706020507" pitchFamily="18" charset="2"/>
              </a:rPr>
            </a:br>
            <a:br>
              <a:rPr lang="en-US" altLang="en-US" strike="sngStrike" dirty="0">
                <a:sym typeface="Symbol" panose="05050102010706020507" pitchFamily="18" charset="2"/>
              </a:rPr>
            </a:br>
            <a:br>
              <a:rPr lang="en-US" altLang="en-US" strike="sngStrike" dirty="0">
                <a:sym typeface="Symbol" panose="05050102010706020507" pitchFamily="18" charset="2"/>
              </a:rPr>
            </a:br>
            <a:endParaRPr lang="en-US" altLang="en-US" strike="sngStrike" dirty="0">
              <a:sym typeface="Symbol" panose="05050102010706020507" pitchFamily="18" charset="2"/>
            </a:endParaRPr>
          </a:p>
          <a:p>
            <a:pPr>
              <a:tabLst>
                <a:tab pos="1753791" algn="l"/>
              </a:tabLst>
            </a:pPr>
            <a:r>
              <a:rPr lang="en-US" altLang="en-US" b="1" strike="sngStrike" dirty="0">
                <a:sym typeface="Symbol" panose="05050102010706020507" pitchFamily="18" charset="2"/>
              </a:rPr>
              <a:t>Negation:  </a:t>
            </a:r>
            <a:r>
              <a:rPr lang="en-US" altLang="en-US" i="1" strike="sngStrike" dirty="0">
                <a:sym typeface="Symbol" panose="05050102010706020507" pitchFamily="18" charset="2"/>
              </a:rPr>
              <a:t></a:t>
            </a:r>
            <a:r>
              <a:rPr lang="en-US" altLang="en-US" strike="sngStrike" baseline="-25000" dirty="0">
                <a:sym typeface="Symbol" panose="05050102010706020507" pitchFamily="18" charset="2"/>
              </a:rPr>
              <a:t></a:t>
            </a:r>
            <a:r>
              <a:rPr lang="en-US" altLang="en-US" strike="sngStrike" dirty="0">
                <a:sym typeface="Symbol" panose="05050102010706020507" pitchFamily="18" charset="2"/>
              </a:rPr>
              <a:t>(</a:t>
            </a:r>
            <a:r>
              <a:rPr lang="en-US" altLang="en-US" i="1" strike="sngStrike" dirty="0">
                <a:sym typeface="Symbol" panose="05050102010706020507" pitchFamily="18" charset="2"/>
              </a:rPr>
              <a:t>r). </a:t>
            </a:r>
            <a:r>
              <a:rPr lang="en-US" altLang="en-US" strike="sngStrike" dirty="0">
                <a:sym typeface="Symbol" panose="05050102010706020507" pitchFamily="18" charset="2"/>
              </a:rPr>
              <a:t> Estimated number of tuples:</a:t>
            </a:r>
            <a:br>
              <a:rPr lang="en-US" altLang="en-US" strike="sngStrike" dirty="0">
                <a:sym typeface="Symbol" panose="05050102010706020507" pitchFamily="18" charset="2"/>
              </a:rPr>
            </a:br>
            <a:r>
              <a:rPr lang="en-US" altLang="en-US" strike="sngStrike" dirty="0">
                <a:sym typeface="Symbol" panose="05050102010706020507" pitchFamily="18" charset="2"/>
              </a:rPr>
              <a:t>	</a:t>
            </a:r>
            <a:r>
              <a:rPr lang="en-US" altLang="en-US" i="1" strike="sngStrike" dirty="0">
                <a:sym typeface="Symbol" panose="05050102010706020507" pitchFamily="18" charset="2"/>
              </a:rPr>
              <a:t>n</a:t>
            </a:r>
            <a:r>
              <a:rPr lang="en-US" altLang="en-US" strike="sngStrike" baseline="-25000" dirty="0">
                <a:sym typeface="Symbol" panose="05050102010706020507" pitchFamily="18" charset="2"/>
              </a:rPr>
              <a:t>r</a:t>
            </a:r>
            <a:r>
              <a:rPr lang="en-US" altLang="en-US" i="1" strike="sngStrike" baseline="-25000" dirty="0">
                <a:sym typeface="Symbol" panose="05050102010706020507" pitchFamily="18" charset="2"/>
              </a:rPr>
              <a:t> </a:t>
            </a:r>
            <a:r>
              <a:rPr lang="en-US" altLang="en-US" i="1" strike="sngStrike" dirty="0">
                <a:sym typeface="Symbol" panose="05050102010706020507" pitchFamily="18" charset="2"/>
              </a:rPr>
              <a:t>–</a:t>
            </a:r>
            <a:r>
              <a:rPr lang="en-US" altLang="en-US" sz="1500" i="1" strike="sngStrike" dirty="0">
                <a:sym typeface="Symbol" panose="05050102010706020507" pitchFamily="18" charset="2"/>
              </a:rPr>
              <a:t> </a:t>
            </a:r>
            <a:r>
              <a:rPr lang="en-US" altLang="en-US" i="1" strike="sngStrike" dirty="0">
                <a:sym typeface="Symbol" panose="05050102010706020507" pitchFamily="18" charset="2"/>
              </a:rPr>
              <a:t>size(</a:t>
            </a:r>
            <a:r>
              <a:rPr lang="en-US" altLang="en-US" i="1" strike="sngStrike" baseline="-25000" dirty="0">
                <a:sym typeface="Symbol" panose="05050102010706020507" pitchFamily="18" charset="2"/>
              </a:rPr>
              <a:t></a:t>
            </a:r>
            <a:r>
              <a:rPr lang="en-US" altLang="en-US" strike="sngStrike" dirty="0">
                <a:sym typeface="Symbol" panose="05050102010706020507" pitchFamily="18" charset="2"/>
              </a:rPr>
              <a:t>(</a:t>
            </a:r>
            <a:r>
              <a:rPr lang="en-US" altLang="en-US" i="1" strike="sngStrike" dirty="0">
                <a:sym typeface="Symbol" panose="05050102010706020507" pitchFamily="18" charset="2"/>
              </a:rPr>
              <a:t>r))</a:t>
            </a:r>
          </a:p>
        </p:txBody>
      </p:sp>
      <p:graphicFrame>
        <p:nvGraphicFramePr>
          <p:cNvPr id="77828" name="Object 2">
            <a:extLst>
              <a:ext uri="{FF2B5EF4-FFF2-40B4-BE49-F238E27FC236}">
                <a16:creationId xmlns:a16="http://schemas.microsoft.com/office/drawing/2014/main" id="{63B73BDC-F3BD-4665-84D2-AF3E2262D8BE}"/>
              </a:ext>
            </a:extLst>
          </p:cNvPr>
          <p:cNvGraphicFramePr>
            <a:graphicFrameLocks noChangeAspect="1"/>
          </p:cNvGraphicFramePr>
          <p:nvPr/>
        </p:nvGraphicFramePr>
        <p:xfrm>
          <a:off x="3766865" y="2251472"/>
          <a:ext cx="1714500" cy="640556"/>
        </p:xfrm>
        <a:graphic>
          <a:graphicData uri="http://schemas.openxmlformats.org/presentationml/2006/ole">
            <mc:AlternateContent xmlns:mc="http://schemas.openxmlformats.org/markup-compatibility/2006">
              <mc:Choice xmlns:v="urn:schemas-microsoft-com:vml" Requires="v">
                <p:oleObj name="Equation" r:id="rId3" imgW="1155700" imgH="431800" progId="Equation.3">
                  <p:embed/>
                </p:oleObj>
              </mc:Choice>
              <mc:Fallback>
                <p:oleObj name="Equation" r:id="rId3" imgW="1155700" imgH="431800" progId="Equation.3">
                  <p:embed/>
                  <p:pic>
                    <p:nvPicPr>
                      <p:cNvPr id="77828" name="Object 2">
                        <a:extLst>
                          <a:ext uri="{FF2B5EF4-FFF2-40B4-BE49-F238E27FC236}">
                            <a16:creationId xmlns:a16="http://schemas.microsoft.com/office/drawing/2014/main" id="{63B73BDC-F3BD-4665-84D2-AF3E2262D8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6865" y="2251472"/>
                        <a:ext cx="1714500" cy="6405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7829" name="Object 3">
            <a:extLst>
              <a:ext uri="{FF2B5EF4-FFF2-40B4-BE49-F238E27FC236}">
                <a16:creationId xmlns:a16="http://schemas.microsoft.com/office/drawing/2014/main" id="{DB4B5B34-2CC2-46E0-ADA1-80DC084DADB8}"/>
              </a:ext>
            </a:extLst>
          </p:cNvPr>
          <p:cNvGraphicFramePr>
            <a:graphicFrameLocks noChangeAspect="1"/>
          </p:cNvGraphicFramePr>
          <p:nvPr/>
        </p:nvGraphicFramePr>
        <p:xfrm>
          <a:off x="3287317" y="3174207"/>
          <a:ext cx="3098006" cy="627460"/>
        </p:xfrm>
        <a:graphic>
          <a:graphicData uri="http://schemas.openxmlformats.org/presentationml/2006/ole">
            <mc:AlternateContent xmlns:mc="http://schemas.openxmlformats.org/markup-compatibility/2006">
              <mc:Choice xmlns:v="urn:schemas-microsoft-com:vml" Requires="v">
                <p:oleObj name="Equation" r:id="rId5" imgW="2374900" imgH="482600" progId="Equation.3">
                  <p:embed/>
                </p:oleObj>
              </mc:Choice>
              <mc:Fallback>
                <p:oleObj name="Equation" r:id="rId5" imgW="2374900" imgH="482600" progId="Equation.3">
                  <p:embed/>
                  <p:pic>
                    <p:nvPicPr>
                      <p:cNvPr id="77829" name="Object 3">
                        <a:extLst>
                          <a:ext uri="{FF2B5EF4-FFF2-40B4-BE49-F238E27FC236}">
                            <a16:creationId xmlns:a16="http://schemas.microsoft.com/office/drawing/2014/main" id="{DB4B5B34-2CC2-46E0-ADA1-80DC084DADB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87317" y="3174207"/>
                        <a:ext cx="3098006" cy="6274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 name="TextBox 1">
            <a:extLst>
              <a:ext uri="{FF2B5EF4-FFF2-40B4-BE49-F238E27FC236}">
                <a16:creationId xmlns:a16="http://schemas.microsoft.com/office/drawing/2014/main" id="{28A1F92D-ED26-4586-C383-8B8C8FB2422A}"/>
              </a:ext>
            </a:extLst>
          </p:cNvPr>
          <p:cNvSpPr txBox="1"/>
          <p:nvPr/>
        </p:nvSpPr>
        <p:spPr>
          <a:xfrm>
            <a:off x="8175629" y="175974"/>
            <a:ext cx="400042" cy="830997"/>
          </a:xfrm>
          <a:prstGeom prst="rect">
            <a:avLst/>
          </a:prstGeom>
          <a:noFill/>
        </p:spPr>
        <p:txBody>
          <a:bodyPr wrap="square">
            <a:spAutoFit/>
          </a:bodyPr>
          <a:lstStyle/>
          <a:p>
            <a:r>
              <a:rPr lang="en-US" sz="4800" dirty="0">
                <a:solidFill>
                  <a:srgbClr val="00B050"/>
                </a:solidFill>
              </a:rPr>
              <a:t>✓</a:t>
            </a:r>
          </a:p>
        </p:txBody>
      </p:sp>
      <p:sp>
        <p:nvSpPr>
          <p:cNvPr id="3" name="TextBox 2">
            <a:extLst>
              <a:ext uri="{FF2B5EF4-FFF2-40B4-BE49-F238E27FC236}">
                <a16:creationId xmlns:a16="http://schemas.microsoft.com/office/drawing/2014/main" id="{4ED67784-85C4-9964-BC9C-84CB8EFA4A9D}"/>
              </a:ext>
            </a:extLst>
          </p:cNvPr>
          <p:cNvSpPr txBox="1"/>
          <p:nvPr/>
        </p:nvSpPr>
        <p:spPr>
          <a:xfrm>
            <a:off x="5213887" y="4024445"/>
            <a:ext cx="3169137" cy="646331"/>
          </a:xfrm>
          <a:prstGeom prst="rect">
            <a:avLst/>
          </a:prstGeom>
          <a:noFill/>
        </p:spPr>
        <p:txBody>
          <a:bodyPr wrap="none" rtlCol="0">
            <a:spAutoFit/>
          </a:bodyPr>
          <a:lstStyle/>
          <a:p>
            <a:r>
              <a:rPr lang="en-US" dirty="0"/>
              <a:t>You do not need to know the</a:t>
            </a:r>
            <a:br>
              <a:rPr lang="en-US" dirty="0"/>
            </a:br>
            <a:r>
              <a:rPr lang="en-US" dirty="0"/>
              <a:t>material with the strikethrough.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db">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1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1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b" id="{854B61EF-CFBF-4F4D-90C6-BAB015E35D01}" vid="{BC3EFCCA-7EC7-446B-8189-3ECEF79E3264}"/>
    </a:ext>
  </a:extLst>
</a:theme>
</file>

<file path=ppt/theme/theme4.xml><?xml version="1.0" encoding="utf-8"?>
<a:theme xmlns:a="http://schemas.openxmlformats.org/drawingml/2006/main" name="db">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1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1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b" id="{1B40F190-8F0E-46FA-A03B-CD59DA3B9BE7}" vid="{5BEDA3C5-9F17-4237-A302-9E1B73B082AF}"/>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DE64AEEDD9B7A4D93545ACBE97D4615" ma:contentTypeVersion="2" ma:contentTypeDescription="Create a new document." ma:contentTypeScope="" ma:versionID="f49002b78e3a4a71b814eef46a983816">
  <xsd:schema xmlns:xsd="http://www.w3.org/2001/XMLSchema" xmlns:xs="http://www.w3.org/2001/XMLSchema" xmlns:p="http://schemas.microsoft.com/office/2006/metadata/properties" xmlns:ns2="http://schemas.microsoft.com/sharepoint/v3/fields" targetNamespace="http://schemas.microsoft.com/office/2006/metadata/properties" ma:root="true" ma:fieldsID="38f6db2dd0d9a0cf6a8dc37be32b365b" ns2:_="">
    <xsd:import namespace="http://schemas.microsoft.com/sharepoint/v3/fields"/>
    <xsd:element name="properties">
      <xsd:complexType>
        <xsd:sequence>
          <xsd:element name="documentManagement">
            <xsd:complexType>
              <xsd:all>
                <xsd:element ref="ns2:_Status" minOccurs="0"/>
                <xsd:element ref="ns2:_Vers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8" nillable="true" ma:displayName="Status" ma:default="Not Started" ma:internalName="_Status">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element name="_Version" ma:index="9"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ma:displayName="Status"/>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Status xmlns="http://schemas.microsoft.com/sharepoint/v3/fields">Not Started</_Status>
  </documentManagement>
</p:properties>
</file>

<file path=customXml/itemProps1.xml><?xml version="1.0" encoding="utf-8"?>
<ds:datastoreItem xmlns:ds="http://schemas.openxmlformats.org/officeDocument/2006/customXml" ds:itemID="{87D2A1B0-FF3E-4009-940D-AED0EB70AA20}">
  <ds:schemaRefs>
    <ds:schemaRef ds:uri="http://schemas.microsoft.com/sharepoint/v3/contenttype/forms"/>
  </ds:schemaRefs>
</ds:datastoreItem>
</file>

<file path=customXml/itemProps2.xml><?xml version="1.0" encoding="utf-8"?>
<ds:datastoreItem xmlns:ds="http://schemas.openxmlformats.org/officeDocument/2006/customXml" ds:itemID="{E4214858-785C-42F7-BE66-6D0E79395F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B6F2769-7194-4217-93D3-3AF3A4742282}">
  <ds:schemaRefs>
    <ds:schemaRef ds:uri="http://schemas.microsoft.com/office/2006/metadata/properties"/>
    <ds:schemaRef ds:uri="http://schemas.microsoft.com/sharepoint/v3/fields"/>
    <ds:schemaRef ds:uri="http://schemas.microsoft.com/office/infopath/2007/PartnerControls"/>
    <ds:schemaRef ds:uri="http://schemas.microsoft.com/office/2006/documentManagement/types"/>
    <ds:schemaRef ds:uri="http://purl.org/dc/dcmitype/"/>
    <ds:schemaRef ds:uri="http://purl.org/dc/terms/"/>
    <ds:schemaRef ds:uri="http://purl.org/dc/elements/1.1/"/>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FNEMasterTemplateForThemePreview.pptx</Template>
  <TotalTime>91535</TotalTime>
  <Words>3757</Words>
  <Application>Microsoft Macintosh PowerPoint</Application>
  <PresentationFormat>On-screen Show (16:9)</PresentationFormat>
  <Paragraphs>324</Paragraphs>
  <Slides>41</Slides>
  <Notes>32</Notes>
  <HiddenSlides>0</HiddenSlides>
  <MMClips>0</MMClips>
  <ScaleCrop>false</ScaleCrop>
  <HeadingPairs>
    <vt:vector size="8" baseType="variant">
      <vt:variant>
        <vt:lpstr>Fonts Used</vt:lpstr>
      </vt:variant>
      <vt:variant>
        <vt:i4>14</vt:i4>
      </vt:variant>
      <vt:variant>
        <vt:lpstr>Theme</vt:lpstr>
      </vt:variant>
      <vt:variant>
        <vt:i4>4</vt:i4>
      </vt:variant>
      <vt:variant>
        <vt:lpstr>Embedded OLE Servers</vt:lpstr>
      </vt:variant>
      <vt:variant>
        <vt:i4>1</vt:i4>
      </vt:variant>
      <vt:variant>
        <vt:lpstr>Slide Titles</vt:lpstr>
      </vt:variant>
      <vt:variant>
        <vt:i4>41</vt:i4>
      </vt:variant>
    </vt:vector>
  </HeadingPairs>
  <TitlesOfParts>
    <vt:vector size="60" baseType="lpstr">
      <vt:lpstr>MS PGothic</vt:lpstr>
      <vt:lpstr>Arial</vt:lpstr>
      <vt:lpstr>Calibri</vt:lpstr>
      <vt:lpstr>Cambria Math</vt:lpstr>
      <vt:lpstr>Century Schoolbook</vt:lpstr>
      <vt:lpstr>Greek Symbols</vt:lpstr>
      <vt:lpstr>Helvetica</vt:lpstr>
      <vt:lpstr>Monotype Sorts</vt:lpstr>
      <vt:lpstr>Museo For Dell</vt:lpstr>
      <vt:lpstr>Museo Sans For Dell</vt:lpstr>
      <vt:lpstr>Symbol</vt:lpstr>
      <vt:lpstr>Times New Roman</vt:lpstr>
      <vt:lpstr>Webdings</vt:lpstr>
      <vt:lpstr>Wingdings</vt:lpstr>
      <vt:lpstr>Office Theme</vt:lpstr>
      <vt:lpstr>1_Office Theme</vt:lpstr>
      <vt:lpstr>1_db</vt:lpstr>
      <vt:lpstr>db</vt:lpstr>
      <vt:lpstr>Equation</vt:lpstr>
      <vt:lpstr>PowerPoint Presentation</vt:lpstr>
      <vt:lpstr>PowerPoint Presentation</vt:lpstr>
      <vt:lpstr>PowerPoint Presentation</vt:lpstr>
      <vt:lpstr>Basic Steps in Query Processing</vt:lpstr>
      <vt:lpstr>Query Processing</vt:lpstr>
      <vt:lpstr>PowerPoint Presentation</vt:lpstr>
      <vt:lpstr>Basic Steps in Query Processing: Optimization</vt:lpstr>
      <vt:lpstr>PowerPoint Presentation</vt:lpstr>
      <vt:lpstr>Outline</vt:lpstr>
      <vt:lpstr>Introduction</vt:lpstr>
      <vt:lpstr>Introduction (Cont.)</vt:lpstr>
      <vt:lpstr>Introduction (Cont.)</vt:lpstr>
      <vt:lpstr>Viewing Query Evaluation Plans</vt:lpstr>
      <vt:lpstr>Generating Equivalent Expressions</vt:lpstr>
      <vt:lpstr>Transformation of Relational Expressions</vt:lpstr>
      <vt:lpstr>Equivalence Rules</vt:lpstr>
      <vt:lpstr>Lahman Baseball Database</vt:lpstr>
      <vt:lpstr>Explanation</vt:lpstr>
      <vt:lpstr>Equivalence Rules (Cont.)</vt:lpstr>
      <vt:lpstr>Explanation</vt:lpstr>
      <vt:lpstr>Pictorial Depiction of Equivalence Rules</vt:lpstr>
      <vt:lpstr>Equivalence Rules (Cont.)</vt:lpstr>
      <vt:lpstr>Explanation</vt:lpstr>
      <vt:lpstr>Equivalence Rules (Cont.)</vt:lpstr>
      <vt:lpstr>Equivalence Rules (Cont.)</vt:lpstr>
      <vt:lpstr>Equivalence Rules (Cont.)</vt:lpstr>
      <vt:lpstr>Equivalence Rules (Cont.)</vt:lpstr>
      <vt:lpstr>Transformation Example: Pushing Selections</vt:lpstr>
      <vt:lpstr>Join Ordering Example</vt:lpstr>
      <vt:lpstr>Join Ordering Example (Cont.)</vt:lpstr>
      <vt:lpstr>Enumeration of Equivalent Expressions</vt:lpstr>
      <vt:lpstr>Implementing Transformation Based Optimization</vt:lpstr>
      <vt:lpstr>Cost Estimation</vt:lpstr>
      <vt:lpstr>Choice of Evaluation Plans</vt:lpstr>
      <vt:lpstr>Join Order Optimization Algorithm</vt:lpstr>
      <vt:lpstr>Statistics for Cost Estimation</vt:lpstr>
      <vt:lpstr>Statistical Information for Cost Estimation</vt:lpstr>
      <vt:lpstr>Histograms</vt:lpstr>
      <vt:lpstr>Histograms (cont.)</vt:lpstr>
      <vt:lpstr>Selection Size Estimation</vt:lpstr>
      <vt:lpstr>Size Estimation of Complex Selections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FileNewTemplate</dc:title>
  <dc:creator>Diana</dc:creator>
  <cp:lastModifiedBy>Donald Ferguson</cp:lastModifiedBy>
  <cp:revision>648</cp:revision>
  <cp:lastPrinted>2025-04-11T08:53:05Z</cp:lastPrinted>
  <dcterms:created xsi:type="dcterms:W3CDTF">2010-04-12T23:12:02Z</dcterms:created>
  <dcterms:modified xsi:type="dcterms:W3CDTF">2025-12-03T20:50:49Z</dcterms:modified>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ies>
</file>